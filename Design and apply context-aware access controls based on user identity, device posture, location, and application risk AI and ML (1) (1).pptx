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x="7569200" cy="10706100"/>
  <p:notesSz cx="7569200" cy="10706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8166" y="3318891"/>
            <a:ext cx="6439217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6332" y="5995416"/>
            <a:ext cx="5302885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777" y="2462403"/>
            <a:ext cx="3295364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901408" y="2462403"/>
            <a:ext cx="3295364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6251" y="962914"/>
            <a:ext cx="208152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777" y="2462403"/>
            <a:ext cx="6817995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5687" y="9956673"/>
            <a:ext cx="242417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777" y="9956673"/>
            <a:ext cx="174237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54396" y="9956673"/>
            <a:ext cx="174237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testfire.net/" TargetMode="External"/><Relationship Id="rId3" Type="http://schemas.openxmlformats.org/officeDocument/2006/relationships/hyperlink" Target="http://testfire.net/search.jsp?query=%27%3E%3Cscript%3Ealert%28%27hacked%27%29%3C%2Fscript%3E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hyperlink" Target="http://testfire.net/" TargetMode="External"/><Relationship Id="rId5" Type="http://schemas.openxmlformats.org/officeDocument/2006/relationships/hyperlink" Target="http://testfire.net/login.jsp" TargetMode="External"/><Relationship Id="rId6" Type="http://schemas.openxmlformats.org/officeDocument/2006/relationships/image" Target="../media/image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hyperlink" Target="http://testfire.net/" TargetMode="External"/><Relationship Id="rId5" Type="http://schemas.openxmlformats.org/officeDocument/2006/relationships/hyperlink" Target="http://testfire.net/login.jsp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hyperlink" Target="http://testfire.net/" TargetMode="External"/><Relationship Id="rId4" Type="http://schemas.openxmlformats.org/officeDocument/2006/relationships/hyperlink" Target="http://testfire.net/login.jsp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hyperlink" Target="http://testfire.net/" TargetMode="External"/><Relationship Id="rId4" Type="http://schemas.openxmlformats.org/officeDocument/2006/relationships/hyperlink" Target="http://testfire.net/bank/transfer.jsp" TargetMode="Externa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21.jpg"/><Relationship Id="rId4" Type="http://schemas.openxmlformats.org/officeDocument/2006/relationships/hyperlink" Target="http://testfire.net/" TargetMode="External"/><Relationship Id="rId5" Type="http://schemas.openxmlformats.org/officeDocument/2006/relationships/hyperlink" Target="http://testfire.net/login.jsp" TargetMode="Externa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hyperlink" Target="http://testfire.net/" TargetMode="External"/><Relationship Id="rId4" Type="http://schemas.openxmlformats.org/officeDocument/2006/relationships/hyperlink" Target="http://testfire.net/bank/transfer.jsp" TargetMode="Externa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hyperlink" Target="https://testfire.net/" TargetMode="Externa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testfire.net/" TargetMode="External"/><Relationship Id="rId3" Type="http://schemas.openxmlformats.org/officeDocument/2006/relationships/hyperlink" Target="http://testfire.net/login.jsp" TargetMode="External"/><Relationship Id="rId4" Type="http://schemas.openxmlformats.org/officeDocument/2006/relationships/image" Target="../media/image31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2.jpg"/><Relationship Id="rId4" Type="http://schemas.openxmlformats.org/officeDocument/2006/relationships/image" Target="../media/image3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testfire.net/" TargetMode="External"/><Relationship Id="rId3" Type="http://schemas.openxmlformats.org/officeDocument/2006/relationships/image" Target="../media/image8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Relationship Id="rId3" Type="http://schemas.openxmlformats.org/officeDocument/2006/relationships/image" Target="../media/image3.jpg"/><Relationship Id="rId4" Type="http://schemas.openxmlformats.org/officeDocument/2006/relationships/image" Target="../media/image34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hyperlink" Target="http://testfire.net/" TargetMode="External"/><Relationship Id="rId4" Type="http://schemas.openxmlformats.org/officeDocument/2006/relationships/hyperlink" Target="http://testfire.net/login.jsp" TargetMode="Externa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Relationship Id="rId3" Type="http://schemas.openxmlformats.org/officeDocument/2006/relationships/hyperlink" Target="https://vit.ac.in/" TargetMode="Externa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Relationship Id="rId3" Type="http://schemas.openxmlformats.org/officeDocument/2006/relationships/hyperlink" Target="https://vit.ac.in/" TargetMode="External"/><Relationship Id="rId4" Type="http://schemas.openxmlformats.org/officeDocument/2006/relationships/hyperlink" Target="https://vit.ac.in/sites/all/themes/vittheme/js/jquery-2.1.1.min.js?rdiap4" TargetMode="External"/><Relationship Id="rId5" Type="http://schemas.openxmlformats.org/officeDocument/2006/relationships/hyperlink" Target="https://vit.ac.in/sites/all/themes/vittheme/js/jquery-" TargetMode="Externa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Relationship Id="rId3" Type="http://schemas.openxmlformats.org/officeDocument/2006/relationships/image" Target="../media/image41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vit.ac.in/" TargetMode="External"/><Relationship Id="rId3" Type="http://schemas.openxmlformats.org/officeDocument/2006/relationships/image" Target="../media/image42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Relationship Id="rId3" Type="http://schemas.openxmlformats.org/officeDocument/2006/relationships/image" Target="../media/image43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vit.ac.in/" TargetMode="External"/><Relationship Id="rId3" Type="http://schemas.openxmlformats.org/officeDocument/2006/relationships/image" Target="../media/image48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37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Relationship Id="rId4" Type="http://schemas.openxmlformats.org/officeDocument/2006/relationships/image" Target="../media/image37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0031" y="952246"/>
            <a:ext cx="6208395" cy="2163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imes New Roman"/>
                <a:cs typeface="Times New Roman"/>
              </a:rPr>
              <a:t>Project</a:t>
            </a:r>
            <a:r>
              <a:rPr dirty="0" sz="2800" spc="-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Title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algn="just" marL="314325" marR="5080" indent="-45720">
              <a:lnSpc>
                <a:spcPct val="104299"/>
              </a:lnSpc>
              <a:spcBef>
                <a:spcPts val="2965"/>
              </a:spcBef>
            </a:pPr>
            <a:r>
              <a:rPr dirty="0" sz="2800">
                <a:latin typeface="Cambria Math"/>
                <a:cs typeface="Cambria Math"/>
              </a:rPr>
              <a:t>Design</a:t>
            </a:r>
            <a:r>
              <a:rPr dirty="0" sz="2800" spc="-4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and</a:t>
            </a:r>
            <a:r>
              <a:rPr dirty="0" sz="2800" spc="-4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apply</a:t>
            </a:r>
            <a:r>
              <a:rPr dirty="0" sz="2800" spc="-30">
                <a:latin typeface="Cambria Math"/>
                <a:cs typeface="Cambria Math"/>
              </a:rPr>
              <a:t> </a:t>
            </a:r>
            <a:r>
              <a:rPr dirty="0" sz="2800" spc="-10">
                <a:latin typeface="Cambria Math"/>
                <a:cs typeface="Cambria Math"/>
              </a:rPr>
              <a:t>context-</a:t>
            </a:r>
            <a:r>
              <a:rPr dirty="0" sz="2800">
                <a:latin typeface="Cambria Math"/>
                <a:cs typeface="Cambria Math"/>
              </a:rPr>
              <a:t>aware</a:t>
            </a:r>
            <a:r>
              <a:rPr dirty="0" sz="2800" spc="-40">
                <a:latin typeface="Cambria Math"/>
                <a:cs typeface="Cambria Math"/>
              </a:rPr>
              <a:t> </a:t>
            </a:r>
            <a:r>
              <a:rPr dirty="0" sz="2800" spc="-10">
                <a:latin typeface="Cambria Math"/>
                <a:cs typeface="Cambria Math"/>
              </a:rPr>
              <a:t>access </a:t>
            </a:r>
            <a:r>
              <a:rPr dirty="0" sz="2800">
                <a:latin typeface="Cambria Math"/>
                <a:cs typeface="Cambria Math"/>
              </a:rPr>
              <a:t>controls</a:t>
            </a:r>
            <a:r>
              <a:rPr dirty="0" sz="2800" spc="2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based</a:t>
            </a:r>
            <a:r>
              <a:rPr dirty="0" sz="2800" spc="3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on</a:t>
            </a:r>
            <a:r>
              <a:rPr dirty="0" sz="2800" spc="3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user</a:t>
            </a:r>
            <a:r>
              <a:rPr dirty="0" sz="2800" spc="2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identity,</a:t>
            </a:r>
            <a:r>
              <a:rPr dirty="0" sz="2800" spc="30">
                <a:latin typeface="Cambria Math"/>
                <a:cs typeface="Cambria Math"/>
              </a:rPr>
              <a:t> </a:t>
            </a:r>
            <a:r>
              <a:rPr dirty="0" sz="2800" spc="-10">
                <a:latin typeface="Cambria Math"/>
                <a:cs typeface="Cambria Math"/>
              </a:rPr>
              <a:t>device </a:t>
            </a:r>
            <a:r>
              <a:rPr dirty="0" sz="2800">
                <a:latin typeface="Cambria Math"/>
                <a:cs typeface="Cambria Math"/>
              </a:rPr>
              <a:t>posture,</a:t>
            </a:r>
            <a:r>
              <a:rPr dirty="0" sz="2800" spc="-8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location,</a:t>
            </a:r>
            <a:r>
              <a:rPr dirty="0" sz="2800" spc="-8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and</a:t>
            </a:r>
            <a:r>
              <a:rPr dirty="0" sz="2800" spc="-8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application</a:t>
            </a:r>
            <a:r>
              <a:rPr dirty="0" sz="2800" spc="-85">
                <a:latin typeface="Cambria Math"/>
                <a:cs typeface="Cambria Math"/>
              </a:rPr>
              <a:t> </a:t>
            </a:r>
            <a:r>
              <a:rPr dirty="0" sz="2800" spc="-10">
                <a:latin typeface="Cambria Math"/>
                <a:cs typeface="Cambria Math"/>
              </a:rPr>
              <a:t>risk.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Group</a:t>
            </a:r>
            <a:r>
              <a:rPr dirty="0" spc="-120"/>
              <a:t> </a:t>
            </a:r>
            <a:r>
              <a:rPr dirty="0" spc="-10"/>
              <a:t>Details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05408" y="3025267"/>
            <a:ext cx="6350000" cy="1879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354"/>
              </a:lnSpc>
              <a:spcBef>
                <a:spcPts val="95"/>
              </a:spcBef>
            </a:pPr>
            <a:r>
              <a:rPr dirty="0" sz="2800">
                <a:latin typeface="Cambria Math"/>
                <a:cs typeface="Cambria Math"/>
              </a:rPr>
              <a:t>Team</a:t>
            </a:r>
            <a:r>
              <a:rPr dirty="0" sz="2800" spc="-95">
                <a:latin typeface="Cambria Math"/>
                <a:cs typeface="Cambria Math"/>
              </a:rPr>
              <a:t> </a:t>
            </a:r>
            <a:r>
              <a:rPr dirty="0" sz="2800" spc="-20">
                <a:latin typeface="Cambria Math"/>
                <a:cs typeface="Cambria Math"/>
              </a:rPr>
              <a:t>Member</a:t>
            </a:r>
            <a:r>
              <a:rPr dirty="0" sz="2800" spc="-10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4</a:t>
            </a:r>
            <a:r>
              <a:rPr dirty="0" sz="2800" spc="-85">
                <a:latin typeface="Cambria Math"/>
                <a:cs typeface="Cambria Math"/>
              </a:rPr>
              <a:t> </a:t>
            </a:r>
            <a:r>
              <a:rPr dirty="0" sz="2800" spc="-35">
                <a:latin typeface="Cambria Math"/>
                <a:cs typeface="Cambria Math"/>
              </a:rPr>
              <a:t>:MUHAMMED</a:t>
            </a:r>
            <a:r>
              <a:rPr dirty="0" sz="2800" spc="-105">
                <a:latin typeface="Cambria Math"/>
                <a:cs typeface="Cambria Math"/>
              </a:rPr>
              <a:t> </a:t>
            </a:r>
            <a:r>
              <a:rPr dirty="0" sz="2800" spc="-60">
                <a:latin typeface="Cambria Math"/>
                <a:cs typeface="Cambria Math"/>
              </a:rPr>
              <a:t>DILSHAD</a:t>
            </a:r>
            <a:r>
              <a:rPr dirty="0" sz="2800" spc="-114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T</a:t>
            </a:r>
            <a:endParaRPr sz="2800">
              <a:latin typeface="Cambria Math"/>
              <a:cs typeface="Cambria Math"/>
            </a:endParaRPr>
          </a:p>
          <a:p>
            <a:pPr marL="12700" marR="1755775">
              <a:lnSpc>
                <a:spcPts val="3290"/>
              </a:lnSpc>
              <a:spcBef>
                <a:spcPts val="160"/>
              </a:spcBef>
            </a:pPr>
            <a:r>
              <a:rPr dirty="0" sz="2800">
                <a:latin typeface="Cambria Math"/>
                <a:cs typeface="Cambria Math"/>
              </a:rPr>
              <a:t>Team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Member</a:t>
            </a:r>
            <a:r>
              <a:rPr dirty="0" sz="2800" spc="-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1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:</a:t>
            </a:r>
            <a:r>
              <a:rPr dirty="0" sz="2800" spc="-3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NIRMAL</a:t>
            </a:r>
            <a:r>
              <a:rPr dirty="0" sz="2800" spc="-4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S </a:t>
            </a:r>
            <a:r>
              <a:rPr dirty="0" sz="2800">
                <a:latin typeface="Cambria Math"/>
                <a:cs typeface="Cambria Math"/>
              </a:rPr>
              <a:t>Team</a:t>
            </a:r>
            <a:r>
              <a:rPr dirty="0" sz="2800" spc="-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Member</a:t>
            </a:r>
            <a:r>
              <a:rPr dirty="0" sz="2800" spc="-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2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:</a:t>
            </a:r>
            <a:r>
              <a:rPr dirty="0" sz="2800" spc="-3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ARSHATH</a:t>
            </a:r>
            <a:r>
              <a:rPr dirty="0" sz="2800" spc="-3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A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800">
                <a:latin typeface="Cambria Math"/>
                <a:cs typeface="Cambria Math"/>
              </a:rPr>
              <a:t>Team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20">
                <a:latin typeface="Cambria Math"/>
                <a:cs typeface="Cambria Math"/>
              </a:rPr>
              <a:t>Member</a:t>
            </a:r>
            <a:r>
              <a:rPr dirty="0" sz="2800" spc="-13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4</a:t>
            </a:r>
            <a:r>
              <a:rPr dirty="0" sz="2800" spc="-13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:LOKESH</a:t>
            </a:r>
            <a:r>
              <a:rPr dirty="0" sz="2800" spc="-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KUMAR</a:t>
            </a:r>
            <a:r>
              <a:rPr dirty="0" sz="2800" spc="-5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C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0916" y="7711426"/>
            <a:ext cx="6684009" cy="8890"/>
          </a:xfrm>
          <a:custGeom>
            <a:avLst/>
            <a:gdLst/>
            <a:ahLst/>
            <a:cxnLst/>
            <a:rect l="l" t="t" r="r" b="b"/>
            <a:pathLst>
              <a:path w="6684009" h="8890">
                <a:moveTo>
                  <a:pt x="6683883" y="0"/>
                </a:moveTo>
                <a:lnTo>
                  <a:pt x="0" y="0"/>
                </a:lnTo>
                <a:lnTo>
                  <a:pt x="0" y="8776"/>
                </a:lnTo>
                <a:lnTo>
                  <a:pt x="6683883" y="8776"/>
                </a:lnTo>
                <a:lnTo>
                  <a:pt x="66838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69240" y="1064919"/>
            <a:ext cx="6900545" cy="6241415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400" spc="-10">
                <a:latin typeface="Cambria Math"/>
                <a:cs typeface="Cambria Math"/>
              </a:rPr>
              <a:t>INTRODUCTION:</a:t>
            </a:r>
            <a:endParaRPr sz="1400">
              <a:latin typeface="Cambria Math"/>
              <a:cs typeface="Cambria Math"/>
            </a:endParaRPr>
          </a:p>
          <a:p>
            <a:pPr algn="just" marL="193675" marR="33655" indent="-6350">
              <a:lnSpc>
                <a:spcPct val="100699"/>
              </a:lnSpc>
              <a:spcBef>
                <a:spcPts val="725"/>
              </a:spcBef>
            </a:pP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era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where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digital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landscape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constantly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evolving,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face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ever-increasing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threat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from </a:t>
            </a:r>
            <a:r>
              <a:rPr dirty="0" sz="1100">
                <a:latin typeface="Cambria Math"/>
                <a:cs typeface="Cambria Math"/>
              </a:rPr>
              <a:t>cyberattacks.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need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swift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effective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incident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response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become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paramount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safeguard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sensitive </a:t>
            </a:r>
            <a:r>
              <a:rPr dirty="0" sz="1100">
                <a:latin typeface="Cambria Math"/>
                <a:cs typeface="Cambria Math"/>
              </a:rPr>
              <a:t>data,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digital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assets,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maintain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trust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stakeholders.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response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growing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challenge,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 spc="-35">
                <a:latin typeface="Cambria Math"/>
                <a:cs typeface="Cambria Math"/>
              </a:rPr>
              <a:t>we </a:t>
            </a:r>
            <a:r>
              <a:rPr dirty="0" sz="1100">
                <a:latin typeface="Cambria Math"/>
                <a:cs typeface="Cambria Math"/>
              </a:rPr>
              <a:t>present</a:t>
            </a:r>
            <a:r>
              <a:rPr dirty="0" sz="1100" spc="25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25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visionary</a:t>
            </a:r>
            <a:r>
              <a:rPr dirty="0" sz="1100" spc="2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project:</a:t>
            </a:r>
            <a:r>
              <a:rPr dirty="0" sz="1100" spc="2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2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development</a:t>
            </a:r>
            <a:r>
              <a:rPr dirty="0" sz="1100" spc="2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2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2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AI-driven</a:t>
            </a:r>
            <a:r>
              <a:rPr dirty="0" sz="1100" spc="2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incident</a:t>
            </a:r>
            <a:r>
              <a:rPr dirty="0" sz="1100" spc="25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response</a:t>
            </a:r>
            <a:r>
              <a:rPr dirty="0" sz="1100" spc="2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platform</a:t>
            </a:r>
            <a:r>
              <a:rPr dirty="0" sz="1100" spc="2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26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empowers </a:t>
            </a:r>
            <a:r>
              <a:rPr dirty="0" sz="1100">
                <a:latin typeface="Cambria Math"/>
                <a:cs typeface="Cambria Math"/>
              </a:rPr>
              <a:t>cybersecurity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teams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automate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enhance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incident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triage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response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tasks.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186055" marR="6350" indent="-6350">
              <a:lnSpc>
                <a:spcPct val="1026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traditional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perimeter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dissolved in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modern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digital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landscape.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mass </a:t>
            </a:r>
            <a:r>
              <a:rPr dirty="0" sz="1200">
                <a:latin typeface="Cambria Math"/>
                <a:cs typeface="Cambria Math"/>
              </a:rPr>
              <a:t>adoption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cloud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services,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remote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work,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personal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mobile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(BYOD),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corporate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resources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are </a:t>
            </a:r>
            <a:r>
              <a:rPr dirty="0" sz="1200">
                <a:latin typeface="Cambria Math"/>
                <a:cs typeface="Cambria Math"/>
              </a:rPr>
              <a:t>no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longer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confined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single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office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building.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shift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rendered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conventional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"castle-</a:t>
            </a:r>
            <a:r>
              <a:rPr dirty="0" sz="1200" spc="-20">
                <a:latin typeface="Cambria Math"/>
                <a:cs typeface="Cambria Math"/>
              </a:rPr>
              <a:t>and-</a:t>
            </a:r>
            <a:r>
              <a:rPr dirty="0" sz="1200" spc="-10">
                <a:latin typeface="Cambria Math"/>
                <a:cs typeface="Cambria Math"/>
              </a:rPr>
              <a:t>moat"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model—</a:t>
            </a:r>
            <a:r>
              <a:rPr dirty="0" sz="1200">
                <a:latin typeface="Cambria Math"/>
                <a:cs typeface="Cambria Math"/>
              </a:rPr>
              <a:t>where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anyone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inside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trusted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default—</a:t>
            </a:r>
            <a:r>
              <a:rPr dirty="0" sz="1200">
                <a:latin typeface="Cambria Math"/>
                <a:cs typeface="Cambria Math"/>
              </a:rPr>
              <a:t>obsolete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dangerously </a:t>
            </a:r>
            <a:r>
              <a:rPr dirty="0" sz="1200">
                <a:latin typeface="Cambria Math"/>
                <a:cs typeface="Cambria Math"/>
              </a:rPr>
              <a:t>insufficient.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Modern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organizations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now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face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complex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challenge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securing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data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diverse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ever-changing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array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locations,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devices,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environments.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this,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3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strategies</a:t>
            </a:r>
            <a:r>
              <a:rPr dirty="0" sz="1200" spc="3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must</a:t>
            </a:r>
            <a:r>
              <a:rPr dirty="0" sz="1200" spc="3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evolve</a:t>
            </a:r>
            <a:r>
              <a:rPr dirty="0" sz="1200" spc="3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3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static,</a:t>
            </a:r>
            <a:r>
              <a:rPr dirty="0" sz="1200" spc="3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location-</a:t>
            </a:r>
            <a:r>
              <a:rPr dirty="0" sz="1200">
                <a:latin typeface="Cambria Math"/>
                <a:cs typeface="Cambria Math"/>
              </a:rPr>
              <a:t>centric</a:t>
            </a:r>
            <a:r>
              <a:rPr dirty="0" sz="1200" spc="3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models</a:t>
            </a:r>
            <a:r>
              <a:rPr dirty="0" sz="1200" spc="3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3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dynamic,</a:t>
            </a:r>
            <a:r>
              <a:rPr dirty="0" sz="1200" spc="3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identity-centric frameworks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 assess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 risk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every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 </a:t>
            </a:r>
            <a:r>
              <a:rPr dirty="0" sz="1200" spc="-10">
                <a:latin typeface="Cambria Math"/>
                <a:cs typeface="Cambria Math"/>
              </a:rPr>
              <a:t>request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 </a:t>
            </a:r>
            <a:r>
              <a:rPr dirty="0" sz="1200" spc="-10">
                <a:latin typeface="Cambria Math"/>
                <a:cs typeface="Cambria Math"/>
              </a:rPr>
              <a:t>real-time.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186055" marR="5080" indent="-6350">
              <a:lnSpc>
                <a:spcPct val="102600"/>
              </a:lnSpc>
            </a:pPr>
            <a:r>
              <a:rPr dirty="0" sz="1200" spc="-10">
                <a:latin typeface="Cambria Math"/>
                <a:cs typeface="Cambria Math"/>
              </a:rPr>
              <a:t>This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project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focuses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design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implementation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context-aware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solve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exact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challenge.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moving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beyond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simple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username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password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verification,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will </a:t>
            </a:r>
            <a:r>
              <a:rPr dirty="0" sz="1200">
                <a:latin typeface="Cambria Math"/>
                <a:cs typeface="Cambria Math"/>
              </a:rPr>
              <a:t>evaluate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rich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set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contextual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signals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before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granting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data.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signals </a:t>
            </a:r>
            <a:r>
              <a:rPr dirty="0" sz="1200">
                <a:latin typeface="Cambria Math"/>
                <a:cs typeface="Cambria Math"/>
              </a:rPr>
              <a:t>include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user's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identity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role,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posture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(e.g.,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patched,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encrypted,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managed?),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geographic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location,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inherent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level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are </a:t>
            </a:r>
            <a:r>
              <a:rPr dirty="0" sz="1200">
                <a:latin typeface="Cambria Math"/>
                <a:cs typeface="Cambria Math"/>
              </a:rPr>
              <a:t>attempting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use.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analyzing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factors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unison,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make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granular,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real-</a:t>
            </a:r>
            <a:r>
              <a:rPr dirty="0" sz="1200" spc="-20">
                <a:latin typeface="Cambria Math"/>
                <a:cs typeface="Cambria Math"/>
              </a:rPr>
              <a:t>time </a:t>
            </a:r>
            <a:r>
              <a:rPr dirty="0" sz="1200">
                <a:latin typeface="Cambria Math"/>
                <a:cs typeface="Cambria Math"/>
              </a:rPr>
              <a:t>decision: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grant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full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access,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restrict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certain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features,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require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step-up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authentication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(like </a:t>
            </a:r>
            <a:r>
              <a:rPr dirty="0" sz="1200">
                <a:latin typeface="Cambria Math"/>
                <a:cs typeface="Cambria Math"/>
              </a:rPr>
              <a:t>multifactor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authentication),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block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request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entirely.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186055" marR="10160" indent="-6350">
              <a:lnSpc>
                <a:spcPct val="102600"/>
              </a:lnSpc>
            </a:pPr>
            <a:r>
              <a:rPr dirty="0" sz="1200">
                <a:latin typeface="Cambria Math"/>
                <a:cs typeface="Cambria Math"/>
              </a:rPr>
              <a:t>Ultimately,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project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aims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build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architecture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both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robust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frictionless.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For </a:t>
            </a:r>
            <a:r>
              <a:rPr dirty="0" sz="1200">
                <a:latin typeface="Cambria Math"/>
                <a:cs typeface="Cambria Math"/>
              </a:rPr>
              <a:t>example,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trusted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employee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accessing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low-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secured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corporate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laptop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office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might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seamless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login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experience.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Conversely,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same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employee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attempting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critical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financial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 unpatched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personal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 in a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foreign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country would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 </a:t>
            </a:r>
            <a:r>
              <a:rPr dirty="0" sz="1200" spc="-25">
                <a:latin typeface="Cambria Math"/>
                <a:cs typeface="Cambria Math"/>
              </a:rPr>
              <a:t>met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additional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challenges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completely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blocked.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intelligent,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adaptive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approach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not </a:t>
            </a:r>
            <a:r>
              <a:rPr dirty="0" sz="1200">
                <a:latin typeface="Cambria Math"/>
                <a:cs typeface="Cambria Math"/>
              </a:rPr>
              <a:t>only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significantly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reduces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surface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protects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against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compromised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credentials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but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also </a:t>
            </a:r>
            <a:r>
              <a:rPr dirty="0" sz="1200">
                <a:latin typeface="Cambria Math"/>
                <a:cs typeface="Cambria Math"/>
              </a:rPr>
              <a:t>enables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productive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work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environment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modern,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mobile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workforce.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1451" y="9980168"/>
            <a:ext cx="90296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ambria Math"/>
                <a:cs typeface="Cambria Math"/>
              </a:rPr>
              <a:t>ABSTRACT: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0916" y="5519913"/>
            <a:ext cx="6684009" cy="8890"/>
          </a:xfrm>
          <a:custGeom>
            <a:avLst/>
            <a:gdLst/>
            <a:ahLst/>
            <a:cxnLst/>
            <a:rect l="l" t="t" r="r" b="b"/>
            <a:pathLst>
              <a:path w="6684009" h="8889">
                <a:moveTo>
                  <a:pt x="6683883" y="0"/>
                </a:moveTo>
                <a:lnTo>
                  <a:pt x="0" y="0"/>
                </a:lnTo>
                <a:lnTo>
                  <a:pt x="0" y="8778"/>
                </a:lnTo>
                <a:lnTo>
                  <a:pt x="6683883" y="8778"/>
                </a:lnTo>
                <a:lnTo>
                  <a:pt x="66838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41451" y="1164082"/>
            <a:ext cx="6728459" cy="416496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8415" marR="8890" indent="-6350">
              <a:lnSpc>
                <a:spcPct val="102600"/>
              </a:lnSpc>
              <a:spcBef>
                <a:spcPts val="60"/>
              </a:spcBef>
            </a:pP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2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increasing</a:t>
            </a:r>
            <a:r>
              <a:rPr dirty="0" sz="1200" spc="12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adoption</a:t>
            </a:r>
            <a:r>
              <a:rPr dirty="0" sz="1200" spc="13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2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cloud</a:t>
            </a:r>
            <a:r>
              <a:rPr dirty="0" sz="1200" spc="12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services,</a:t>
            </a:r>
            <a:r>
              <a:rPr dirty="0" sz="1200" spc="13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mobile</a:t>
            </a:r>
            <a:r>
              <a:rPr dirty="0" sz="1200" spc="13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computing,</a:t>
            </a:r>
            <a:r>
              <a:rPr dirty="0" sz="1200" spc="13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2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hybrid</a:t>
            </a:r>
            <a:r>
              <a:rPr dirty="0" sz="1200" spc="13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work</a:t>
            </a:r>
            <a:r>
              <a:rPr dirty="0" sz="1200" spc="12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models</a:t>
            </a:r>
            <a:r>
              <a:rPr dirty="0" sz="1200" spc="130">
                <a:latin typeface="Cambria Math"/>
                <a:cs typeface="Cambria Math"/>
              </a:rPr>
              <a:t>  </a:t>
            </a:r>
            <a:r>
              <a:rPr dirty="0" sz="1200" spc="-25">
                <a:latin typeface="Cambria Math"/>
                <a:cs typeface="Cambria Math"/>
              </a:rPr>
              <a:t>has </a:t>
            </a:r>
            <a:r>
              <a:rPr dirty="0" sz="1200">
                <a:latin typeface="Cambria Math"/>
                <a:cs typeface="Cambria Math"/>
              </a:rPr>
              <a:t>fundamentally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broken</a:t>
            </a:r>
            <a:r>
              <a:rPr dirty="0" sz="1200" spc="2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traditional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perimeter,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rendering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legacy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models </a:t>
            </a:r>
            <a:r>
              <a:rPr dirty="0" sz="1200">
                <a:latin typeface="Cambria Math"/>
                <a:cs typeface="Cambria Math"/>
              </a:rPr>
              <a:t>ineffective.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Organizations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now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struggle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growing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surface,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where threats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can originate </a:t>
            </a:r>
            <a:r>
              <a:rPr dirty="0" sz="1200" spc="-20">
                <a:latin typeface="Cambria Math"/>
                <a:cs typeface="Cambria Math"/>
              </a:rPr>
              <a:t>from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compromised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endpoints,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unsafe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locations, </a:t>
            </a:r>
            <a:r>
              <a:rPr dirty="0" sz="1200" spc="-20">
                <a:latin typeface="Cambria Math"/>
                <a:cs typeface="Cambria Math"/>
              </a:rPr>
              <a:t>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malicious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insiders. Static,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binary </a:t>
            </a:r>
            <a:r>
              <a:rPr dirty="0" sz="1200">
                <a:latin typeface="Cambria Math"/>
                <a:cs typeface="Cambria Math"/>
              </a:rPr>
              <a:t>decisions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(allow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deny)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longer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sufficient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mitigate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sophisticated risks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present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modern </a:t>
            </a:r>
            <a:r>
              <a:rPr dirty="0" sz="1200">
                <a:latin typeface="Cambria Math"/>
                <a:cs typeface="Cambria Math"/>
              </a:rPr>
              <a:t>distributed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environments.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There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critical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need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dynamic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framework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evaluate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full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context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every access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request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real-</a:t>
            </a:r>
            <a:r>
              <a:rPr dirty="0" sz="1200" spc="-20">
                <a:latin typeface="Cambria Math"/>
                <a:cs typeface="Cambria Math"/>
              </a:rPr>
              <a:t>time.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18415" marR="5080" indent="-6350">
              <a:lnSpc>
                <a:spcPct val="103400"/>
              </a:lnSpc>
            </a:pP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project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presents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design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context-</a:t>
            </a:r>
            <a:r>
              <a:rPr dirty="0" sz="1200">
                <a:latin typeface="Cambria Math"/>
                <a:cs typeface="Cambria Math"/>
              </a:rPr>
              <a:t>aware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user </a:t>
            </a:r>
            <a:r>
              <a:rPr dirty="0" sz="1200">
                <a:latin typeface="Cambria Math"/>
                <a:cs typeface="Cambria Math"/>
              </a:rPr>
              <a:t>identity,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posture,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geolocation,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risk.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objective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develop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engine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ingests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multiple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contextual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signals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calculate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real-</a:t>
            </a:r>
            <a:r>
              <a:rPr dirty="0" sz="1200">
                <a:latin typeface="Cambria Math"/>
                <a:cs typeface="Cambria Math"/>
              </a:rPr>
              <a:t>time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score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each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attempt.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 spc="-10">
                <a:latin typeface="Cambria Math"/>
                <a:cs typeface="Cambria Math"/>
              </a:rPr>
              <a:t>methodology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involves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defining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granular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policies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map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specific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context</a:t>
            </a:r>
            <a:r>
              <a:rPr dirty="0" sz="1200" spc="-10">
                <a:latin typeface="Cambria Math"/>
                <a:cs typeface="Cambria Math"/>
              </a:rPr>
              <a:t> combinations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(e.g.,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"managed </a:t>
            </a:r>
            <a:r>
              <a:rPr dirty="0" sz="1200">
                <a:latin typeface="Cambria Math"/>
                <a:cs typeface="Cambria Math"/>
              </a:rPr>
              <a:t>device"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+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"corporate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network"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+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"low-risk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app")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corresponding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decisions,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granting </a:t>
            </a:r>
            <a:r>
              <a:rPr dirty="0" sz="1200">
                <a:latin typeface="Cambria Math"/>
                <a:cs typeface="Cambria Math"/>
              </a:rPr>
              <a:t>full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access,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enforcing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step-up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authentication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(MFA),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limiting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session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functionality,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denying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access entirely.</a:t>
            </a:r>
            <a:endParaRPr sz="1200">
              <a:latin typeface="Cambria Math"/>
              <a:cs typeface="Cambria Math"/>
            </a:endParaRPr>
          </a:p>
          <a:p>
            <a:pPr algn="just" marL="18415" marR="10795" indent="-6350">
              <a:lnSpc>
                <a:spcPct val="103299"/>
              </a:lnSpc>
            </a:pP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expected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outcome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adaptive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model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significantly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organizational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attack </a:t>
            </a:r>
            <a:r>
              <a:rPr dirty="0" sz="1200">
                <a:latin typeface="Cambria Math"/>
                <a:cs typeface="Cambria Math"/>
              </a:rPr>
              <a:t>surface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mitigates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credential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compromise.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18415" marR="6350" indent="-6350">
              <a:lnSpc>
                <a:spcPct val="102800"/>
              </a:lnSpc>
            </a:pP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ensuring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decisions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dynamically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aligned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perceived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threat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level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each </a:t>
            </a:r>
            <a:r>
              <a:rPr dirty="0" sz="1200">
                <a:latin typeface="Cambria Math"/>
                <a:cs typeface="Cambria Math"/>
              </a:rPr>
              <a:t>request,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enhances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without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introducing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unnecessary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friction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low-risk,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trusted </a:t>
            </a:r>
            <a:r>
              <a:rPr dirty="0" sz="1200">
                <a:latin typeface="Cambria Math"/>
                <a:cs typeface="Cambria Math"/>
              </a:rPr>
              <a:t>users.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2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approach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provides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robust</a:t>
            </a:r>
            <a:r>
              <a:rPr dirty="0" sz="1200" spc="2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framework</a:t>
            </a:r>
            <a:r>
              <a:rPr dirty="0" sz="1200" spc="2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enabling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2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productive</a:t>
            </a:r>
            <a:r>
              <a:rPr dirty="0" sz="1200" spc="2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27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resources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10">
                <a:latin typeface="Cambria Math"/>
                <a:cs typeface="Cambria Math"/>
              </a:rPr>
              <a:t> increasingly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perimeter-</a:t>
            </a:r>
            <a:r>
              <a:rPr dirty="0" sz="1200">
                <a:latin typeface="Cambria Math"/>
                <a:cs typeface="Cambria Math"/>
              </a:rPr>
              <a:t>less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dynamic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digital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world.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8968" y="8209026"/>
            <a:ext cx="6764655" cy="1624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Use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Case</a:t>
            </a:r>
            <a:r>
              <a:rPr dirty="0" sz="1400" spc="-10">
                <a:latin typeface="Cambria Math"/>
                <a:cs typeface="Cambria Math"/>
              </a:rPr>
              <a:t> Scenarios</a:t>
            </a:r>
            <a:endParaRPr sz="1400">
              <a:latin typeface="Cambria Math"/>
              <a:cs typeface="Cambria Math"/>
            </a:endParaRPr>
          </a:p>
          <a:p>
            <a:pPr algn="just" marL="70485">
              <a:lnSpc>
                <a:spcPct val="100000"/>
              </a:lnSpc>
              <a:spcBef>
                <a:spcPts val="1565"/>
              </a:spcBef>
            </a:pPr>
            <a:r>
              <a:rPr dirty="0" sz="1100">
                <a:latin typeface="Cambria Math"/>
                <a:cs typeface="Cambria Math"/>
              </a:rPr>
              <a:t>Scenario</a:t>
            </a:r>
            <a:r>
              <a:rPr dirty="0" sz="1100" spc="-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1: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Finance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Department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ERP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System</a:t>
            </a:r>
            <a:endParaRPr sz="1100">
              <a:latin typeface="Cambria Math"/>
              <a:cs typeface="Cambria Math"/>
            </a:endParaRPr>
          </a:p>
          <a:p>
            <a:pPr algn="just" marL="76200" marR="5080" indent="-6350">
              <a:lnSpc>
                <a:spcPct val="100600"/>
              </a:lnSpc>
              <a:spcBef>
                <a:spcPts val="60"/>
              </a:spcBef>
            </a:pP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senior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accountant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finance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department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needs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corporate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Enterprise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Resource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Planning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(ERP) </a:t>
            </a:r>
            <a:r>
              <a:rPr dirty="0" sz="1100">
                <a:latin typeface="Cambria Math"/>
                <a:cs typeface="Cambria Math"/>
              </a:rPr>
              <a:t>system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process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monthly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payroll.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connects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remote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location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company-managed </a:t>
            </a:r>
            <a:r>
              <a:rPr dirty="0" sz="1100">
                <a:latin typeface="Cambria Math"/>
                <a:cs typeface="Cambria Math"/>
              </a:rPr>
              <a:t>laptop.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launching 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ZPA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Client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Connector,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authenticate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Azure Active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Directory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multi-factor authentication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(MFA).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ZPA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evaluates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user's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identity,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group membership (Finance_ERP_Users), device posture </a:t>
            </a:r>
            <a:r>
              <a:rPr dirty="0" sz="1100">
                <a:latin typeface="Cambria Math"/>
                <a:cs typeface="Cambria Math"/>
              </a:rPr>
              <a:t>(antivirus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active,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disk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encryption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enabled), and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connection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context. The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policy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engine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determines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 the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user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authorized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brokers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direct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micro-</a:t>
            </a:r>
            <a:r>
              <a:rPr dirty="0" sz="1100">
                <a:latin typeface="Cambria Math"/>
                <a:cs typeface="Cambria Math"/>
              </a:rPr>
              <a:t>tunnel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ERP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only.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interact</a:t>
            </a:r>
            <a:r>
              <a:rPr dirty="0" sz="1100" spc="-20">
                <a:latin typeface="Cambria Math"/>
                <a:cs typeface="Cambria Math"/>
              </a:rPr>
              <a:t> with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8591" y="976630"/>
            <a:ext cx="6724015" cy="8858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" marR="3556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ERP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interface,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but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has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visibility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network-level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to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any</a:t>
            </a:r>
            <a:r>
              <a:rPr dirty="0" sz="1100" spc="-6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other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internal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systems,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such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development </a:t>
            </a:r>
            <a:r>
              <a:rPr dirty="0" sz="1100">
                <a:latin typeface="Cambria Math"/>
                <a:cs typeface="Cambria Math"/>
              </a:rPr>
              <a:t>servers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database.</a:t>
            </a:r>
            <a:endParaRPr sz="1100">
              <a:latin typeface="Cambria Math"/>
              <a:cs typeface="Cambria Math"/>
            </a:endParaRPr>
          </a:p>
          <a:p>
            <a:pPr marL="30480">
              <a:lnSpc>
                <a:spcPct val="100000"/>
              </a:lnSpc>
              <a:spcBef>
                <a:spcPts val="75"/>
              </a:spcBef>
            </a:pPr>
            <a:r>
              <a:rPr dirty="0" sz="1100" spc="-10">
                <a:latin typeface="Cambria Math"/>
                <a:cs typeface="Cambria Math"/>
              </a:rPr>
              <a:t>Output: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95"/>
              </a:spcBef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authenticated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based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group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membership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85"/>
              </a:spcBef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>
                <a:latin typeface="Cambria Math"/>
                <a:cs typeface="Cambria Math"/>
              </a:rPr>
              <a:t>Direct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micro-tunnel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established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specifically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 ERP</a:t>
            </a:r>
            <a:r>
              <a:rPr dirty="0" sz="1100" spc="-10">
                <a:latin typeface="Cambria Math"/>
                <a:cs typeface="Cambria Math"/>
              </a:rPr>
              <a:t> application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85"/>
              </a:spcBef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>
                <a:latin typeface="Cambria Math"/>
                <a:cs typeface="Cambria Math"/>
              </a:rPr>
              <a:t>All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other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internal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network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segments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remain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invisible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inaccessible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Font typeface="Arial MT"/>
              <a:buChar char="•"/>
            </a:pPr>
            <a:endParaRPr sz="1100">
              <a:latin typeface="Cambria Math"/>
              <a:cs typeface="Cambria Math"/>
            </a:endParaRPr>
          </a:p>
          <a:p>
            <a:pPr algn="just" marL="30480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Cambria Math"/>
                <a:cs typeface="Cambria Math"/>
              </a:rPr>
              <a:t>Scenario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2: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Contractor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Access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Specific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Project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Repository</a:t>
            </a:r>
            <a:endParaRPr sz="1100">
              <a:latin typeface="Cambria Math"/>
              <a:cs typeface="Cambria Math"/>
            </a:endParaRPr>
          </a:p>
          <a:p>
            <a:pPr algn="just" marL="36830" marR="5080" indent="-6350">
              <a:lnSpc>
                <a:spcPct val="100499"/>
              </a:lnSpc>
              <a:spcBef>
                <a:spcPts val="85"/>
              </a:spcBef>
            </a:pP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external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software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consultant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hired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three-month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project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requires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only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specific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Git </a:t>
            </a:r>
            <a:r>
              <a:rPr dirty="0" sz="1100">
                <a:latin typeface="Cambria Math"/>
                <a:cs typeface="Cambria Math"/>
              </a:rPr>
              <a:t>repository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hosted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internal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server.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contractor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onboarded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guest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identity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provider</a:t>
            </a:r>
            <a:r>
              <a:rPr dirty="0" sz="1100" spc="-25">
                <a:latin typeface="Cambria Math"/>
                <a:cs typeface="Cambria Math"/>
              </a:rPr>
              <a:t> and </a:t>
            </a:r>
            <a:r>
              <a:rPr dirty="0" sz="1100">
                <a:latin typeface="Cambria Math"/>
                <a:cs typeface="Cambria Math"/>
              </a:rPr>
              <a:t>assigned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"Project_X_Contractors"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group.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contractor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connects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ZPA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client,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system </a:t>
            </a:r>
            <a:r>
              <a:rPr dirty="0" sz="1100">
                <a:latin typeface="Cambria Math"/>
                <a:cs typeface="Cambria Math"/>
              </a:rPr>
              <a:t>verifies their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identity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checks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device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basic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compliance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(OS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patch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level,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firewall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enabled).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ZPA </a:t>
            </a:r>
            <a:r>
              <a:rPr dirty="0" sz="1100">
                <a:latin typeface="Cambria Math"/>
                <a:cs typeface="Cambria Math"/>
              </a:rPr>
              <a:t>enforces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policy</a:t>
            </a:r>
            <a:r>
              <a:rPr dirty="0" sz="1100" spc="3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grants</a:t>
            </a:r>
            <a:r>
              <a:rPr dirty="0" sz="1100" spc="3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3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exclusively</a:t>
            </a:r>
            <a:r>
              <a:rPr dirty="0" sz="1100" spc="3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Git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repository</a:t>
            </a:r>
            <a:r>
              <a:rPr dirty="0" sz="1100" spc="3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(port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22/SSH</a:t>
            </a:r>
            <a:r>
              <a:rPr dirty="0" sz="1100" spc="3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port </a:t>
            </a:r>
            <a:r>
              <a:rPr dirty="0" sz="1100">
                <a:latin typeface="Cambria Math"/>
                <a:cs typeface="Cambria Math"/>
              </a:rPr>
              <a:t>443/HTTPS)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during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hours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(9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AM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5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PM).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contractor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clone,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push,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pull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code,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but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cannot </a:t>
            </a:r>
            <a:r>
              <a:rPr dirty="0" sz="1100">
                <a:latin typeface="Cambria Math"/>
                <a:cs typeface="Cambria Math"/>
              </a:rPr>
              <a:t>discover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connect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other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internal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resources,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corporate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intranet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file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servers.</a:t>
            </a:r>
            <a:endParaRPr sz="1100">
              <a:latin typeface="Cambria Math"/>
              <a:cs typeface="Cambria Math"/>
            </a:endParaRPr>
          </a:p>
          <a:p>
            <a:pPr marL="30480">
              <a:lnSpc>
                <a:spcPct val="100000"/>
              </a:lnSpc>
              <a:spcBef>
                <a:spcPts val="85"/>
              </a:spcBef>
            </a:pPr>
            <a:r>
              <a:rPr dirty="0" sz="1100" spc="-10">
                <a:latin typeface="Cambria Math"/>
                <a:cs typeface="Cambria Math"/>
              </a:rPr>
              <a:t>Output: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85"/>
              </a:spcBef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 spc="-10">
                <a:latin typeface="Cambria Math"/>
                <a:cs typeface="Cambria Math"/>
              </a:rPr>
              <a:t>Time-bound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0">
                <a:latin typeface="Cambria Math"/>
                <a:cs typeface="Cambria Math"/>
              </a:rPr>
              <a:t> role-specific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enforced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70"/>
              </a:spcBef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 spc="-10">
                <a:latin typeface="Cambria Math"/>
                <a:cs typeface="Cambria Math"/>
              </a:rPr>
              <a:t>Contractor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restricted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single</a:t>
            </a:r>
            <a:r>
              <a:rPr dirty="0" sz="1100" spc="-10">
                <a:latin typeface="Cambria Math"/>
                <a:cs typeface="Cambria Math"/>
              </a:rPr>
              <a:t> application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(Git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repository)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100"/>
              </a:spcBef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 spc="-10">
                <a:latin typeface="Cambria Math"/>
                <a:cs typeface="Cambria Math"/>
              </a:rPr>
              <a:t>Lateral</a:t>
            </a:r>
            <a:r>
              <a:rPr dirty="0" sz="110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movement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adjacent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systems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completely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blocked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Arial MT"/>
              <a:buChar char="•"/>
            </a:pPr>
            <a:endParaRPr sz="1100">
              <a:latin typeface="Cambria Math"/>
              <a:cs typeface="Cambria Math"/>
            </a:endParaRPr>
          </a:p>
          <a:p>
            <a:pPr algn="just" marL="3048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Scenario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3: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Executive</a:t>
            </a:r>
            <a:r>
              <a:rPr dirty="0" sz="1100" spc="-10">
                <a:latin typeface="Cambria Math"/>
                <a:cs typeface="Cambria Math"/>
              </a:rPr>
              <a:t> Access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10">
                <a:latin typeface="Cambria Math"/>
                <a:cs typeface="Cambria Math"/>
              </a:rPr>
              <a:t> Financial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Documents</a:t>
            </a:r>
            <a:endParaRPr sz="1100">
              <a:latin typeface="Cambria Math"/>
              <a:cs typeface="Cambria Math"/>
            </a:endParaRPr>
          </a:p>
          <a:p>
            <a:pPr algn="just" marL="36830" marR="5080" indent="-6350">
              <a:lnSpc>
                <a:spcPct val="100499"/>
              </a:lnSpc>
              <a:spcBef>
                <a:spcPts val="65"/>
              </a:spcBef>
            </a:pP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company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VP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needs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folder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containing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confidential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M&amp;A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documents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corporate SharePoint site.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connects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hotel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business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center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while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traveling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internationally,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their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companymanaged </a:t>
            </a:r>
            <a:r>
              <a:rPr dirty="0" sz="1100">
                <a:latin typeface="Cambria Math"/>
                <a:cs typeface="Cambria Math"/>
              </a:rPr>
              <a:t>tablet.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Upon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launching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ZPA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Client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Connector,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they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authenticate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via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Azure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Active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Directory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MFA.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ZPA </a:t>
            </a:r>
            <a:r>
              <a:rPr dirty="0" sz="1100">
                <a:latin typeface="Cambria Math"/>
                <a:cs typeface="Cambria Math"/>
              </a:rPr>
              <a:t>evaluates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user's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identity,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executive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group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membership,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device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posture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(which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compliant).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However,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geolocation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(unusual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foreign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country)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risk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(highly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sensitive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document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repository)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trigger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elevated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risk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score.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policy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engine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grants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SharePoint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site,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enforces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additional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restrictions: </a:t>
            </a:r>
            <a:r>
              <a:rPr dirty="0" sz="1100">
                <a:latin typeface="Cambria Math"/>
                <a:cs typeface="Cambria Math"/>
              </a:rPr>
              <a:t>download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print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capabilities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disabled,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session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monitored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unusual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behavior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(e.g.,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mass </a:t>
            </a:r>
            <a:r>
              <a:rPr dirty="0" sz="1100" spc="-10">
                <a:latin typeface="Cambria Math"/>
                <a:cs typeface="Cambria Math"/>
              </a:rPr>
              <a:t>download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attempts).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alert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also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team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high-risk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executive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login.</a:t>
            </a:r>
            <a:endParaRPr sz="1100">
              <a:latin typeface="Cambria Math"/>
              <a:cs typeface="Cambria Math"/>
            </a:endParaRPr>
          </a:p>
          <a:p>
            <a:pPr marL="30480">
              <a:lnSpc>
                <a:spcPct val="100000"/>
              </a:lnSpc>
              <a:spcBef>
                <a:spcPts val="85"/>
              </a:spcBef>
            </a:pPr>
            <a:r>
              <a:rPr dirty="0" sz="1100" spc="-10">
                <a:latin typeface="Cambria Math"/>
                <a:cs typeface="Cambria Math"/>
              </a:rPr>
              <a:t>Output: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85"/>
              </a:spcBef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authenticated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MFA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device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compliant,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flagged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unusual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location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85"/>
              </a:spcBef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 spc="-10">
                <a:latin typeface="Cambria Math"/>
                <a:cs typeface="Cambria Math"/>
              </a:rPr>
              <a:t>Read-</a:t>
            </a:r>
            <a:r>
              <a:rPr dirty="0" sz="1100">
                <a:latin typeface="Cambria Math"/>
                <a:cs typeface="Cambria Math"/>
              </a:rPr>
              <a:t>only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 </a:t>
            </a:r>
            <a:r>
              <a:rPr dirty="0" sz="1100" spc="-10">
                <a:latin typeface="Cambria Math"/>
                <a:cs typeface="Cambria Math"/>
              </a:rPr>
              <a:t>granted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10">
                <a:latin typeface="Cambria Math"/>
                <a:cs typeface="Cambria Math"/>
              </a:rPr>
              <a:t> download/print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restrictions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enforced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70"/>
              </a:spcBef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team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alerted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potential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credential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misuse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espionage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attempt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Arial MT"/>
              <a:buChar char="•"/>
            </a:pP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Scenario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4: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Remote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Support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Technician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Internal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Tools</a:t>
            </a:r>
            <a:endParaRPr sz="1100">
              <a:latin typeface="Cambria Math"/>
              <a:cs typeface="Cambria Math"/>
            </a:endParaRPr>
          </a:p>
          <a:p>
            <a:pPr marL="18415" marR="82550" indent="-6350">
              <a:lnSpc>
                <a:spcPct val="104099"/>
              </a:lnSpc>
              <a:spcBef>
                <a:spcPts val="40"/>
              </a:spcBef>
            </a:pP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An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IT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support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technician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needs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access the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corporate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ServiceNow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instance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remote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desktop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tool</a:t>
            </a:r>
            <a:r>
              <a:rPr dirty="0" sz="1100" spc="-4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assist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an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employee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.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technician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connects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from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their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home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office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using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company-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managed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desktop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. 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Upon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launching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ZPA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Client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Connector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,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they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authenticate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via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Azure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Active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Directory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with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MFA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.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ZPA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evaluates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the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user's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identity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,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group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membership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(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IT_Support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),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device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posture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(fully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compliant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),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connection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type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(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home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office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,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which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is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whitelisted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for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IT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staff)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.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Because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user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,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device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,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location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all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meet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120">
                <a:solidFill>
                  <a:srgbClr val="0D1115"/>
                </a:solidFill>
                <a:latin typeface="MS Gothic"/>
                <a:cs typeface="MS Gothic"/>
              </a:rPr>
              <a:t>信任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baseline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, 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the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policy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engine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grants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direct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micro-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tunnel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both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ServiceNow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specific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remote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desktop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jump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host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used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for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employee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support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.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technician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can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perform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their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duties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efficiently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,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but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still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has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no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finance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systems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,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HR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databases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,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or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source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code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repositories.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Output: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1130"/>
              </a:spcBef>
              <a:buClr>
                <a:srgbClr val="000000"/>
              </a:buClr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User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authenticated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fully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authorized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based</a:t>
            </a:r>
            <a:r>
              <a:rPr dirty="0" sz="11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on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trusted</a:t>
            </a:r>
            <a:r>
              <a:rPr dirty="0" sz="11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context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80"/>
              </a:spcBef>
              <a:buClr>
                <a:srgbClr val="000000"/>
              </a:buClr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Direct</a:t>
            </a:r>
            <a:r>
              <a:rPr dirty="0" sz="11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micro-tunnels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established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ServiceNow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remote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desktop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jump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host</a:t>
            </a:r>
            <a:endParaRPr sz="1100">
              <a:latin typeface="Cambria Math"/>
              <a:cs typeface="Cambria Math"/>
            </a:endParaRPr>
          </a:p>
          <a:p>
            <a:pPr marL="259079" indent="-228600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SzPct val="90909"/>
              <a:buFont typeface="Arial MT"/>
              <a:buChar char="•"/>
              <a:tabLst>
                <a:tab pos="259079" algn="l"/>
              </a:tabLst>
            </a:pP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Least-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privilege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1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maintained;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unrelated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internal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systems</a:t>
            </a:r>
            <a:r>
              <a:rPr dirty="0" sz="11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remain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invisible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8591" y="963523"/>
            <a:ext cx="6709409" cy="27400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Scenario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5: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High-Risk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Application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1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from</a:t>
            </a:r>
            <a:r>
              <a:rPr dirty="0" sz="1100" spc="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Low-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Trust</a:t>
            </a:r>
            <a:r>
              <a:rPr dirty="0" sz="11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Location</a:t>
            </a:r>
            <a:endParaRPr sz="1100">
              <a:latin typeface="Cambria Math"/>
              <a:cs typeface="Cambria Math"/>
            </a:endParaRPr>
          </a:p>
          <a:p>
            <a:pPr marL="18415" marR="5080" indent="-6350">
              <a:lnSpc>
                <a:spcPct val="102600"/>
              </a:lnSpc>
              <a:spcBef>
                <a:spcPts val="60"/>
              </a:spcBef>
            </a:pP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marketing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coordinator</a:t>
            </a:r>
            <a:r>
              <a:rPr dirty="0" sz="11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needs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corporate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Salesforce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instance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update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1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campaign.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user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connects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from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coffee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shop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using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their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company-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managed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smartphone.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Upon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launching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ZPA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Client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Connector,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they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authenticate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via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Azure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Active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Directory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with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MFA.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ZPA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evaluates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user's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identity,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group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membership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(Marketing_Salesforce_Users),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 device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posture</a:t>
            </a:r>
            <a:r>
              <a:rPr dirty="0" sz="11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(managed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 and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compliant),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but</a:t>
            </a:r>
            <a:r>
              <a:rPr dirty="0" sz="11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flags</a:t>
            </a:r>
            <a:r>
              <a:rPr dirty="0" sz="11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public</a:t>
            </a:r>
            <a:r>
              <a:rPr dirty="0" sz="1100" spc="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Wi-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Fi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network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as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high-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risk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connection.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policy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engine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determines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that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while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user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device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are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trusted,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the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network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environment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introduces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unacceptable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risk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for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direct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customer-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facing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CRM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containing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sensitive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lead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data.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Instead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of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blocking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entirely,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user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is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routed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through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secure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ZPA</a:t>
            </a:r>
            <a:r>
              <a:rPr dirty="0" sz="1100" spc="-5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browser</a:t>
            </a:r>
            <a:r>
              <a:rPr dirty="0" sz="11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isolation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service,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rendering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Salesforce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session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in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disposable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container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that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prevents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any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data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from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persisting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on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the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device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or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being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exposed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public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network.</a:t>
            </a: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Output:</a:t>
            </a:r>
            <a:endParaRPr sz="1100">
              <a:latin typeface="Cambria Math"/>
              <a:cs typeface="Cambria Math"/>
            </a:endParaRPr>
          </a:p>
          <a:p>
            <a:pPr marL="240665" indent="-227965">
              <a:lnSpc>
                <a:spcPct val="100000"/>
              </a:lnSpc>
              <a:spcBef>
                <a:spcPts val="1130"/>
              </a:spcBef>
              <a:buSzPct val="90909"/>
              <a:buFont typeface="Arial MT"/>
              <a:buChar char="•"/>
              <a:tabLst>
                <a:tab pos="240665" algn="l"/>
              </a:tabLst>
            </a:pP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User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authenticated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 and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device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compliant,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but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network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location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deemed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high-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risk</a:t>
            </a:r>
            <a:endParaRPr sz="1100">
              <a:latin typeface="Cambria Math"/>
              <a:cs typeface="Cambria Math"/>
            </a:endParaRPr>
          </a:p>
          <a:p>
            <a:pPr marL="240665" indent="-227965">
              <a:lnSpc>
                <a:spcPct val="100000"/>
              </a:lnSpc>
              <a:spcBef>
                <a:spcPts val="95"/>
              </a:spcBef>
              <a:buSzPct val="90909"/>
              <a:buFont typeface="Arial MT"/>
              <a:buChar char="•"/>
              <a:tabLst>
                <a:tab pos="240665" algn="l"/>
              </a:tabLst>
            </a:pP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granted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via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browser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isolation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prevent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data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leakage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on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public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Wi-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Fi</a:t>
            </a:r>
            <a:endParaRPr sz="1100">
              <a:latin typeface="Cambria Math"/>
              <a:cs typeface="Cambria Math"/>
            </a:endParaRPr>
          </a:p>
          <a:p>
            <a:pPr marL="240665" indent="-227965">
              <a:lnSpc>
                <a:spcPct val="100000"/>
              </a:lnSpc>
              <a:spcBef>
                <a:spcPts val="60"/>
              </a:spcBef>
              <a:buSzPct val="90909"/>
              <a:buFont typeface="Arial MT"/>
              <a:buChar char="•"/>
              <a:tabLst>
                <a:tab pos="240665" algn="l"/>
              </a:tabLst>
            </a:pP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Session</a:t>
            </a:r>
            <a:r>
              <a:rPr dirty="0" sz="11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is</a:t>
            </a:r>
            <a:r>
              <a:rPr dirty="0" sz="11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rendered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in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secure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container</a:t>
            </a:r>
            <a:r>
              <a:rPr dirty="0" sz="11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with</a:t>
            </a:r>
            <a:r>
              <a:rPr dirty="0" sz="11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copy/paste</a:t>
            </a:r>
            <a:r>
              <a:rPr dirty="0" sz="11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1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download</a:t>
            </a:r>
            <a:r>
              <a:rPr dirty="0" sz="1100" spc="-4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solidFill>
                  <a:srgbClr val="0D1115"/>
                </a:solidFill>
                <a:latin typeface="Cambria Math"/>
                <a:cs typeface="Cambria Math"/>
              </a:rPr>
              <a:t>controls </a:t>
            </a:r>
            <a:r>
              <a:rPr dirty="0" sz="1100" spc="-10">
                <a:solidFill>
                  <a:srgbClr val="0D1115"/>
                </a:solidFill>
                <a:latin typeface="Cambria Math"/>
                <a:cs typeface="Cambria Math"/>
              </a:rPr>
              <a:t>enforced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0916" y="1610853"/>
            <a:ext cx="6684009" cy="8890"/>
          </a:xfrm>
          <a:custGeom>
            <a:avLst/>
            <a:gdLst/>
            <a:ahLst/>
            <a:cxnLst/>
            <a:rect l="l" t="t" r="r" b="b"/>
            <a:pathLst>
              <a:path w="6684009" h="8890">
                <a:moveTo>
                  <a:pt x="6683883" y="0"/>
                </a:moveTo>
                <a:lnTo>
                  <a:pt x="0" y="0"/>
                </a:lnTo>
                <a:lnTo>
                  <a:pt x="0" y="8778"/>
                </a:lnTo>
                <a:lnTo>
                  <a:pt x="6683883" y="8778"/>
                </a:lnTo>
                <a:lnTo>
                  <a:pt x="66838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6212" y="973582"/>
            <a:ext cx="6741795" cy="7082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Stage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–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 spc="-5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300" spc="-10">
                <a:latin typeface="Cambria Math"/>
                <a:cs typeface="Cambria Math"/>
              </a:rPr>
              <a:t>Title:</a:t>
            </a:r>
            <a:endParaRPr sz="13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300">
              <a:latin typeface="Cambria Math"/>
              <a:cs typeface="Cambria Math"/>
            </a:endParaRPr>
          </a:p>
          <a:p>
            <a:pPr marL="24765" marR="154305" indent="-6350">
              <a:lnSpc>
                <a:spcPct val="102099"/>
              </a:lnSpc>
            </a:pPr>
            <a:r>
              <a:rPr dirty="0" sz="1400">
                <a:latin typeface="Cambria Math"/>
                <a:cs typeface="Cambria Math"/>
              </a:rPr>
              <a:t>Design</a:t>
            </a:r>
            <a:r>
              <a:rPr dirty="0" sz="1400" spc="-4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and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apply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context-</a:t>
            </a:r>
            <a:r>
              <a:rPr dirty="0" sz="1400">
                <a:latin typeface="Cambria Math"/>
                <a:cs typeface="Cambria Math"/>
              </a:rPr>
              <a:t>aware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access</a:t>
            </a:r>
            <a:r>
              <a:rPr dirty="0" sz="1400" spc="-4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controls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based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on</a:t>
            </a:r>
            <a:r>
              <a:rPr dirty="0" sz="1400" spc="-5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user</a:t>
            </a:r>
            <a:r>
              <a:rPr dirty="0" sz="1400" spc="-4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identity,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device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posture, </a:t>
            </a:r>
            <a:r>
              <a:rPr dirty="0" sz="1400">
                <a:latin typeface="Cambria Math"/>
                <a:cs typeface="Cambria Math"/>
              </a:rPr>
              <a:t>location,</a:t>
            </a:r>
            <a:r>
              <a:rPr dirty="0" sz="1400" spc="-4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and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application</a:t>
            </a:r>
            <a:r>
              <a:rPr dirty="0" sz="1400" spc="-45">
                <a:latin typeface="Cambria Math"/>
                <a:cs typeface="Cambria Math"/>
              </a:rPr>
              <a:t> </a:t>
            </a:r>
            <a:r>
              <a:rPr dirty="0" sz="1400" spc="-20">
                <a:latin typeface="Cambria Math"/>
                <a:cs typeface="Cambria Math"/>
              </a:rPr>
              <a:t>risk.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300" spc="-10">
                <a:latin typeface="Cambria Math"/>
                <a:cs typeface="Cambria Math"/>
              </a:rPr>
              <a:t>Overview:</a:t>
            </a:r>
            <a:endParaRPr sz="1300">
              <a:latin typeface="Cambria Math"/>
              <a:cs typeface="Cambria Math"/>
            </a:endParaRPr>
          </a:p>
          <a:p>
            <a:pPr algn="just" marL="29209" marR="6350" indent="-6350">
              <a:lnSpc>
                <a:spcPct val="102600"/>
              </a:lnSpc>
              <a:spcBef>
                <a:spcPts val="60"/>
              </a:spcBef>
            </a:pP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response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evolving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threat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landscape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dissolution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traditional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perimeter, </a:t>
            </a:r>
            <a:r>
              <a:rPr dirty="0" sz="1200">
                <a:latin typeface="Cambria Math"/>
                <a:cs typeface="Cambria Math"/>
              </a:rPr>
              <a:t>modern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enterprises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rapidly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shifting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away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legacy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VPN-</a:t>
            </a:r>
            <a:r>
              <a:rPr dirty="0" sz="1200">
                <a:latin typeface="Cambria Math"/>
                <a:cs typeface="Cambria Math"/>
              </a:rPr>
              <a:t>centric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remote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models.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These </a:t>
            </a:r>
            <a:r>
              <a:rPr dirty="0" sz="1200">
                <a:latin typeface="Cambria Math"/>
                <a:cs typeface="Cambria Math"/>
              </a:rPr>
              <a:t>conventional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approaches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often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grant</a:t>
            </a:r>
            <a:r>
              <a:rPr dirty="0" sz="1200" spc="2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excessive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network-</a:t>
            </a:r>
            <a:r>
              <a:rPr dirty="0" sz="1200">
                <a:latin typeface="Cambria Math"/>
                <a:cs typeface="Cambria Math"/>
              </a:rPr>
              <a:t>level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access,</a:t>
            </a:r>
            <a:r>
              <a:rPr dirty="0" sz="1200" spc="3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creating</a:t>
            </a:r>
            <a:r>
              <a:rPr dirty="0" sz="1200" spc="2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3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significant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attack </a:t>
            </a:r>
            <a:r>
              <a:rPr dirty="0" sz="1200">
                <a:latin typeface="Cambria Math"/>
                <a:cs typeface="Cambria Math"/>
              </a:rPr>
              <a:t>surface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increasing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lateral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threat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movement.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challenges,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project </a:t>
            </a:r>
            <a:r>
              <a:rPr dirty="0" sz="1200">
                <a:latin typeface="Cambria Math"/>
                <a:cs typeface="Cambria Math"/>
              </a:rPr>
              <a:t>centers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implementation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Zero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architecture,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fundamentally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operating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principle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"never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always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verify."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moving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beyond</a:t>
            </a:r>
            <a:r>
              <a:rPr dirty="0" sz="1200" spc="-10">
                <a:latin typeface="Cambria Math"/>
                <a:cs typeface="Cambria Math"/>
              </a:rPr>
              <a:t> location-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access, we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aim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establish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a </a:t>
            </a:r>
            <a:r>
              <a:rPr dirty="0" sz="1200">
                <a:latin typeface="Cambria Math"/>
                <a:cs typeface="Cambria Math"/>
              </a:rPr>
              <a:t>security posture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where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longer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implicit,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 access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determined by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granular context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rather </a:t>
            </a:r>
            <a:r>
              <a:rPr dirty="0" sz="1200">
                <a:latin typeface="Cambria Math"/>
                <a:cs typeface="Cambria Math"/>
              </a:rPr>
              <a:t>than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connectivity.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9209" marR="5080" indent="-6350">
              <a:lnSpc>
                <a:spcPct val="1026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core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initiative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involves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deployment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Zscaler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Private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(ZPA),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cloud-</a:t>
            </a:r>
            <a:r>
              <a:rPr dirty="0" sz="1200" spc="-10">
                <a:latin typeface="Cambria Math"/>
                <a:cs typeface="Cambria Math"/>
              </a:rPr>
              <a:t>delivered </a:t>
            </a:r>
            <a:r>
              <a:rPr dirty="0" sz="1200">
                <a:latin typeface="Cambria Math"/>
                <a:cs typeface="Cambria Math"/>
              </a:rPr>
              <a:t>Zero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solution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designed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create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identity-</a:t>
            </a:r>
            <a:r>
              <a:rPr dirty="0" sz="1200">
                <a:latin typeface="Cambria Math"/>
                <a:cs typeface="Cambria Math"/>
              </a:rPr>
              <a:t>aware,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application-</a:t>
            </a:r>
            <a:r>
              <a:rPr dirty="0" sz="1200">
                <a:latin typeface="Cambria Math"/>
                <a:cs typeface="Cambria Math"/>
              </a:rPr>
              <a:t>specific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connectivity.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Unlike </a:t>
            </a:r>
            <a:r>
              <a:rPr dirty="0" sz="1200">
                <a:latin typeface="Cambria Math"/>
                <a:cs typeface="Cambria Math"/>
              </a:rPr>
              <a:t>traditional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VPNs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place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internal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network,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ZPA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leverages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"service-</a:t>
            </a:r>
            <a:r>
              <a:rPr dirty="0" sz="1200">
                <a:latin typeface="Cambria Math"/>
                <a:cs typeface="Cambria Math"/>
              </a:rPr>
              <a:t>initiated"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model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 spc="-10">
                <a:latin typeface="Cambria Math"/>
                <a:cs typeface="Cambria Math"/>
              </a:rPr>
              <a:t>establish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direct, one-to-</a:t>
            </a:r>
            <a:r>
              <a:rPr dirty="0" sz="1200">
                <a:latin typeface="Cambria Math"/>
                <a:cs typeface="Cambria Math"/>
              </a:rPr>
              <a:t>one</a:t>
            </a:r>
            <a:r>
              <a:rPr dirty="0" sz="1200" spc="-10">
                <a:latin typeface="Cambria Math"/>
                <a:cs typeface="Cambria Math"/>
              </a:rPr>
              <a:t> connections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between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authorized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specific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applications,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completely </a:t>
            </a:r>
            <a:r>
              <a:rPr dirty="0" sz="1200">
                <a:latin typeface="Cambria Math"/>
                <a:cs typeface="Cambria Math"/>
              </a:rPr>
              <a:t>hiding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corporate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IP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space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internet.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connect </a:t>
            </a:r>
            <a:r>
              <a:rPr dirty="0" sz="1200">
                <a:latin typeface="Cambria Math"/>
                <a:cs typeface="Cambria Math"/>
              </a:rPr>
              <a:t>exclusively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permitted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access,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continuous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identity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verification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context,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rendering 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invisible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unauthorized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common</a:t>
            </a:r>
            <a:r>
              <a:rPr dirty="0" sz="1200" spc="-10">
                <a:latin typeface="Cambria Math"/>
                <a:cs typeface="Cambria Math"/>
              </a:rPr>
              <a:t> attack </a:t>
            </a:r>
            <a:r>
              <a:rPr dirty="0" sz="1200">
                <a:latin typeface="Cambria Math"/>
                <a:cs typeface="Cambria Math"/>
              </a:rPr>
              <a:t>vectors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scanning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distributed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denial-of-</a:t>
            </a:r>
            <a:r>
              <a:rPr dirty="0" sz="1200">
                <a:latin typeface="Cambria Math"/>
                <a:cs typeface="Cambria Math"/>
              </a:rPr>
              <a:t>service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(DDoS)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attacks.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9209" marR="6350" indent="-6350">
              <a:lnSpc>
                <a:spcPct val="102699"/>
              </a:lnSpc>
            </a:pPr>
            <a:r>
              <a:rPr dirty="0" sz="1200">
                <a:latin typeface="Cambria Math"/>
                <a:cs typeface="Cambria Math"/>
              </a:rPr>
              <a:t>Ultimately,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project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enforce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least-</a:t>
            </a:r>
            <a:r>
              <a:rPr dirty="0" sz="1200">
                <a:latin typeface="Cambria Math"/>
                <a:cs typeface="Cambria Math"/>
              </a:rPr>
              <a:t>privilege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model,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ensuring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devices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are </a:t>
            </a:r>
            <a:r>
              <a:rPr dirty="0" sz="1200">
                <a:latin typeface="Cambria Math"/>
                <a:cs typeface="Cambria Math"/>
              </a:rPr>
              <a:t>granted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minimum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required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necessary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perform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functions.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decoupling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eliminate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lateral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movement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across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users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visibility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connectivity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other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hosts.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strategic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move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only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significantly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enhances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reducing the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 surface but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also simplifies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experience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reduces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operational </a:t>
            </a:r>
            <a:r>
              <a:rPr dirty="0" sz="1200">
                <a:latin typeface="Cambria Math"/>
                <a:cs typeface="Cambria Math"/>
              </a:rPr>
              <a:t>overhead</a:t>
            </a:r>
            <a:r>
              <a:rPr dirty="0" sz="1200" spc="229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associated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legacy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remote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infrastructure,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positioning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organization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forefront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efficient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management.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latin typeface="Cambria Math"/>
                <a:cs typeface="Cambria Math"/>
              </a:rPr>
              <a:t>List</a:t>
            </a:r>
            <a:r>
              <a:rPr dirty="0" sz="1300" spc="-30">
                <a:latin typeface="Cambria Math"/>
                <a:cs typeface="Cambria Math"/>
              </a:rPr>
              <a:t> </a:t>
            </a:r>
            <a:r>
              <a:rPr dirty="0" sz="1300">
                <a:latin typeface="Cambria Math"/>
                <a:cs typeface="Cambria Math"/>
              </a:rPr>
              <a:t>of</a:t>
            </a:r>
            <a:r>
              <a:rPr dirty="0" sz="1300" spc="-25">
                <a:latin typeface="Cambria Math"/>
                <a:cs typeface="Cambria Math"/>
              </a:rPr>
              <a:t> </a:t>
            </a:r>
            <a:r>
              <a:rPr dirty="0" sz="1300" spc="-10">
                <a:latin typeface="Cambria Math"/>
                <a:cs typeface="Cambria Math"/>
              </a:rPr>
              <a:t>Vulnerability:</a:t>
            </a:r>
            <a:endParaRPr sz="1300">
              <a:latin typeface="Cambria Math"/>
              <a:cs typeface="Cambria Math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69391" y="8244586"/>
          <a:ext cx="6728459" cy="1618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015"/>
                <a:gridCol w="3801110"/>
                <a:gridCol w="2216150"/>
              </a:tblGrid>
              <a:tr h="27114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S.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No.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Vulnerability</a:t>
                      </a:r>
                      <a:r>
                        <a:rPr dirty="0" sz="1200" spc="5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Name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CWE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No.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1.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Cross-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site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scripting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(stored)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79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2.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Broken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Access</a:t>
                      </a:r>
                      <a:r>
                        <a:rPr dirty="0" sz="12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Control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285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3.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SQL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Injection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89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4.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Broken</a:t>
                      </a:r>
                      <a:r>
                        <a:rPr dirty="0" sz="12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Authentication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285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5.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Insecure</a:t>
                      </a:r>
                      <a:r>
                        <a:rPr dirty="0" sz="1200" spc="-4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Direct</a:t>
                      </a:r>
                      <a:r>
                        <a:rPr dirty="0" sz="1200" spc="-4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Object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Reference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639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69391" y="996696"/>
          <a:ext cx="6728459" cy="3161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015"/>
                <a:gridCol w="3801110"/>
                <a:gridCol w="2216150"/>
              </a:tblGrid>
              <a:tr h="269875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6.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Security</a:t>
                      </a:r>
                      <a:r>
                        <a:rPr dirty="0" sz="1200" spc="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Misconfiguration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732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7.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Cross-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Site</a:t>
                      </a:r>
                      <a:r>
                        <a:rPr dirty="0" sz="1200" spc="-3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Request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Forgery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352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8.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Cleartext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Transmission</a:t>
                      </a:r>
                      <a:r>
                        <a:rPr dirty="0" sz="12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of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Sensitive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 Information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319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9.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ClickJacking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0">
                          <a:latin typeface="Cambria Math"/>
                          <a:cs typeface="Cambria Math"/>
                        </a:rPr>
                        <a:t>1021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10.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webserver</a:t>
                      </a:r>
                      <a:r>
                        <a:rPr dirty="0" sz="1200" spc="-3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allows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password</a:t>
                      </a:r>
                      <a:r>
                        <a:rPr dirty="0" sz="1200" spc="-4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auto-completion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310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11.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Cross-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site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scripting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(DOM-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based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XSS)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79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12.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JQuery</a:t>
                      </a:r>
                      <a:r>
                        <a:rPr dirty="0" sz="1200" spc="-4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1.2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&lt;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3.5.0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Multiple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XSS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79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13.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540385">
                        <a:lnSpc>
                          <a:spcPct val="104400"/>
                        </a:lnSpc>
                        <a:spcBef>
                          <a:spcPts val="284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Information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Exposure</a:t>
                      </a:r>
                      <a:r>
                        <a:rPr dirty="0" sz="12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(Web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Server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HTTP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Header Internal</a:t>
                      </a:r>
                      <a:r>
                        <a:rPr dirty="0" sz="1200" spc="-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IP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Disclosure)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3619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200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14.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Information</a:t>
                      </a:r>
                      <a:r>
                        <a:rPr dirty="0" sz="1200" spc="-4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Exposure</a:t>
                      </a:r>
                      <a:r>
                        <a:rPr dirty="0" sz="1200" spc="-3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(SSL</a:t>
                      </a:r>
                      <a:r>
                        <a:rPr dirty="0" sz="1200" spc="-3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(Multiple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Issues))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200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15.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Information</a:t>
                      </a:r>
                      <a:r>
                        <a:rPr dirty="0" sz="1200" spc="-5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Exposure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(HTTP</a:t>
                      </a:r>
                      <a:r>
                        <a:rPr dirty="0" sz="1200" spc="-4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(Multiple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Issues))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200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16.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OS</a:t>
                      </a:r>
                      <a:r>
                        <a:rPr dirty="0" sz="1200" spc="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Identification</a:t>
                      </a:r>
                      <a:r>
                        <a:rPr dirty="0" sz="1200" spc="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Failed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200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426212" y="4335907"/>
            <a:ext cx="6645275" cy="4692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Cambria Math"/>
                <a:cs typeface="Cambria Math"/>
              </a:rPr>
              <a:t>Report:</a:t>
            </a:r>
            <a:endParaRPr sz="1300">
              <a:latin typeface="Cambria Math"/>
              <a:cs typeface="Cambria Math"/>
            </a:endParaRPr>
          </a:p>
          <a:p>
            <a:pPr marL="172720" marR="3599815" indent="-142240">
              <a:lnSpc>
                <a:spcPts val="2520"/>
              </a:lnSpc>
              <a:spcBef>
                <a:spcPts val="204"/>
              </a:spcBef>
              <a:buAutoNum type="arabicPeriod"/>
              <a:tabLst>
                <a:tab pos="247015" algn="l"/>
              </a:tabLst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Cross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site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scripting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(stored)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79</a:t>
            </a:r>
            <a:endParaRPr sz="1100">
              <a:latin typeface="Cambria Math"/>
              <a:cs typeface="Cambria Math"/>
            </a:endParaRPr>
          </a:p>
          <a:p>
            <a:pPr marL="247015">
              <a:lnSpc>
                <a:spcPct val="100000"/>
              </a:lnSpc>
              <a:spcBef>
                <a:spcPts val="935"/>
              </a:spcBef>
            </a:pPr>
            <a:r>
              <a:rPr dirty="0" sz="1100">
                <a:latin typeface="Cambria Math"/>
                <a:cs typeface="Cambria Math"/>
              </a:rPr>
              <a:t>OWASP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category: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A03:2021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-</a:t>
            </a:r>
            <a:r>
              <a:rPr dirty="0" sz="1100" spc="-10">
                <a:latin typeface="Cambria Math"/>
                <a:cs typeface="Cambria Math"/>
              </a:rPr>
              <a:t>Injections</a:t>
            </a:r>
            <a:endParaRPr sz="1100">
              <a:latin typeface="Cambria Math"/>
              <a:cs typeface="Cambria Math"/>
            </a:endParaRPr>
          </a:p>
          <a:p>
            <a:pPr marL="247015" marR="412115">
              <a:lnSpc>
                <a:spcPct val="106400"/>
              </a:lnSpc>
              <a:spcBef>
                <a:spcPts val="815"/>
              </a:spcBef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occurs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injected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directly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vulnerable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application. Reflected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XSS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involves 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reflection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malicious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application,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onto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user's </a:t>
            </a:r>
            <a:r>
              <a:rPr dirty="0" sz="1100" spc="-10">
                <a:latin typeface="Cambria Math"/>
                <a:cs typeface="Cambria Math"/>
              </a:rPr>
              <a:t>browser.</a:t>
            </a:r>
            <a:endParaRPr sz="1100">
              <a:latin typeface="Cambria Math"/>
              <a:cs typeface="Cambria Math"/>
            </a:endParaRPr>
          </a:p>
          <a:p>
            <a:pPr marL="253365" marR="5080" indent="-12700">
              <a:lnSpc>
                <a:spcPct val="96500"/>
              </a:lnSpc>
              <a:spcBef>
                <a:spcPts val="1220"/>
              </a:spcBef>
            </a:pP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Impact: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stores </a:t>
            </a:r>
            <a:r>
              <a:rPr dirty="0" sz="1100" spc="-10">
                <a:latin typeface="Cambria Math"/>
                <a:cs typeface="Cambria Math"/>
              </a:rPr>
              <a:t>dangerous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0">
                <a:latin typeface="Cambria Math"/>
                <a:cs typeface="Cambria Math"/>
              </a:rPr>
              <a:t> database,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message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forum,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visitor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log,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10">
                <a:latin typeface="Cambria Math"/>
                <a:cs typeface="Cambria Math"/>
              </a:rPr>
              <a:t> other </a:t>
            </a:r>
            <a:r>
              <a:rPr dirty="0" sz="1100">
                <a:latin typeface="Cambria Math"/>
                <a:cs typeface="Cambria Math"/>
              </a:rPr>
              <a:t>trusted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store.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Later,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dangerous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subsequently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read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back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in </a:t>
            </a:r>
            <a:r>
              <a:rPr dirty="0" sz="1100">
                <a:latin typeface="Cambria Math"/>
                <a:cs typeface="Cambria Math"/>
              </a:rPr>
              <a:t>dynamic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attacker's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perspective,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optimal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place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inject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area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displayed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either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10">
                <a:latin typeface="Cambria Math"/>
                <a:cs typeface="Cambria Math"/>
              </a:rPr>
              <a:t> particularly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interesting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users.</a:t>
            </a:r>
            <a:r>
              <a:rPr dirty="0" sz="1100" spc="-10">
                <a:latin typeface="Cambria Math"/>
                <a:cs typeface="Cambria Math"/>
              </a:rPr>
              <a:t> Interesting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typically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have </a:t>
            </a:r>
            <a:r>
              <a:rPr dirty="0" sz="1100">
                <a:latin typeface="Cambria Math"/>
                <a:cs typeface="Cambria Math"/>
              </a:rPr>
              <a:t>elevated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privileges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interact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valuable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attacker.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of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executes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malicious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content,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able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privileged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operations 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behalf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gain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belonging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user.</a:t>
            </a:r>
            <a:endParaRPr sz="1100">
              <a:latin typeface="Cambria Math"/>
              <a:cs typeface="Cambria Math"/>
            </a:endParaRPr>
          </a:p>
          <a:p>
            <a:pPr marL="247015" marR="4125595">
              <a:lnSpc>
                <a:spcPts val="2890"/>
              </a:lnSpc>
              <a:spcBef>
                <a:spcPts val="65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http://testfire.net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/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endParaRPr sz="1100">
              <a:latin typeface="Cambria Math"/>
              <a:cs typeface="Cambria Math"/>
            </a:endParaRPr>
          </a:p>
          <a:p>
            <a:pPr marL="247015">
              <a:lnSpc>
                <a:spcPts val="1035"/>
              </a:lnSpc>
            </a:pP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http://testfire.net/search.jsp?query=%27%3E%3Cscript%3Ealert%28%27hacked%27%29%3C%2Fscr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ip</a:t>
            </a:r>
            <a:endParaRPr sz="1100">
              <a:latin typeface="Cambria Math"/>
              <a:cs typeface="Cambria Math"/>
            </a:endParaRPr>
          </a:p>
          <a:p>
            <a:pPr marL="247015">
              <a:lnSpc>
                <a:spcPct val="100000"/>
              </a:lnSpc>
              <a:spcBef>
                <a:spcPts val="70"/>
              </a:spcBef>
            </a:pPr>
            <a:r>
              <a:rPr dirty="0" u="sng" sz="1100" spc="-2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t%3</a:t>
            </a:r>
            <a:r>
              <a:rPr dirty="0" u="sng" sz="1100" spc="-2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E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>
              <a:latin typeface="Cambria Math"/>
              <a:cs typeface="Cambria Math"/>
            </a:endParaRPr>
          </a:p>
          <a:p>
            <a:pPr marL="247015">
              <a:lnSpc>
                <a:spcPct val="100000"/>
              </a:lnSpc>
            </a:pP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 lvl="1" marL="798195" indent="-227965">
              <a:lnSpc>
                <a:spcPct val="100000"/>
              </a:lnSpc>
              <a:spcBef>
                <a:spcPts val="1225"/>
              </a:spcBef>
              <a:buFont typeface="Wingdings"/>
              <a:buChar char=""/>
              <a:tabLst>
                <a:tab pos="798195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20" y="2852928"/>
            <a:ext cx="4255008" cy="109118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1055" y="4658868"/>
            <a:ext cx="4442460" cy="136397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84300" y="2654554"/>
            <a:ext cx="44367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search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box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input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some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84300" y="3954907"/>
            <a:ext cx="4394835" cy="516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inputting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 </a:t>
            </a:r>
            <a:r>
              <a:rPr dirty="0" sz="1100" spc="-10">
                <a:latin typeface="Cambria Math"/>
                <a:cs typeface="Cambria Math"/>
              </a:rPr>
              <a:t>'&gt;&lt;script&gt;alert('hacked')&lt;/script&gt;</a:t>
            </a:r>
            <a:endParaRPr sz="1100">
              <a:latin typeface="Cambria Math"/>
              <a:cs typeface="Cambria Math"/>
            </a:endParaRPr>
          </a:p>
          <a:p>
            <a:pPr marL="240665" indent="-227965">
              <a:lnSpc>
                <a:spcPct val="100000"/>
              </a:lnSpc>
              <a:spcBef>
                <a:spcPts val="1225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displays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harmless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pop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alert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box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text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saying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‘hacked’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4500" y="6211291"/>
            <a:ext cx="6668134" cy="365061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80"/>
              </a:spcBef>
            </a:pPr>
            <a:r>
              <a:rPr dirty="0" sz="1100" spc="-10">
                <a:latin typeface="Cambria Math"/>
                <a:cs typeface="Cambria Math"/>
              </a:rPr>
              <a:t>Recommendation:</a:t>
            </a:r>
            <a:endParaRPr sz="1100">
              <a:latin typeface="Cambria Math"/>
              <a:cs typeface="Cambria Math"/>
            </a:endParaRPr>
          </a:p>
          <a:p>
            <a:pPr marL="781050" marR="102870" indent="-22860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781050" algn="l"/>
              </a:tabLst>
            </a:pP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interacting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databases, use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parameterized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statements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 prepared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statements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avoid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injection,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vector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XSS.</a:t>
            </a:r>
            <a:endParaRPr sz="1100">
              <a:latin typeface="Cambria Math"/>
              <a:cs typeface="Cambria Math"/>
            </a:endParaRPr>
          </a:p>
          <a:p>
            <a:pPr marL="781050" marR="508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781050" algn="l"/>
              </a:tabLst>
            </a:pPr>
            <a:r>
              <a:rPr dirty="0" sz="1100">
                <a:latin typeface="Cambria Math"/>
                <a:cs typeface="Cambria Math"/>
              </a:rPr>
              <a:t>Sanitize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validate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inputs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that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any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displayed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page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properly </a:t>
            </a:r>
            <a:r>
              <a:rPr dirty="0" sz="1100">
                <a:latin typeface="Cambria Math"/>
                <a:cs typeface="Cambria Math"/>
              </a:rPr>
              <a:t>encoded.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10">
                <a:latin typeface="Cambria Math"/>
                <a:cs typeface="Cambria Math"/>
              </a:rPr>
              <a:t> output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encoding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libraries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functions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injection.</a:t>
            </a:r>
            <a:endParaRPr sz="1100">
              <a:latin typeface="Cambria Math"/>
              <a:cs typeface="Cambria Math"/>
            </a:endParaRPr>
          </a:p>
          <a:p>
            <a:pPr marL="228600" marR="3922395" indent="-216535">
              <a:lnSpc>
                <a:spcPct val="192000"/>
              </a:lnSpc>
              <a:spcBef>
                <a:spcPts val="355"/>
              </a:spcBef>
            </a:pPr>
            <a:r>
              <a:rPr dirty="0" sz="1100">
                <a:latin typeface="Cambria Math"/>
                <a:cs typeface="Cambria Math"/>
              </a:rPr>
              <a:t>2.</a:t>
            </a:r>
            <a:r>
              <a:rPr dirty="0" sz="1100" spc="170">
                <a:latin typeface="Cambria Math"/>
                <a:cs typeface="Cambria Math"/>
              </a:rPr>
              <a:t>  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Broken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control </a:t>
            </a: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285</a:t>
            </a:r>
            <a:endParaRPr sz="1100">
              <a:latin typeface="Cambria Math"/>
              <a:cs typeface="Cambria Math"/>
            </a:endParaRPr>
          </a:p>
          <a:p>
            <a:pPr algn="just" marL="234950" marR="43180" indent="-6350">
              <a:lnSpc>
                <a:spcPct val="100899"/>
              </a:lnSpc>
              <a:spcBef>
                <a:spcPts val="1200"/>
              </a:spcBef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control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checks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applied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consistently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-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-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able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access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1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they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should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allowed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perform.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lead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wide</a:t>
            </a:r>
            <a:r>
              <a:rPr dirty="0" sz="1100" spc="1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range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of </a:t>
            </a:r>
            <a:r>
              <a:rPr dirty="0" sz="1100">
                <a:latin typeface="Cambria Math"/>
                <a:cs typeface="Cambria Math"/>
              </a:rPr>
              <a:t>problems,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exposures,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denial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service,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arbitrary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execution.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234950" marR="100330" indent="-6350">
              <a:lnSpc>
                <a:spcPct val="100499"/>
              </a:lnSpc>
              <a:spcBef>
                <a:spcPts val="5"/>
              </a:spcBef>
            </a:pP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2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Impact:</a:t>
            </a:r>
            <a:r>
              <a:rPr dirty="0" sz="1100" spc="2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wide-ranging</a:t>
            </a:r>
            <a:r>
              <a:rPr dirty="0" sz="1100" spc="2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2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impact,</a:t>
            </a:r>
            <a:r>
              <a:rPr dirty="0" sz="1100" spc="2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including</a:t>
            </a:r>
            <a:r>
              <a:rPr dirty="0" sz="1100" spc="2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financial</a:t>
            </a:r>
            <a:r>
              <a:rPr dirty="0" sz="1100" spc="2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losses,</a:t>
            </a:r>
            <a:r>
              <a:rPr dirty="0" sz="1100" spc="2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reputation</a:t>
            </a:r>
            <a:r>
              <a:rPr dirty="0" sz="1100" spc="2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damage,</a:t>
            </a:r>
            <a:r>
              <a:rPr dirty="0" sz="1100" spc="29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legal consequences,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operational </a:t>
            </a:r>
            <a:r>
              <a:rPr dirty="0" sz="1100" spc="-10">
                <a:latin typeface="Cambria Math"/>
                <a:cs typeface="Cambria Math"/>
              </a:rPr>
              <a:t>disruption,</a:t>
            </a:r>
            <a:r>
              <a:rPr dirty="0" sz="1100">
                <a:latin typeface="Cambria Math"/>
                <a:cs typeface="Cambria Math"/>
              </a:rPr>
              <a:t> and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loss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customer </a:t>
            </a:r>
            <a:r>
              <a:rPr dirty="0" sz="1100" spc="-10">
                <a:latin typeface="Cambria Math"/>
                <a:cs typeface="Cambria Math"/>
              </a:rPr>
              <a:t>trust.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Addressing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0">
                <a:latin typeface="Cambria Math"/>
                <a:cs typeface="Cambria Math"/>
              </a:rPr>
              <a:t> vulnerability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crucial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to </a:t>
            </a:r>
            <a:r>
              <a:rPr dirty="0" sz="1100">
                <a:latin typeface="Cambria Math"/>
                <a:cs typeface="Cambria Math"/>
              </a:rPr>
              <a:t>protect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stakeholders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potential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negative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effects.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http://testfire.net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/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60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5"/>
              </a:rPr>
              <a:t>http://testfire.net/login.js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5"/>
              </a:rPr>
              <a:t>p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06523" y="990600"/>
            <a:ext cx="3717036" cy="1653539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903" y="1726692"/>
            <a:ext cx="4913376" cy="218389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5860" y="4472940"/>
            <a:ext cx="5516879" cy="247345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180" y="7498080"/>
            <a:ext cx="5637276" cy="22479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60908" y="1162558"/>
            <a:ext cx="139065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Cambria Math"/>
              <a:cs typeface="Cambria Math"/>
            </a:endParaRPr>
          </a:p>
          <a:p>
            <a:pPr marL="481330" indent="-227965">
              <a:lnSpc>
                <a:spcPct val="100000"/>
              </a:lnSpc>
              <a:buFont typeface="Wingdings"/>
              <a:buChar char=""/>
              <a:tabLst>
                <a:tab pos="481330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2004" y="4090542"/>
            <a:ext cx="39757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Now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sign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admin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privileges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02004" y="6949821"/>
            <a:ext cx="6156960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Also,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burp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suite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get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requests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know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additional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information.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‘admin’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username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password.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" y="3287268"/>
            <a:ext cx="5730240" cy="204825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6047" y="5711952"/>
            <a:ext cx="5704332" cy="210312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02004" y="966571"/>
            <a:ext cx="6043930" cy="379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marR="5080" indent="-228600">
              <a:lnSpc>
                <a:spcPct val="105500"/>
              </a:lnSpc>
              <a:spcBef>
                <a:spcPts val="95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request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been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received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burp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suite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username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password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well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clear text.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2739898"/>
            <a:ext cx="6147435" cy="36004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41300" marR="5080" indent="-228600">
              <a:lnSpc>
                <a:spcPts val="1310"/>
              </a:lnSpc>
              <a:spcBef>
                <a:spcPts val="155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now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click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forward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request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burp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suite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redirected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admin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user </a:t>
            </a:r>
            <a:r>
              <a:rPr dirty="0" sz="1100" spc="-10">
                <a:latin typeface="Cambria Math"/>
                <a:cs typeface="Cambria Math"/>
              </a:rPr>
              <a:t>details.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2004" y="5515736"/>
            <a:ext cx="466280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even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edit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other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delete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login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details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well.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8035899"/>
            <a:ext cx="6525259" cy="176783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80"/>
              </a:spcBef>
            </a:pPr>
            <a:r>
              <a:rPr dirty="0" sz="1100" spc="-10">
                <a:latin typeface="Cambria Math"/>
                <a:cs typeface="Cambria Math"/>
              </a:rPr>
              <a:t>Recommendations:</a:t>
            </a:r>
            <a:endParaRPr sz="1100">
              <a:latin typeface="Cambria Math"/>
              <a:cs typeface="Cambria Math"/>
            </a:endParaRPr>
          </a:p>
          <a:p>
            <a:pPr algn="just" marL="694690" marR="5080" indent="-224790">
              <a:lnSpc>
                <a:spcPct val="100299"/>
              </a:lnSpc>
              <a:spcBef>
                <a:spcPts val="8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has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robust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authentication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authorization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mechanism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place.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should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authenticated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before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any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performed,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authorization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checks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should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conducted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verify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have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necessary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permissions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requested 	operation.</a:t>
            </a:r>
            <a:endParaRPr sz="1100">
              <a:latin typeface="Cambria Math"/>
              <a:cs typeface="Cambria Math"/>
            </a:endParaRPr>
          </a:p>
          <a:p>
            <a:pPr algn="just" marL="694690" marR="12065" indent="-22479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Ensure that session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management is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secure. Use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strong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session IDs,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enforce session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timeouts,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regenerate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session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tokens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after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login.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Implement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session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fixation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protection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session 	hijacking.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mbria Math"/>
                <a:cs typeface="Cambria Math"/>
              </a:rPr>
              <a:t>3.</a:t>
            </a:r>
            <a:r>
              <a:rPr dirty="0" sz="1100" spc="260">
                <a:latin typeface="Cambria Math"/>
                <a:cs typeface="Cambria Math"/>
              </a:rPr>
              <a:t>  </a:t>
            </a: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injection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091" y="1350264"/>
            <a:ext cx="5769864" cy="1298448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7111" y="3924300"/>
            <a:ext cx="5442203" cy="242011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3791" y="6806184"/>
            <a:ext cx="5053584" cy="226618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60908" y="963523"/>
            <a:ext cx="6329680" cy="295846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89</a:t>
            </a:r>
            <a:endParaRPr sz="1100">
              <a:latin typeface="Cambria Math"/>
              <a:cs typeface="Cambria Math"/>
            </a:endParaRPr>
          </a:p>
          <a:p>
            <a:pPr algn="just" marL="18415" marR="5080" indent="-6350">
              <a:lnSpc>
                <a:spcPct val="100499"/>
              </a:lnSpc>
              <a:spcBef>
                <a:spcPts val="90"/>
              </a:spcBef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product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constructs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part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command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externally-influenced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input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from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upstream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component,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but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does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neutralize or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incorrectly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neutralizes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special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elements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could </a:t>
            </a:r>
            <a:r>
              <a:rPr dirty="0" sz="1100">
                <a:latin typeface="Cambria Math"/>
                <a:cs typeface="Cambria Math"/>
              </a:rPr>
              <a:t>modify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intended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command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downstream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component.</a:t>
            </a:r>
            <a:endParaRPr sz="1100">
              <a:latin typeface="Cambria Math"/>
              <a:cs typeface="Cambria Math"/>
            </a:endParaRPr>
          </a:p>
          <a:p>
            <a:pPr algn="just" marL="18415" marR="46990" indent="-6350">
              <a:lnSpc>
                <a:spcPct val="100499"/>
              </a:lnSpc>
              <a:spcBef>
                <a:spcPts val="75"/>
              </a:spcBef>
            </a:pPr>
            <a:r>
              <a:rPr dirty="0" sz="1100">
                <a:latin typeface="Cambria Math"/>
                <a:cs typeface="Cambria Math"/>
              </a:rPr>
              <a:t>Business </a:t>
            </a:r>
            <a:r>
              <a:rPr dirty="0" sz="1100" spc="-10">
                <a:latin typeface="Cambria Math"/>
                <a:cs typeface="Cambria Math"/>
              </a:rPr>
              <a:t>Impact: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summary,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crucial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underscore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CWE-</a:t>
            </a:r>
            <a:r>
              <a:rPr dirty="0" sz="1100">
                <a:latin typeface="Cambria Math"/>
                <a:cs typeface="Cambria Math"/>
              </a:rPr>
              <a:t>89,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known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Injection,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exert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50">
                <a:latin typeface="Cambria Math"/>
                <a:cs typeface="Cambria Math"/>
              </a:rPr>
              <a:t>a</a:t>
            </a:r>
            <a:r>
              <a:rPr dirty="0" sz="1100">
                <a:latin typeface="Cambria Math"/>
                <a:cs typeface="Cambria Math"/>
              </a:rPr>
              <a:t> profound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diverse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impact.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encompasses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critical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facets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breaches,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financial </a:t>
            </a:r>
            <a:r>
              <a:rPr dirty="0" sz="1100">
                <a:latin typeface="Cambria Math"/>
                <a:cs typeface="Cambria Math"/>
              </a:rPr>
              <a:t>setbacks,</a:t>
            </a:r>
            <a:r>
              <a:rPr dirty="0" sz="1100" spc="2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harm</a:t>
            </a:r>
            <a:r>
              <a:rPr dirty="0" sz="1100" spc="2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reputation,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legal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ramifications,</a:t>
            </a:r>
            <a:r>
              <a:rPr dirty="0" sz="1100" spc="2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operational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turmoil.</a:t>
            </a:r>
            <a:r>
              <a:rPr dirty="0" sz="1100" spc="2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Hence,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imperative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of </a:t>
            </a:r>
            <a:r>
              <a:rPr dirty="0" sz="1100">
                <a:latin typeface="Cambria Math"/>
                <a:cs typeface="Cambria Math"/>
              </a:rPr>
              <a:t>preventing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remedying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injection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vulnerabilities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cannot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overstated,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indispensable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for </a:t>
            </a:r>
            <a:r>
              <a:rPr dirty="0" sz="1100">
                <a:latin typeface="Cambria Math"/>
                <a:cs typeface="Cambria Math"/>
              </a:rPr>
              <a:t>fortifying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continuity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organization's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data.</a:t>
            </a:r>
            <a:endParaRPr sz="1100">
              <a:latin typeface="Cambria Math"/>
              <a:cs typeface="Cambria Math"/>
            </a:endParaRPr>
          </a:p>
          <a:p>
            <a:pPr algn="just" marL="12700">
              <a:lnSpc>
                <a:spcPct val="100000"/>
              </a:lnSpc>
              <a:spcBef>
                <a:spcPts val="1215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http://testfire.net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/</a:t>
            </a:r>
            <a:endParaRPr sz="1100">
              <a:latin typeface="Cambria Math"/>
              <a:cs typeface="Cambria Math"/>
            </a:endParaRPr>
          </a:p>
          <a:p>
            <a:pPr marL="12700" marR="3198495">
              <a:lnSpc>
                <a:spcPts val="2900"/>
              </a:lnSpc>
              <a:spcBef>
                <a:spcPts val="50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5"/>
              </a:rPr>
              <a:t>http://testfire.net/login.js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5"/>
              </a:rPr>
              <a:t>p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 marL="478155" indent="-224790">
              <a:lnSpc>
                <a:spcPct val="100000"/>
              </a:lnSpc>
              <a:spcBef>
                <a:spcPts val="1195"/>
              </a:spcBef>
              <a:buFont typeface="Wingdings"/>
              <a:buChar char=""/>
              <a:tabLst>
                <a:tab pos="478155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6424041"/>
            <a:ext cx="53670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37490" algn="l"/>
              </a:tabLst>
            </a:pPr>
            <a:r>
              <a:rPr dirty="0" sz="1100">
                <a:latin typeface="Cambria Math"/>
                <a:cs typeface="Cambria Math"/>
              </a:rPr>
              <a:t>Now</a:t>
            </a:r>
            <a:r>
              <a:rPr dirty="0" sz="1100" spc="-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sign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admin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privileges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-6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injection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2004" y="9262110"/>
            <a:ext cx="61055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37490" algn="l"/>
              </a:tabLst>
            </a:pPr>
            <a:r>
              <a:rPr dirty="0" sz="1100" spc="-10">
                <a:latin typeface="Cambria Math"/>
                <a:cs typeface="Cambria Math"/>
              </a:rPr>
              <a:t>Also,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burp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suite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get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requests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website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know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additional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information.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" y="3543300"/>
            <a:ext cx="5695188" cy="215798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3" y="6265164"/>
            <a:ext cx="5728716" cy="189280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02004" y="5883021"/>
            <a:ext cx="412559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37490" algn="l"/>
              </a:tabLst>
            </a:pPr>
            <a:r>
              <a:rPr dirty="0" sz="1100">
                <a:latin typeface="Cambria Math"/>
                <a:cs typeface="Cambria Math"/>
              </a:rPr>
              <a:t>Click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forward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request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multiple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times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proceed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login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page.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0908" y="8301990"/>
            <a:ext cx="6479540" cy="141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8155" indent="-224790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478155" algn="l"/>
              </a:tabLst>
            </a:pP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know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injection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worked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got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admin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privileges.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Cambria Math"/>
                <a:cs typeface="Cambria Math"/>
              </a:rPr>
              <a:t>Recommendations:</a:t>
            </a:r>
            <a:endParaRPr sz="1100">
              <a:latin typeface="Cambria Math"/>
              <a:cs typeface="Cambria Math"/>
            </a:endParaRPr>
          </a:p>
          <a:p>
            <a:pPr algn="just" marL="478155" marR="10795" indent="-224790">
              <a:lnSpc>
                <a:spcPct val="100499"/>
              </a:lnSpc>
              <a:spcBef>
                <a:spcPts val="75"/>
              </a:spcBef>
              <a:buFont typeface="Arial MT"/>
              <a:buChar char="•"/>
              <a:tabLst>
                <a:tab pos="481965" algn="l"/>
              </a:tabLst>
            </a:pP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parameterized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statements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feasible,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proper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input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validation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escaping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mechanisms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sanitize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inputs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before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they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used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queries.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helps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code </a:t>
            </a:r>
            <a:r>
              <a:rPr dirty="0" sz="1100" spc="-20">
                <a:latin typeface="Cambria Math"/>
                <a:cs typeface="Cambria Math"/>
              </a:rPr>
              <a:t>	</a:t>
            </a:r>
            <a:r>
              <a:rPr dirty="0" sz="1100" spc="-10">
                <a:latin typeface="Cambria Math"/>
                <a:cs typeface="Cambria Math"/>
              </a:rPr>
              <a:t>injection.</a:t>
            </a:r>
            <a:endParaRPr sz="1100">
              <a:latin typeface="Cambria Math"/>
              <a:cs typeface="Cambria Math"/>
            </a:endParaRPr>
          </a:p>
          <a:p>
            <a:pPr algn="just" marL="478155" marR="5080" indent="-224790">
              <a:lnSpc>
                <a:spcPts val="1310"/>
              </a:lnSpc>
              <a:spcBef>
                <a:spcPts val="135"/>
              </a:spcBef>
              <a:buFont typeface="Arial MT"/>
              <a:buChar char="•"/>
              <a:tabLst>
                <a:tab pos="481965" algn="l"/>
              </a:tabLst>
            </a:pPr>
            <a:r>
              <a:rPr dirty="0" sz="1100">
                <a:latin typeface="Cambria Math"/>
                <a:cs typeface="Cambria Math"/>
              </a:rPr>
              <a:t>Utilize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stored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procedures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 database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operations.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help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separate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reduce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risk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injection.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091" y="990600"/>
            <a:ext cx="5719572" cy="2351531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144" y="5100828"/>
            <a:ext cx="4776215" cy="212597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44500" y="976630"/>
            <a:ext cx="6664325" cy="393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8500" marR="508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Implement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strict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input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validation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inputs,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ensuring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adheres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expected </a:t>
            </a:r>
            <a:r>
              <a:rPr dirty="0" sz="1100">
                <a:latin typeface="Cambria Math"/>
                <a:cs typeface="Cambria Math"/>
              </a:rPr>
              <a:t>format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structure.</a:t>
            </a:r>
            <a:endParaRPr sz="1100">
              <a:latin typeface="Cambria Math"/>
              <a:cs typeface="Cambria Math"/>
            </a:endParaRPr>
          </a:p>
          <a:p>
            <a:pPr marL="154940" indent="-142240">
              <a:lnSpc>
                <a:spcPct val="100000"/>
              </a:lnSpc>
              <a:spcBef>
                <a:spcPts val="75"/>
              </a:spcBef>
              <a:buAutoNum type="arabicPeriod" startAt="4"/>
              <a:tabLst>
                <a:tab pos="154940" algn="l"/>
              </a:tabLst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Broken</a:t>
            </a:r>
            <a:r>
              <a:rPr dirty="0" sz="110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authentication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00"/>
              </a:spcBef>
            </a:pP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285</a:t>
            </a:r>
            <a:endParaRPr sz="1100">
              <a:latin typeface="Cambria Math"/>
              <a:cs typeface="Cambria Math"/>
            </a:endParaRPr>
          </a:p>
          <a:p>
            <a:pPr marL="234950" marR="5080" indent="-6350">
              <a:lnSpc>
                <a:spcPct val="100000"/>
              </a:lnSpc>
              <a:spcBef>
                <a:spcPts val="85"/>
              </a:spcBef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system's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authorization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functionality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does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one</a:t>
            </a:r>
            <a:r>
              <a:rPr dirty="0" sz="1100" spc="1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gaining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to </a:t>
            </a:r>
            <a:r>
              <a:rPr dirty="0" sz="1100">
                <a:latin typeface="Cambria Math"/>
                <a:cs typeface="Cambria Math"/>
              </a:rPr>
              <a:t>another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user's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record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modifying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key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value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identifying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data.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100">
              <a:latin typeface="Cambria Math"/>
              <a:cs typeface="Cambria Math"/>
            </a:endParaRPr>
          </a:p>
          <a:p>
            <a:pPr marL="234950" marR="54610" indent="-12700">
              <a:lnSpc>
                <a:spcPct val="96600"/>
              </a:lnSpc>
              <a:spcBef>
                <a:spcPts val="5"/>
              </a:spcBef>
            </a:pP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Impact: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effectively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mitigate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CWE-</a:t>
            </a:r>
            <a:r>
              <a:rPr dirty="0" sz="1100">
                <a:latin typeface="Cambria Math"/>
                <a:cs typeface="Cambria Math"/>
              </a:rPr>
              <a:t>285,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imperative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organizations </a:t>
            </a:r>
            <a:r>
              <a:rPr dirty="0" sz="1100">
                <a:latin typeface="Cambria Math"/>
                <a:cs typeface="Cambria Math"/>
              </a:rPr>
              <a:t>place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strong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emphasis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bolstering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authentication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session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management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practices.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should </a:t>
            </a:r>
            <a:r>
              <a:rPr dirty="0" sz="1100">
                <a:latin typeface="Cambria Math"/>
                <a:cs typeface="Cambria Math"/>
              </a:rPr>
              <a:t>encompass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adoption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0">
                <a:latin typeface="Cambria Math"/>
                <a:cs typeface="Cambria Math"/>
              </a:rPr>
              <a:t> multi-</a:t>
            </a:r>
            <a:r>
              <a:rPr dirty="0" sz="1100">
                <a:latin typeface="Cambria Math"/>
                <a:cs typeface="Cambria Math"/>
              </a:rPr>
              <a:t>factor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authentication,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storage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credentials,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meticulous</a:t>
            </a:r>
            <a:r>
              <a:rPr dirty="0" sz="1100" spc="5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session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handling,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commitment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conducting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routine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assessments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testing.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>
                <a:latin typeface="Cambria Math"/>
                <a:cs typeface="Cambria Math"/>
              </a:rPr>
              <a:t>rectification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stands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 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critical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imperative,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safeguarding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user </a:t>
            </a:r>
            <a:r>
              <a:rPr dirty="0" sz="1100">
                <a:latin typeface="Cambria Math"/>
                <a:cs typeface="Cambria Math"/>
              </a:rPr>
              <a:t>identities,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organization's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overarching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stature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reputation.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http://testfire.net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/</a:t>
            </a:r>
            <a:endParaRPr sz="1100">
              <a:latin typeface="Cambria Math"/>
              <a:cs typeface="Cambria Math"/>
            </a:endParaRPr>
          </a:p>
          <a:p>
            <a:pPr marL="228600" marR="3316604">
              <a:lnSpc>
                <a:spcPct val="236400"/>
              </a:lnSpc>
              <a:spcBef>
                <a:spcPts val="25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http://testfire.net/login.js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p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100">
              <a:latin typeface="Cambria Math"/>
              <a:cs typeface="Cambria Math"/>
            </a:endParaRPr>
          </a:p>
          <a:p>
            <a:pPr lvl="1" marL="697865" indent="-227965">
              <a:lnSpc>
                <a:spcPct val="100000"/>
              </a:lnSpc>
              <a:spcBef>
                <a:spcPts val="5"/>
              </a:spcBef>
              <a:buFont typeface="Wingdings"/>
              <a:buChar char=""/>
              <a:tabLst>
                <a:tab pos="697865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7405878"/>
            <a:ext cx="352806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Now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login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some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different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approach.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936" y="3934968"/>
            <a:ext cx="5181600" cy="289407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02004" y="3281299"/>
            <a:ext cx="6238875" cy="530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41300" marR="5080" indent="-228600">
              <a:lnSpc>
                <a:spcPct val="100499"/>
              </a:lnSpc>
              <a:spcBef>
                <a:spcPts val="95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know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present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database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website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admin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privileges.</a:t>
            </a:r>
            <a:r>
              <a:rPr dirty="0" sz="1100" spc="-25">
                <a:latin typeface="Cambria Math"/>
                <a:cs typeface="Cambria Math"/>
              </a:rPr>
              <a:t> We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directly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particular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simply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knowing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username;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some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characters </a:t>
            </a:r>
            <a:r>
              <a:rPr dirty="0" sz="1100">
                <a:latin typeface="Cambria Math"/>
                <a:cs typeface="Cambria Math"/>
              </a:rPr>
              <a:t>after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sql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injection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simply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bypass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password.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6923913"/>
            <a:ext cx="6697345" cy="3102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97865" indent="-22796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697865" algn="l"/>
              </a:tabLst>
            </a:pP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leads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details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person’s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account.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Cambria Math"/>
                <a:cs typeface="Cambria Math"/>
              </a:rPr>
              <a:t>Recommendations:</a:t>
            </a:r>
            <a:endParaRPr sz="1100">
              <a:latin typeface="Cambria Math"/>
              <a:cs typeface="Cambria Math"/>
            </a:endParaRPr>
          </a:p>
          <a:p>
            <a:pPr algn="just" marL="694690" marR="5080" indent="-22479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Implement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strong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authentication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mechanisms,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multi-</a:t>
            </a:r>
            <a:r>
              <a:rPr dirty="0" sz="1100">
                <a:latin typeface="Cambria Math"/>
                <a:cs typeface="Cambria Math"/>
              </a:rPr>
              <a:t>factor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authentication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(MFA)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two- </a:t>
            </a:r>
            <a:r>
              <a:rPr dirty="0" sz="1100" spc="-2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factor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authentication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(2FA),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system.</a:t>
            </a:r>
            <a:endParaRPr sz="1100">
              <a:latin typeface="Cambria Math"/>
              <a:cs typeface="Cambria Math"/>
            </a:endParaRPr>
          </a:p>
          <a:p>
            <a:pPr algn="just" marL="694690" marR="5080" indent="-224790">
              <a:lnSpc>
                <a:spcPct val="100499"/>
              </a:lnSpc>
              <a:spcBef>
                <a:spcPts val="7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Implement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proper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authorization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controls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have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necessary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permissions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to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specific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functions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data.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role-based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control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(RBAC)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manage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privileges 	effectively.</a:t>
            </a:r>
            <a:endParaRPr sz="1100">
              <a:latin typeface="Cambria Math"/>
              <a:cs typeface="Cambria Math"/>
            </a:endParaRPr>
          </a:p>
          <a:p>
            <a:pPr algn="just" marL="694690" marR="13335" indent="-224790">
              <a:lnSpc>
                <a:spcPct val="100899"/>
              </a:lnSpc>
              <a:spcBef>
                <a:spcPts val="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Deploy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intrusion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detection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prevention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</a:t>
            </a:r>
            <a:r>
              <a:rPr dirty="0" sz="1100" spc="229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(IDS/IPS)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29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monitor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block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suspicious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activities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related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authentication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 </a:t>
            </a:r>
            <a:r>
              <a:rPr dirty="0" sz="1100" spc="-10">
                <a:latin typeface="Cambria Math"/>
                <a:cs typeface="Cambria Math"/>
              </a:rPr>
              <a:t>authorization.</a:t>
            </a:r>
            <a:endParaRPr sz="1100">
              <a:latin typeface="Cambria Math"/>
              <a:cs typeface="Cambria Math"/>
            </a:endParaRPr>
          </a:p>
          <a:p>
            <a:pPr algn="just" marL="228600" marR="3356610" indent="-216535">
              <a:lnSpc>
                <a:spcPct val="190900"/>
              </a:lnSpc>
              <a:spcBef>
                <a:spcPts val="75"/>
              </a:spcBef>
            </a:pPr>
            <a:r>
              <a:rPr dirty="0" sz="1100">
                <a:latin typeface="Cambria Math"/>
                <a:cs typeface="Cambria Math"/>
              </a:rPr>
              <a:t>5.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Insecure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Direct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object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Reference </a:t>
            </a: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639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00"/>
              </a:spcBef>
            </a:pPr>
            <a:r>
              <a:rPr dirty="0" sz="1100">
                <a:latin typeface="Cambria Math"/>
                <a:cs typeface="Cambria Math"/>
              </a:rPr>
              <a:t>OWASP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Category: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A01: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Broken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Control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Description: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0763" y="990600"/>
            <a:ext cx="4799076" cy="2292096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867" y="4277868"/>
            <a:ext cx="5733287" cy="286664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60908" y="976630"/>
            <a:ext cx="6482715" cy="329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415" marR="8255" indent="-6350">
              <a:lnSpc>
                <a:spcPct val="100499"/>
              </a:lnSpc>
              <a:spcBef>
                <a:spcPts val="95"/>
              </a:spcBef>
            </a:pPr>
            <a:r>
              <a:rPr dirty="0" sz="1100">
                <a:latin typeface="Cambria Math"/>
                <a:cs typeface="Cambria Math"/>
              </a:rPr>
              <a:t>Insecure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Direct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Object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Reference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(IDOR)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arises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attackers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modify </a:t>
            </a:r>
            <a:r>
              <a:rPr dirty="0" sz="1100">
                <a:latin typeface="Cambria Math"/>
                <a:cs typeface="Cambria Math"/>
              </a:rPr>
              <a:t>objects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manipulating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identifiers used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application's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URLs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parameters.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occurs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due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missing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control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checks,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fail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verify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whether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should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allowed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specific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data.</a:t>
            </a:r>
            <a:endParaRPr sz="1100">
              <a:latin typeface="Cambria Math"/>
              <a:cs typeface="Cambria Math"/>
            </a:endParaRPr>
          </a:p>
          <a:p>
            <a:pPr algn="just" marL="12700">
              <a:lnSpc>
                <a:spcPct val="100000"/>
              </a:lnSpc>
              <a:spcBef>
                <a:spcPts val="1235"/>
              </a:spcBef>
            </a:pPr>
            <a:r>
              <a:rPr dirty="0" sz="1100" spc="-10">
                <a:latin typeface="Cambria Math"/>
                <a:cs typeface="Cambria Math"/>
              </a:rPr>
              <a:t>Business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Impact:</a:t>
            </a:r>
            <a:endParaRPr sz="1100">
              <a:latin typeface="Cambria Math"/>
              <a:cs typeface="Cambria Math"/>
            </a:endParaRPr>
          </a:p>
          <a:p>
            <a:pPr algn="just" marL="18415" marR="5080" indent="-6350">
              <a:lnSpc>
                <a:spcPct val="100400"/>
              </a:lnSpc>
              <a:spcBef>
                <a:spcPts val="80"/>
              </a:spcBef>
            </a:pP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effectively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mitigate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CWE-</a:t>
            </a:r>
            <a:r>
              <a:rPr dirty="0" sz="1100">
                <a:latin typeface="Cambria Math"/>
                <a:cs typeface="Cambria Math"/>
              </a:rPr>
              <a:t>639,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organizations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must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make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top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priority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fortify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control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authorization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mechanisms.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2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entails</a:t>
            </a:r>
            <a:r>
              <a:rPr dirty="0" sz="1100" spc="2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implementation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2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robust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 </a:t>
            </a:r>
            <a:r>
              <a:rPr dirty="0" sz="1100">
                <a:latin typeface="Cambria Math"/>
                <a:cs typeface="Cambria Math"/>
              </a:rPr>
              <a:t>measures,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regular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conduct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comprehensive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assessments,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deployment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intrusion </a:t>
            </a:r>
            <a:r>
              <a:rPr dirty="0" sz="1100">
                <a:latin typeface="Cambria Math"/>
                <a:cs typeface="Cambria Math"/>
              </a:rPr>
              <a:t>detection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promptly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counter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unauthorized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attempts.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measures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as </a:t>
            </a:r>
            <a:r>
              <a:rPr dirty="0" sz="1100">
                <a:latin typeface="Cambria Math"/>
                <a:cs typeface="Cambria Math"/>
              </a:rPr>
              <a:t>absolutely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critical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defense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overall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systems,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preservation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the </a:t>
            </a:r>
            <a:r>
              <a:rPr dirty="0" sz="1100">
                <a:latin typeface="Cambria Math"/>
                <a:cs typeface="Cambria Math"/>
              </a:rPr>
              <a:t>organization's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esteemed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reputation.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http://testfire.ne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t</a:t>
            </a:r>
            <a:endParaRPr sz="1100">
              <a:latin typeface="Cambria Math"/>
              <a:cs typeface="Cambria Math"/>
            </a:endParaRPr>
          </a:p>
          <a:p>
            <a:pPr marL="12700" marR="2814955">
              <a:lnSpc>
                <a:spcPts val="2900"/>
              </a:lnSpc>
              <a:spcBef>
                <a:spcPts val="5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http://testfire.net/bank/transfer.js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p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 marL="563880" indent="-227965">
              <a:lnSpc>
                <a:spcPct val="100000"/>
              </a:lnSpc>
              <a:spcBef>
                <a:spcPts val="1205"/>
              </a:spcBef>
              <a:buFont typeface="Wingdings"/>
              <a:buChar char=""/>
              <a:tabLst>
                <a:tab pos="563880" algn="l"/>
              </a:tabLst>
            </a:pPr>
            <a:r>
              <a:rPr dirty="0" sz="1100">
                <a:latin typeface="Cambria Math"/>
                <a:cs typeface="Cambria Math"/>
              </a:rPr>
              <a:t>Go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domain.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Wingdings"/>
                <a:cs typeface="Wingdings"/>
              </a:rPr>
              <a:t>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Cambria Math"/>
                <a:cs typeface="Cambria Math"/>
              </a:rPr>
              <a:t>Sign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site.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84300" y="7237857"/>
            <a:ext cx="585152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 spc="-10">
                <a:latin typeface="Cambria Math"/>
                <a:cs typeface="Cambria Math"/>
              </a:rPr>
              <a:t>Open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“Transfer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Money”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left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side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fill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details.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intercept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click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transfer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80" y="4337304"/>
            <a:ext cx="5762244" cy="191414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202436" y="6626352"/>
            <a:ext cx="5788660" cy="2057400"/>
            <a:chOff x="1202436" y="6626352"/>
            <a:chExt cx="5788660" cy="20574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2436" y="6626352"/>
              <a:ext cx="5655564" cy="3825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916" y="7022592"/>
              <a:ext cx="5757672" cy="166116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984300" y="3954907"/>
            <a:ext cx="22275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Open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burp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notice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change.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58900" y="6244209"/>
            <a:ext cx="445897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66065" algn="l"/>
              </a:tabLst>
            </a:pP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15</a:t>
            </a:r>
            <a:r>
              <a:rPr dirty="0" baseline="19841" sz="1050">
                <a:latin typeface="Cambria Math"/>
                <a:cs typeface="Cambria Math"/>
              </a:rPr>
              <a:t>th</a:t>
            </a:r>
            <a:r>
              <a:rPr dirty="0" baseline="19841" sz="105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line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change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amount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100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1000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click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forward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84300" y="8777478"/>
            <a:ext cx="44354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Look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site,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notice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msg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that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shows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transfer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1000.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1391" y="990600"/>
            <a:ext cx="5734812" cy="2866644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475" y="4386072"/>
            <a:ext cx="5698235" cy="279806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84300" y="4003675"/>
            <a:ext cx="34963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Off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Intercept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open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“View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Recent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Transactions”.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7174458"/>
            <a:ext cx="6665595" cy="272986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95"/>
              </a:spcBef>
            </a:pPr>
            <a:r>
              <a:rPr dirty="0" sz="1100" spc="-10">
                <a:latin typeface="Cambria Math"/>
                <a:cs typeface="Cambria Math"/>
              </a:rPr>
              <a:t>Recommendation:</a:t>
            </a:r>
            <a:endParaRPr sz="1100">
              <a:latin typeface="Cambria Math"/>
              <a:cs typeface="Cambria Math"/>
            </a:endParaRPr>
          </a:p>
          <a:p>
            <a:pPr marL="1148080" marR="1016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48080" algn="l"/>
              </a:tabLst>
            </a:pPr>
            <a:r>
              <a:rPr dirty="0" sz="1100">
                <a:latin typeface="Cambria Math"/>
                <a:cs typeface="Cambria Math"/>
              </a:rPr>
              <a:t>Utilize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parameterized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queries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prepared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statements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interacting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databases.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This </a:t>
            </a:r>
            <a:r>
              <a:rPr dirty="0" sz="1100">
                <a:latin typeface="Cambria Math"/>
                <a:cs typeface="Cambria Math"/>
              </a:rPr>
              <a:t>prevents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user-</a:t>
            </a:r>
            <a:r>
              <a:rPr dirty="0" sz="1100">
                <a:latin typeface="Cambria Math"/>
                <a:cs typeface="Cambria Math"/>
              </a:rPr>
              <a:t>controlled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input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executed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 SQL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code.</a:t>
            </a:r>
            <a:endParaRPr sz="1100">
              <a:latin typeface="Cambria Math"/>
              <a:cs typeface="Cambria Math"/>
            </a:endParaRPr>
          </a:p>
          <a:p>
            <a:pPr marL="1148080" marR="13970" indent="-228600">
              <a:lnSpc>
                <a:spcPts val="1310"/>
              </a:lnSpc>
              <a:spcBef>
                <a:spcPts val="150"/>
              </a:spcBef>
              <a:buFont typeface="Arial MT"/>
              <a:buChar char="•"/>
              <a:tabLst>
                <a:tab pos="1148080" algn="l"/>
              </a:tabLst>
            </a:pPr>
            <a:r>
              <a:rPr dirty="0" sz="1100">
                <a:latin typeface="Cambria Math"/>
                <a:cs typeface="Cambria Math"/>
              </a:rPr>
              <a:t>Implement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Policy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mitigate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risk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cross-</a:t>
            </a:r>
            <a:r>
              <a:rPr dirty="0" sz="1100">
                <a:latin typeface="Cambria Math"/>
                <a:cs typeface="Cambria Math"/>
              </a:rPr>
              <a:t>site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(XSS)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attacks,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execute</a:t>
            </a:r>
            <a:r>
              <a:rPr dirty="0" sz="1100" spc="-10">
                <a:latin typeface="Cambria Math"/>
                <a:cs typeface="Cambria Math"/>
              </a:rPr>
              <a:t> unauthorized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queries.</a:t>
            </a:r>
            <a:endParaRPr sz="1100">
              <a:latin typeface="Cambria Math"/>
              <a:cs typeface="Cambria Math"/>
            </a:endParaRPr>
          </a:p>
          <a:p>
            <a:pPr marL="1148080" marR="22225" indent="-228600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1148080" algn="l"/>
              </a:tabLst>
            </a:pPr>
            <a:r>
              <a:rPr dirty="0" sz="1100">
                <a:latin typeface="Cambria Math"/>
                <a:cs typeface="Cambria Math"/>
              </a:rPr>
              <a:t>Implement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account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lockout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mechanisms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temporarily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suspend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accounts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after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specified </a:t>
            </a:r>
            <a:r>
              <a:rPr dirty="0" sz="1100">
                <a:latin typeface="Cambria Math"/>
                <a:cs typeface="Cambria Math"/>
              </a:rPr>
              <a:t>number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unauthorized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attempts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brute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force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attacks.</a:t>
            </a: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Cambria Math"/>
                <a:cs typeface="Cambria Math"/>
              </a:rPr>
              <a:t>6.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10">
                <a:latin typeface="Cambria Math"/>
                <a:cs typeface="Cambria Math"/>
              </a:rPr>
              <a:t> Security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Misconfiguration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00"/>
              </a:spcBef>
            </a:pPr>
            <a:r>
              <a:rPr dirty="0" sz="1100" spc="-10">
                <a:latin typeface="Cambria Math"/>
                <a:cs typeface="Cambria Math"/>
              </a:rPr>
              <a:t>CWE:732</a:t>
            </a:r>
            <a:endParaRPr sz="1100">
              <a:latin typeface="Cambria Math"/>
              <a:cs typeface="Cambria Math"/>
            </a:endParaRPr>
          </a:p>
          <a:p>
            <a:pPr marL="234950" marR="5080" indent="-6350">
              <a:lnSpc>
                <a:spcPct val="100000"/>
              </a:lnSpc>
              <a:spcBef>
                <a:spcPts val="1200"/>
              </a:spcBef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product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specifies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permissions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5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security-</a:t>
            </a:r>
            <a:r>
              <a:rPr dirty="0" sz="1100">
                <a:latin typeface="Cambria Math"/>
                <a:cs typeface="Cambria Math"/>
              </a:rPr>
              <a:t>critical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resource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way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allows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that </a:t>
            </a:r>
            <a:r>
              <a:rPr dirty="0" sz="1100">
                <a:latin typeface="Cambria Math"/>
                <a:cs typeface="Cambria Math"/>
              </a:rPr>
              <a:t>resource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read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modified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unintended</a:t>
            </a:r>
            <a:r>
              <a:rPr dirty="0" sz="1100" spc="-10">
                <a:latin typeface="Cambria Math"/>
                <a:cs typeface="Cambria Math"/>
              </a:rPr>
              <a:t> actors.</a:t>
            </a:r>
            <a:endParaRPr sz="1100">
              <a:latin typeface="Cambria Math"/>
              <a:cs typeface="Cambria Math"/>
            </a:endParaRPr>
          </a:p>
          <a:p>
            <a:pPr marL="234950" marR="45720" indent="-6350">
              <a:lnSpc>
                <a:spcPct val="100000"/>
              </a:lnSpc>
              <a:spcBef>
                <a:spcPts val="1275"/>
              </a:spcBef>
            </a:pP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Impact: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effectively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lessen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consequences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stemming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CWE-</a:t>
            </a:r>
            <a:r>
              <a:rPr dirty="0" sz="1100">
                <a:latin typeface="Cambria Math"/>
                <a:cs typeface="Cambria Math"/>
              </a:rPr>
              <a:t>732,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organizations </a:t>
            </a:r>
            <a:r>
              <a:rPr dirty="0" sz="1100">
                <a:latin typeface="Cambria Math"/>
                <a:cs typeface="Cambria Math"/>
              </a:rPr>
              <a:t>must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place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strong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emphasis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bolstering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configuration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management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practices.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involves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5003" y="990600"/>
            <a:ext cx="5728716" cy="2828544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616" y="3285744"/>
            <a:ext cx="6371844" cy="283463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9735" y="6682740"/>
            <a:ext cx="2846832" cy="25908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60908" y="976630"/>
            <a:ext cx="6480810" cy="2121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415" marR="5080">
              <a:lnSpc>
                <a:spcPct val="100600"/>
              </a:lnSpc>
              <a:spcBef>
                <a:spcPts val="95"/>
              </a:spcBef>
            </a:pPr>
            <a:r>
              <a:rPr dirty="0" sz="1100">
                <a:latin typeface="Cambria Math"/>
                <a:cs typeface="Cambria Math"/>
              </a:rPr>
              <a:t>establishment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default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settings,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routine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conduct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comprehensive security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evaluations,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>
                <a:latin typeface="Cambria Math"/>
                <a:cs typeface="Cambria Math"/>
              </a:rPr>
              <a:t>deployment</a:t>
            </a:r>
            <a:r>
              <a:rPr dirty="0" sz="1100" spc="4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4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intrusion</a:t>
            </a:r>
            <a:r>
              <a:rPr dirty="0" sz="1100" spc="4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detection</a:t>
            </a:r>
            <a:r>
              <a:rPr dirty="0" sz="1100" spc="4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</a:t>
            </a:r>
            <a:r>
              <a:rPr dirty="0" sz="1100" spc="4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4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promptly</a:t>
            </a:r>
            <a:r>
              <a:rPr dirty="0" sz="1100" spc="409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detect</a:t>
            </a:r>
            <a:r>
              <a:rPr dirty="0" sz="1100" spc="4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409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address</a:t>
            </a:r>
            <a:r>
              <a:rPr dirty="0" sz="1100" spc="4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misconfigurations</a:t>
            </a:r>
            <a:r>
              <a:rPr dirty="0" sz="1100" spc="41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>
                <a:latin typeface="Cambria Math"/>
                <a:cs typeface="Cambria Math"/>
              </a:rPr>
              <a:t>vulnerabilities.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 are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 paramount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importance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safeguarding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data, fortifying</a:t>
            </a:r>
            <a:r>
              <a:rPr dirty="0" sz="1100" spc="-10">
                <a:latin typeface="Cambria Math"/>
                <a:cs typeface="Cambria Math"/>
              </a:rPr>
              <a:t> system </a:t>
            </a:r>
            <a:r>
              <a:rPr dirty="0" sz="1100">
                <a:latin typeface="Cambria Math"/>
                <a:cs typeface="Cambria Math"/>
              </a:rPr>
              <a:t>security,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preserving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organization's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esteemed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reputation.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http://testfire.net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/</a:t>
            </a:r>
            <a:endParaRPr sz="1100">
              <a:latin typeface="Cambria Math"/>
              <a:cs typeface="Cambria Math"/>
            </a:endParaRPr>
          </a:p>
          <a:p>
            <a:pPr marL="12700" marR="3350260">
              <a:lnSpc>
                <a:spcPts val="2890"/>
              </a:lnSpc>
              <a:spcBef>
                <a:spcPts val="45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5"/>
              </a:rPr>
              <a:t>http://testfire.net/login.js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5"/>
              </a:rPr>
              <a:t>p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 marL="481330" indent="-227965">
              <a:lnSpc>
                <a:spcPct val="100000"/>
              </a:lnSpc>
              <a:spcBef>
                <a:spcPts val="1205"/>
              </a:spcBef>
              <a:buFont typeface="Wingdings"/>
              <a:buChar char=""/>
              <a:tabLst>
                <a:tab pos="481330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6302121"/>
            <a:ext cx="392176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uniscan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</a:t>
            </a:r>
            <a:r>
              <a:rPr dirty="0" sz="1100" spc="-10">
                <a:latin typeface="Cambria Math"/>
                <a:cs typeface="Cambria Math"/>
              </a:rPr>
              <a:t> which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available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kali.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2004" y="9268206"/>
            <a:ext cx="617791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hidden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directories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due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measures </a:t>
            </a:r>
            <a:r>
              <a:rPr dirty="0" sz="1100">
                <a:latin typeface="Cambria Math"/>
                <a:cs typeface="Cambria Math"/>
              </a:rPr>
              <a:t>taken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website.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116" y="4896612"/>
            <a:ext cx="5234940" cy="505968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02004" y="4348099"/>
            <a:ext cx="6205855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found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directories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easily.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Also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files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present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has </a:t>
            </a:r>
            <a:r>
              <a:rPr dirty="0" sz="1100">
                <a:latin typeface="Cambria Math"/>
                <a:cs typeface="Cambria Math"/>
              </a:rPr>
              <a:t>also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been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found.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060" y="990600"/>
            <a:ext cx="4604004" cy="316992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091" y="1359408"/>
            <a:ext cx="5724144" cy="205130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02004" y="1161034"/>
            <a:ext cx="3488054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Let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through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webpage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3592195"/>
            <a:ext cx="6663690" cy="6391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7865" indent="-22796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697865" algn="l"/>
              </a:tabLst>
            </a:pPr>
            <a:r>
              <a:rPr dirty="0" sz="1100">
                <a:latin typeface="Cambria Math"/>
                <a:cs typeface="Cambria Math"/>
              </a:rPr>
              <a:t>Here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job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which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help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attacker.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Recommendations:</a:t>
            </a:r>
            <a:endParaRPr sz="1100">
              <a:latin typeface="Cambria Math"/>
              <a:cs typeface="Cambria Math"/>
            </a:endParaRPr>
          </a:p>
          <a:p>
            <a:pPr marL="698500" marR="67945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Implement</a:t>
            </a:r>
            <a:r>
              <a:rPr dirty="0" sz="1100" spc="3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3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change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management</a:t>
            </a:r>
            <a:r>
              <a:rPr dirty="0" sz="1100" spc="3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process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document</a:t>
            </a:r>
            <a:r>
              <a:rPr dirty="0" sz="1100" spc="3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3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review</a:t>
            </a:r>
            <a:r>
              <a:rPr dirty="0" sz="1100" spc="3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</a:t>
            </a:r>
            <a:r>
              <a:rPr dirty="0" sz="1100" spc="3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changes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system configurations.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helps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unauthorized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unintended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alterations.</a:t>
            </a:r>
            <a:endParaRPr sz="1100">
              <a:latin typeface="Cambria Math"/>
              <a:cs typeface="Cambria Math"/>
            </a:endParaRPr>
          </a:p>
          <a:p>
            <a:pPr marL="698500" marR="123825" indent="-228600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Follow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3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guidelines</a:t>
            </a:r>
            <a:r>
              <a:rPr dirty="0" sz="1100" spc="3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provided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3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software</a:t>
            </a:r>
            <a:r>
              <a:rPr dirty="0" sz="1100" spc="3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3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hardware</a:t>
            </a:r>
            <a:r>
              <a:rPr dirty="0" sz="1100" spc="3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vendors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secure configurations.</a:t>
            </a:r>
            <a:endParaRPr sz="1100">
              <a:latin typeface="Cambria Math"/>
              <a:cs typeface="Cambria Math"/>
            </a:endParaRPr>
          </a:p>
          <a:p>
            <a:pPr marL="698500" marR="5080" indent="-228600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Regularly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1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compliance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checks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against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industry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standards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regulations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15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that </a:t>
            </a:r>
            <a:r>
              <a:rPr dirty="0" sz="1100">
                <a:latin typeface="Cambria Math"/>
                <a:cs typeface="Cambria Math"/>
              </a:rPr>
              <a:t>configurations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remain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compliance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requirements.</a:t>
            </a:r>
            <a:endParaRPr sz="1100">
              <a:latin typeface="Cambria Math"/>
              <a:cs typeface="Cambria Math"/>
            </a:endParaRPr>
          </a:p>
          <a:p>
            <a:pPr marL="231775" marR="3316604" indent="-219710">
              <a:lnSpc>
                <a:spcPct val="190000"/>
              </a:lnSpc>
              <a:spcBef>
                <a:spcPts val="375"/>
              </a:spcBef>
            </a:pPr>
            <a:r>
              <a:rPr dirty="0" sz="1100">
                <a:latin typeface="Cambria Math"/>
                <a:cs typeface="Cambria Math"/>
              </a:rPr>
              <a:t>7.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Name: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Cross-Site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Request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Forgery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CWS: </a:t>
            </a:r>
            <a:r>
              <a:rPr dirty="0" sz="1100" spc="-25">
                <a:latin typeface="Cambria Math"/>
                <a:cs typeface="Cambria Math"/>
              </a:rPr>
              <a:t>352</a:t>
            </a:r>
            <a:endParaRPr sz="1100">
              <a:latin typeface="Cambria Math"/>
              <a:cs typeface="Cambria Math"/>
            </a:endParaRPr>
          </a:p>
          <a:p>
            <a:pPr marL="228600" marR="3427729">
              <a:lnSpc>
                <a:spcPct val="190900"/>
              </a:lnSpc>
              <a:spcBef>
                <a:spcPts val="10"/>
              </a:spcBef>
            </a:pPr>
            <a:r>
              <a:rPr dirty="0" sz="1100">
                <a:latin typeface="Cambria Math"/>
                <a:cs typeface="Cambria Math"/>
              </a:rPr>
              <a:t>OWASP</a:t>
            </a:r>
            <a:r>
              <a:rPr dirty="0" sz="1100" spc="-10">
                <a:latin typeface="Cambria Math"/>
                <a:cs typeface="Cambria Math"/>
              </a:rPr>
              <a:t> Category: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A08: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Cross-</a:t>
            </a:r>
            <a:r>
              <a:rPr dirty="0" sz="1100">
                <a:latin typeface="Cambria Math"/>
                <a:cs typeface="Cambria Math"/>
              </a:rPr>
              <a:t>Site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Request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Forgery Description:</a:t>
            </a:r>
            <a:endParaRPr sz="1100">
              <a:latin typeface="Cambria Math"/>
              <a:cs typeface="Cambria Math"/>
            </a:endParaRPr>
          </a:p>
          <a:p>
            <a:pPr marL="234950" marR="78105" indent="-12700">
              <a:lnSpc>
                <a:spcPct val="96600"/>
              </a:lnSpc>
              <a:spcBef>
                <a:spcPts val="1220"/>
              </a:spcBef>
            </a:pPr>
            <a:r>
              <a:rPr dirty="0" sz="1100" spc="-10">
                <a:latin typeface="Cambria Math"/>
                <a:cs typeface="Cambria Math"/>
              </a:rPr>
              <a:t>Cross-</a:t>
            </a:r>
            <a:r>
              <a:rPr dirty="0" sz="1100">
                <a:latin typeface="Cambria Math"/>
                <a:cs typeface="Cambria Math"/>
              </a:rPr>
              <a:t>Site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Request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Forgery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(CSRF)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forces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execute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unwanted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50">
                <a:latin typeface="Cambria Math"/>
                <a:cs typeface="Cambria Math"/>
              </a:rPr>
              <a:t>a</a:t>
            </a:r>
            <a:r>
              <a:rPr dirty="0" sz="1100">
                <a:latin typeface="Cambria Math"/>
                <a:cs typeface="Cambria Math"/>
              </a:rPr>
              <a:t> web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they’re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currently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authenticated.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little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help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social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engineering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(such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as </a:t>
            </a:r>
            <a:r>
              <a:rPr dirty="0" sz="1100">
                <a:latin typeface="Cambria Math"/>
                <a:cs typeface="Cambria Math"/>
              </a:rPr>
              <a:t>sending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link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via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email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chat),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attacker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trick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executing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actions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attacker’s</a:t>
            </a:r>
            <a:r>
              <a:rPr dirty="0" sz="1100" spc="-10">
                <a:latin typeface="Cambria Math"/>
                <a:cs typeface="Cambria Math"/>
              </a:rPr>
              <a:t> choosing.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victim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normal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successful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CSRF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force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to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state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changing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requests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like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transferring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funds,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changing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email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address,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forth.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>
                <a:latin typeface="Cambria Math"/>
                <a:cs typeface="Cambria Math"/>
              </a:rPr>
              <a:t>victim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administrative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account,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CSRF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compromise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entire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application.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75"/>
              </a:spcBef>
            </a:pPr>
            <a:r>
              <a:rPr dirty="0" sz="1100" spc="-10">
                <a:latin typeface="Cambria Math"/>
                <a:cs typeface="Cambria Math"/>
              </a:rPr>
              <a:t>Business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Impact: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Cambria Math"/>
              <a:cs typeface="Cambria Math"/>
            </a:endParaRPr>
          </a:p>
          <a:p>
            <a:pPr marL="234950" marR="74930" indent="-12700">
              <a:lnSpc>
                <a:spcPts val="1270"/>
              </a:lnSpc>
            </a:pP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effectively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reduce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business </a:t>
            </a:r>
            <a:r>
              <a:rPr dirty="0" sz="1100" spc="-10">
                <a:latin typeface="Cambria Math"/>
                <a:cs typeface="Cambria Math"/>
              </a:rPr>
              <a:t>repercussions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CWE-</a:t>
            </a:r>
            <a:r>
              <a:rPr dirty="0" sz="1100">
                <a:latin typeface="Cambria Math"/>
                <a:cs typeface="Cambria Math"/>
              </a:rPr>
              <a:t>352,</a:t>
            </a:r>
            <a:r>
              <a:rPr dirty="0" sz="1100" spc="-10">
                <a:latin typeface="Cambria Math"/>
                <a:cs typeface="Cambria Math"/>
              </a:rPr>
              <a:t> organizations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must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prioritize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coding </a:t>
            </a:r>
            <a:r>
              <a:rPr dirty="0" sz="1100">
                <a:latin typeface="Cambria Math"/>
                <a:cs typeface="Cambria Math"/>
              </a:rPr>
              <a:t>practices,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incorporation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anti-CSRF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tokens,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while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also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conducting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routine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 </a:t>
            </a:r>
            <a:r>
              <a:rPr dirty="0" sz="1100">
                <a:latin typeface="Cambria Math"/>
                <a:cs typeface="Cambria Math"/>
              </a:rPr>
              <a:t>assessments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testing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detect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rectify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CSRF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vulnerabilities.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Furthermore,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educating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secure </a:t>
            </a:r>
            <a:r>
              <a:rPr dirty="0" sz="1100">
                <a:latin typeface="Cambria Math"/>
                <a:cs typeface="Cambria Math"/>
              </a:rPr>
              <a:t>browsing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practices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pivotal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CSRF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attacks.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paramount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importance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>
                <a:latin typeface="Cambria Math"/>
                <a:cs typeface="Cambria Math"/>
              </a:rPr>
              <a:t>protection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upholding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trust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customers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partners.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http://testfire.net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/</a:t>
            </a:r>
            <a:endParaRPr sz="1100">
              <a:latin typeface="Cambria Math"/>
              <a:cs typeface="Cambria Math"/>
            </a:endParaRPr>
          </a:p>
          <a:p>
            <a:pPr marL="228600" marR="2780030">
              <a:lnSpc>
                <a:spcPts val="2580"/>
              </a:lnSpc>
              <a:spcBef>
                <a:spcPts val="75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http://testfire.net/bank/transfer.js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p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1391" y="1478280"/>
            <a:ext cx="5734812" cy="283006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3480" y="4869180"/>
            <a:ext cx="5722620" cy="246126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02004" y="1161034"/>
            <a:ext cx="1802764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Open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https://testfire.net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/</a:t>
            </a:r>
            <a:r>
              <a:rPr dirty="0" sz="1100" spc="-10">
                <a:latin typeface="Cambria Math"/>
                <a:cs typeface="Cambria Math"/>
                <a:hlinkClick r:id="rId4"/>
              </a:rPr>
              <a:t>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4486783"/>
            <a:ext cx="422021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Login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default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credentials,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two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accounts.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2004" y="7700010"/>
            <a:ext cx="620331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Capture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request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Intercepting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proxy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(Burp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Suite,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Charles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Proxy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etc.)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while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transferring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>
                <a:latin typeface="Cambria Math"/>
                <a:cs typeface="Cambria Math"/>
              </a:rPr>
              <a:t>amount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account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another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shown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below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picture.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839" y="6406896"/>
            <a:ext cx="3730752" cy="84734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3480" y="8115300"/>
            <a:ext cx="5745480" cy="3581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02004" y="5858636"/>
            <a:ext cx="6235065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Generate</a:t>
            </a:r>
            <a:r>
              <a:rPr dirty="0" sz="1100" spc="3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CSRF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POC</a:t>
            </a:r>
            <a:r>
              <a:rPr dirty="0" sz="1100" spc="3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Burp</a:t>
            </a:r>
            <a:r>
              <a:rPr dirty="0" sz="1100" spc="3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Suite</a:t>
            </a:r>
            <a:r>
              <a:rPr dirty="0" sz="1100" spc="3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Engagement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tools</a:t>
            </a:r>
            <a:r>
              <a:rPr dirty="0" sz="1100" spc="3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(by</a:t>
            </a:r>
            <a:r>
              <a:rPr dirty="0" sz="1100" spc="3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modifying</a:t>
            </a:r>
            <a:r>
              <a:rPr dirty="0" sz="1100" spc="3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account</a:t>
            </a:r>
            <a:r>
              <a:rPr dirty="0" sz="1100" spc="3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numbers accordingly)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7398258"/>
            <a:ext cx="6234430" cy="5321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241300" marR="5080" indent="-228600">
              <a:lnSpc>
                <a:spcPct val="100899"/>
              </a:lnSpc>
              <a:spcBef>
                <a:spcPts val="90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victim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already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logged-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site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attacker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crafted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form/URL </a:t>
            </a:r>
            <a:r>
              <a:rPr dirty="0" sz="1100" spc="-25">
                <a:latin typeface="Cambria Math"/>
                <a:cs typeface="Cambria Math"/>
              </a:rPr>
              <a:t>to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his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email/text/by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any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other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means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trick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victim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his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social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engineering skills/techniques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like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below.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2004" y="8617458"/>
            <a:ext cx="6233160" cy="8978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1300" marR="8255" indent="-228600">
              <a:lnSpc>
                <a:spcPct val="100899"/>
              </a:lnSpc>
              <a:spcBef>
                <a:spcPts val="90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thinks,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could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free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$100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gift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card!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What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could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go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wrong?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open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email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click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link/open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attachment.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Font typeface="Wingdings"/>
              <a:buChar char=""/>
            </a:pPr>
            <a:endParaRPr sz="1100">
              <a:latin typeface="Cambria Math"/>
              <a:cs typeface="Cambria Math"/>
            </a:endParaRPr>
          </a:p>
          <a:p>
            <a:pPr marL="241300" marR="5080" indent="-228600">
              <a:lnSpc>
                <a:spcPct val="100000"/>
              </a:lnSpc>
              <a:spcBef>
                <a:spcPts val="5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Once the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 opens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 form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transaction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automatically</a:t>
            </a:r>
            <a:r>
              <a:rPr dirty="0" sz="1100">
                <a:latin typeface="Cambria Math"/>
                <a:cs typeface="Cambria Math"/>
              </a:rPr>
              <a:t> performed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his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account without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his </a:t>
            </a:r>
            <a:r>
              <a:rPr dirty="0" sz="1100">
                <a:latin typeface="Cambria Math"/>
                <a:cs typeface="Cambria Math"/>
              </a:rPr>
              <a:t>knowledge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already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logged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in.</a:t>
            </a:r>
            <a:endParaRPr sz="1100">
              <a:latin typeface="Cambria Math"/>
              <a:cs typeface="Cambria Math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202436" y="990600"/>
            <a:ext cx="5747385" cy="4677410"/>
            <a:chOff x="1202436" y="990600"/>
            <a:chExt cx="5747385" cy="467741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2436" y="990600"/>
              <a:ext cx="5710427" cy="201015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9868" y="3014472"/>
              <a:ext cx="5719572" cy="2653283"/>
            </a:xfrm>
            <a:prstGeom prst="rect">
              <a:avLst/>
            </a:prstGeom>
          </p:spPr>
        </p:pic>
      </p:grpSp>
      <p:sp>
        <p:nvSpPr>
          <p:cNvPr id="10" name="object 10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3081655"/>
            <a:ext cx="6697980" cy="6577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mbria Math"/>
                <a:cs typeface="Cambria Math"/>
              </a:rPr>
              <a:t>Recommendations:</a:t>
            </a:r>
            <a:endParaRPr sz="1100">
              <a:latin typeface="Cambria Math"/>
              <a:cs typeface="Cambria Math"/>
            </a:endParaRPr>
          </a:p>
          <a:p>
            <a:pPr algn="just" marL="694690" marR="6350" indent="-224790">
              <a:lnSpc>
                <a:spcPct val="100899"/>
              </a:lnSpc>
              <a:spcBef>
                <a:spcPts val="125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 spc="-10">
                <a:latin typeface="Cambria Math"/>
                <a:cs typeface="Cambria Math"/>
              </a:rPr>
              <a:t>Implement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Synchronizer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Token</a:t>
            </a:r>
            <a:r>
              <a:rPr dirty="0" sz="1100" spc="-10">
                <a:latin typeface="Cambria Math"/>
                <a:cs typeface="Cambria Math"/>
              </a:rPr>
              <a:t> Patterns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include </a:t>
            </a:r>
            <a:r>
              <a:rPr dirty="0" sz="1100">
                <a:latin typeface="Cambria Math"/>
                <a:cs typeface="Cambria Math"/>
              </a:rPr>
              <a:t>unique,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randomly generated</a:t>
            </a:r>
            <a:r>
              <a:rPr dirty="0" sz="110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tokens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each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HTTP </a:t>
            </a:r>
            <a:r>
              <a:rPr dirty="0" sz="1100" spc="-2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request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validate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tokens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side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verify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authenticity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request.</a:t>
            </a:r>
            <a:endParaRPr sz="1100">
              <a:latin typeface="Cambria Math"/>
              <a:cs typeface="Cambria Math"/>
            </a:endParaRPr>
          </a:p>
          <a:p>
            <a:pPr algn="just" marL="694690" marR="5080" indent="-22479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Utilize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SameSite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attribute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cookies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restrict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usage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same-</a:t>
            </a:r>
            <a:r>
              <a:rPr dirty="0" sz="1100">
                <a:latin typeface="Cambria Math"/>
                <a:cs typeface="Cambria Math"/>
              </a:rPr>
              <a:t>site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requests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only,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preventing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them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along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10">
                <a:latin typeface="Cambria Math"/>
                <a:cs typeface="Cambria Math"/>
              </a:rPr>
              <a:t> cross-</a:t>
            </a:r>
            <a:r>
              <a:rPr dirty="0" sz="1100">
                <a:latin typeface="Cambria Math"/>
                <a:cs typeface="Cambria Math"/>
              </a:rPr>
              <a:t>site</a:t>
            </a:r>
            <a:r>
              <a:rPr dirty="0" sz="1100" spc="-10">
                <a:latin typeface="Cambria Math"/>
                <a:cs typeface="Cambria Math"/>
              </a:rPr>
              <a:t> requests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effectively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mitigating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CSRF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attacks.</a:t>
            </a:r>
            <a:endParaRPr sz="1100">
              <a:latin typeface="Cambria Math"/>
              <a:cs typeface="Cambria Math"/>
            </a:endParaRPr>
          </a:p>
          <a:p>
            <a:pPr algn="just" marL="694690" marR="9525" indent="-224790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Utilize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framework-</a:t>
            </a:r>
            <a:r>
              <a:rPr dirty="0" sz="1100">
                <a:latin typeface="Cambria Math"/>
                <a:cs typeface="Cambria Math"/>
              </a:rPr>
              <a:t>specific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protections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features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CSRF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attacks.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Many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modern 	web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frameworks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have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built-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mechanisms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libraries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handling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CSRF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 effectively.</a:t>
            </a:r>
            <a:endParaRPr sz="1100">
              <a:latin typeface="Cambria Math"/>
              <a:cs typeface="Cambria Math"/>
            </a:endParaRPr>
          </a:p>
          <a:p>
            <a:pPr algn="just" marL="694690" marR="10795" indent="-224790">
              <a:lnSpc>
                <a:spcPts val="1280"/>
              </a:lnSpc>
              <a:spcBef>
                <a:spcPts val="14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Implement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 Policy to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restrict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sources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various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types of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can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loaded.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 specifying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trusted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sources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content,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 minimize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risk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code </a:t>
            </a:r>
            <a:r>
              <a:rPr dirty="0" sz="1100" spc="-2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execution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reduce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likelihood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successful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CSRF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attacks.</a:t>
            </a:r>
            <a:endParaRPr sz="1100">
              <a:latin typeface="Cambria Math"/>
              <a:cs typeface="Cambria Math"/>
            </a:endParaRPr>
          </a:p>
          <a:p>
            <a:pPr algn="just" marL="154305" marR="2486025" indent="-142240">
              <a:lnSpc>
                <a:spcPct val="170900"/>
              </a:lnSpc>
              <a:spcBef>
                <a:spcPts val="285"/>
              </a:spcBef>
              <a:buAutoNum type="arabicPeriod" startAt="8"/>
              <a:tabLst>
                <a:tab pos="228600" algn="l"/>
              </a:tabLst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Cleartext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Transmission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Information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319</a:t>
            </a:r>
            <a:endParaRPr sz="1100">
              <a:latin typeface="Cambria Math"/>
              <a:cs typeface="Cambria Math"/>
            </a:endParaRPr>
          </a:p>
          <a:p>
            <a:pPr marL="234950" marR="211454" indent="-12700">
              <a:lnSpc>
                <a:spcPct val="96500"/>
              </a:lnSpc>
              <a:spcBef>
                <a:spcPts val="1210"/>
              </a:spcBef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product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transmits sensitive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security-</a:t>
            </a:r>
            <a:r>
              <a:rPr dirty="0" sz="1100">
                <a:latin typeface="Cambria Math"/>
                <a:cs typeface="Cambria Math"/>
              </a:rPr>
              <a:t>critical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10">
                <a:latin typeface="Cambria Math"/>
                <a:cs typeface="Cambria Math"/>
              </a:rPr>
              <a:t> cleartext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0">
                <a:latin typeface="Cambria Math"/>
                <a:cs typeface="Cambria Math"/>
              </a:rPr>
              <a:t> communication </a:t>
            </a:r>
            <a:r>
              <a:rPr dirty="0" sz="1100">
                <a:latin typeface="Cambria Math"/>
                <a:cs typeface="Cambria Math"/>
              </a:rPr>
              <a:t>channel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sniffed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unauthorized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actors.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communication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channels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"sniffed" </a:t>
            </a:r>
            <a:r>
              <a:rPr dirty="0" sz="1100">
                <a:latin typeface="Cambria Math"/>
                <a:cs typeface="Cambria Math"/>
              </a:rPr>
              <a:t>(monitored)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adversaries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during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transmission.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example,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networking,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packets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traverse </a:t>
            </a:r>
            <a:r>
              <a:rPr dirty="0" sz="1100">
                <a:latin typeface="Cambria Math"/>
                <a:cs typeface="Cambria Math"/>
              </a:rPr>
              <a:t>many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intermediary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nodes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source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destination,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whether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across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internet,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internal </a:t>
            </a:r>
            <a:r>
              <a:rPr dirty="0" sz="1100">
                <a:latin typeface="Cambria Math"/>
                <a:cs typeface="Cambria Math"/>
              </a:rPr>
              <a:t>network,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cloud,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etc.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Some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actors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might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have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privileged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network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interface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any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link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along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channel,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router,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might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collect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underlying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data.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result, </a:t>
            </a:r>
            <a:r>
              <a:rPr dirty="0" sz="1100">
                <a:latin typeface="Cambria Math"/>
                <a:cs typeface="Cambria Math"/>
              </a:rPr>
              <a:t>network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traffic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could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sniffed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adversaries,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spilling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security-</a:t>
            </a:r>
            <a:r>
              <a:rPr dirty="0" sz="1100">
                <a:latin typeface="Cambria Math"/>
                <a:cs typeface="Cambria Math"/>
              </a:rPr>
              <a:t>critical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data.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Cambria Math"/>
              <a:cs typeface="Cambria Math"/>
            </a:endParaRPr>
          </a:p>
          <a:p>
            <a:pPr marL="234950" marR="74930" indent="-12700">
              <a:lnSpc>
                <a:spcPct val="96600"/>
              </a:lnSpc>
            </a:pPr>
            <a:r>
              <a:rPr dirty="0" sz="1100">
                <a:latin typeface="Cambria Math"/>
                <a:cs typeface="Cambria Math"/>
              </a:rPr>
              <a:t>Business Impact: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 </a:t>
            </a:r>
            <a:r>
              <a:rPr dirty="0" sz="1100" spc="-10">
                <a:latin typeface="Cambria Math"/>
                <a:cs typeface="Cambria Math"/>
              </a:rPr>
              <a:t>effectively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reduce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 business</a:t>
            </a:r>
            <a:r>
              <a:rPr dirty="0" sz="1100" spc="-10">
                <a:latin typeface="Cambria Math"/>
                <a:cs typeface="Cambria Math"/>
              </a:rPr>
              <a:t> consequences associated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 </a:t>
            </a:r>
            <a:r>
              <a:rPr dirty="0" sz="1100" spc="-10">
                <a:latin typeface="Cambria Math"/>
                <a:cs typeface="Cambria Math"/>
              </a:rPr>
              <a:t>CWE-</a:t>
            </a:r>
            <a:r>
              <a:rPr dirty="0" sz="1100">
                <a:latin typeface="Cambria Math"/>
                <a:cs typeface="Cambria Math"/>
              </a:rPr>
              <a:t>319,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organizations </a:t>
            </a:r>
            <a:r>
              <a:rPr dirty="0" sz="1100">
                <a:latin typeface="Cambria Math"/>
                <a:cs typeface="Cambria Math"/>
              </a:rPr>
              <a:t>must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prioritize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adoption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transmission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practices.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includes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utilization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of</a:t>
            </a:r>
            <a:r>
              <a:rPr dirty="0" sz="1100" spc="5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encryption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robust,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protocols.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routine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conduct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assessments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testing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0">
                <a:latin typeface="Cambria Math"/>
                <a:cs typeface="Cambria Math"/>
              </a:rPr>
              <a:t> pivotal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pinpointing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remedying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linked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transmission. </a:t>
            </a:r>
            <a:r>
              <a:rPr dirty="0" sz="1100">
                <a:latin typeface="Cambria Math"/>
                <a:cs typeface="Cambria Math"/>
              </a:rPr>
              <a:t>Furthermore,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education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of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handling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practices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plays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vital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role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proactively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exposure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incidents.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paramount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importance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preserving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trust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of </a:t>
            </a:r>
            <a:r>
              <a:rPr dirty="0" sz="1100">
                <a:latin typeface="Cambria Math"/>
                <a:cs typeface="Cambria Math"/>
              </a:rPr>
              <a:t>both</a:t>
            </a:r>
            <a:r>
              <a:rPr dirty="0" sz="1100" spc="-10">
                <a:latin typeface="Cambria Math"/>
                <a:cs typeface="Cambria Math"/>
              </a:rPr>
              <a:t> customers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partners.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70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http://testfire.net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/</a:t>
            </a:r>
            <a:endParaRPr sz="1100">
              <a:latin typeface="Cambria Math"/>
              <a:cs typeface="Cambria Math"/>
            </a:endParaRPr>
          </a:p>
          <a:p>
            <a:pPr marL="228600" marR="3350260">
              <a:lnSpc>
                <a:spcPts val="2920"/>
              </a:lnSpc>
              <a:spcBef>
                <a:spcPts val="15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http://testfire.net/login.js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p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 lvl="1" marL="697865" indent="-227965">
              <a:lnSpc>
                <a:spcPct val="100000"/>
              </a:lnSpc>
              <a:spcBef>
                <a:spcPts val="845"/>
              </a:spcBef>
              <a:buFont typeface="Wingdings"/>
              <a:buChar char=""/>
              <a:tabLst>
                <a:tab pos="697865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2227" y="990600"/>
            <a:ext cx="5687567" cy="1903476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288" y="3573780"/>
            <a:ext cx="5055108" cy="226771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2852" y="6582156"/>
            <a:ext cx="5138928" cy="28773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02004" y="3375787"/>
            <a:ext cx="39757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Now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sign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admin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privileges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6013171"/>
            <a:ext cx="6108700" cy="3822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80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 spc="-10">
                <a:latin typeface="Cambria Math"/>
                <a:cs typeface="Cambria Math"/>
              </a:rPr>
              <a:t>Also,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burp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suite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get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requests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website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know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additional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information.</a:t>
            </a:r>
            <a:endParaRPr sz="1100">
              <a:latin typeface="Cambria Math"/>
              <a:cs typeface="Cambria Math"/>
            </a:endParaRPr>
          </a:p>
          <a:p>
            <a:pPr marL="240665" indent="-227965">
              <a:lnSpc>
                <a:spcPct val="100000"/>
              </a:lnSpc>
              <a:spcBef>
                <a:spcPts val="85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‘admin’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username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password.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2004" y="9590023"/>
            <a:ext cx="604393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request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been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received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burp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suite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username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password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well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clear text.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5524" y="990600"/>
            <a:ext cx="5047487" cy="2243328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60908" y="2622550"/>
            <a:ext cx="6472555" cy="6138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81965" marR="5080" indent="-228600">
              <a:lnSpc>
                <a:spcPct val="100499"/>
              </a:lnSpc>
              <a:spcBef>
                <a:spcPts val="95"/>
              </a:spcBef>
              <a:buFont typeface="Wingdings"/>
              <a:buChar char=""/>
              <a:tabLst>
                <a:tab pos="481965" algn="l"/>
              </a:tabLst>
            </a:pPr>
            <a:r>
              <a:rPr dirty="0" sz="1100">
                <a:latin typeface="Cambria Math"/>
                <a:cs typeface="Cambria Math"/>
              </a:rPr>
              <a:t>Now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click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forward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request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burp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suite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then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redirected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admin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user </a:t>
            </a:r>
            <a:r>
              <a:rPr dirty="0" sz="1100">
                <a:latin typeface="Cambria Math"/>
                <a:cs typeface="Cambria Math"/>
              </a:rPr>
              <a:t>details.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Here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burp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suite,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clearly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see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login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details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clear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text.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clear </a:t>
            </a:r>
            <a:r>
              <a:rPr dirty="0" sz="1100">
                <a:latin typeface="Cambria Math"/>
                <a:cs typeface="Cambria Math"/>
              </a:rPr>
              <a:t>indication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lead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breach,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monitored,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manipulated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well.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Recommendations:</a:t>
            </a:r>
            <a:endParaRPr sz="1100">
              <a:latin typeface="Cambria Math"/>
              <a:cs typeface="Cambria Math"/>
            </a:endParaRPr>
          </a:p>
          <a:p>
            <a:pPr marL="481965" marR="31750" indent="-228600">
              <a:lnSpc>
                <a:spcPct val="100899"/>
              </a:lnSpc>
              <a:spcBef>
                <a:spcPts val="70"/>
              </a:spcBef>
              <a:buFont typeface="Arial MT"/>
              <a:buChar char="•"/>
              <a:tabLst>
                <a:tab pos="481965" algn="l"/>
              </a:tabLst>
            </a:pPr>
            <a:r>
              <a:rPr dirty="0" sz="1100">
                <a:latin typeface="Cambria Math"/>
                <a:cs typeface="Cambria Math"/>
              </a:rPr>
              <a:t>Educate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users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employees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handling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practices,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such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recognizing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websites </a:t>
            </a:r>
            <a:r>
              <a:rPr dirty="0" sz="1100">
                <a:latin typeface="Cambria Math"/>
                <a:cs typeface="Cambria Math"/>
              </a:rPr>
              <a:t>(look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"https")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avoiding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insecure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Wi-Fi</a:t>
            </a:r>
            <a:r>
              <a:rPr dirty="0" sz="1100" spc="-10">
                <a:latin typeface="Cambria Math"/>
                <a:cs typeface="Cambria Math"/>
              </a:rPr>
              <a:t> networks.</a:t>
            </a:r>
            <a:endParaRPr sz="1100">
              <a:latin typeface="Cambria Math"/>
              <a:cs typeface="Cambria Math"/>
            </a:endParaRPr>
          </a:p>
          <a:p>
            <a:pPr marL="481965" marR="20574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481965" algn="l"/>
              </a:tabLst>
            </a:pPr>
            <a:r>
              <a:rPr dirty="0" sz="1100">
                <a:latin typeface="Cambria Math"/>
                <a:cs typeface="Cambria Math"/>
              </a:rPr>
              <a:t>Employ</a:t>
            </a:r>
            <a:r>
              <a:rPr dirty="0" sz="1100" spc="1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masking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redaction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techniques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replace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placeholders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or </a:t>
            </a:r>
            <a:r>
              <a:rPr dirty="0" sz="1100">
                <a:latin typeface="Cambria Math"/>
                <a:cs typeface="Cambria Math"/>
              </a:rPr>
              <a:t>cryptographic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representations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during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transmission.</a:t>
            </a:r>
            <a:endParaRPr sz="1100">
              <a:latin typeface="Cambria Math"/>
              <a:cs typeface="Cambria Math"/>
            </a:endParaRPr>
          </a:p>
          <a:p>
            <a:pPr marL="481965" marR="23495" indent="-228600">
              <a:lnSpc>
                <a:spcPct val="100899"/>
              </a:lnSpc>
              <a:spcBef>
                <a:spcPts val="70"/>
              </a:spcBef>
              <a:buFont typeface="Arial MT"/>
              <a:buChar char="•"/>
              <a:tabLst>
                <a:tab pos="481965" algn="l"/>
              </a:tabLst>
            </a:pPr>
            <a:r>
              <a:rPr dirty="0" sz="1100" spc="-10">
                <a:latin typeface="Cambria Math"/>
                <a:cs typeface="Cambria Math"/>
              </a:rPr>
              <a:t>Implement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encryption for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transit.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encryption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protocols</a:t>
            </a:r>
            <a:r>
              <a:rPr dirty="0" sz="110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such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TLS/SSL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protect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during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transmission.</a:t>
            </a:r>
            <a:endParaRPr sz="1100">
              <a:latin typeface="Cambria Math"/>
              <a:cs typeface="Cambria Math"/>
            </a:endParaRPr>
          </a:p>
          <a:p>
            <a:pPr marL="481965" marR="41275" indent="-228600">
              <a:lnSpc>
                <a:spcPts val="1310"/>
              </a:lnSpc>
              <a:spcBef>
                <a:spcPts val="140"/>
              </a:spcBef>
              <a:buFont typeface="Arial MT"/>
              <a:buChar char="•"/>
              <a:tabLst>
                <a:tab pos="481965" algn="l"/>
              </a:tabLst>
            </a:pP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10">
                <a:latin typeface="Cambria Math"/>
                <a:cs typeface="Cambria Math"/>
              </a:rPr>
              <a:t> communication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protocols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transmitting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HTTPS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applications,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selected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protocols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kept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up-to-date.</a:t>
            </a:r>
            <a:endParaRPr sz="1100">
              <a:latin typeface="Cambria Math"/>
              <a:cs typeface="Cambria Math"/>
            </a:endParaRPr>
          </a:p>
          <a:p>
            <a:pPr marL="154940" marR="4359275" indent="-142875">
              <a:lnSpc>
                <a:spcPct val="191100"/>
              </a:lnSpc>
              <a:spcBef>
                <a:spcPts val="325"/>
              </a:spcBef>
              <a:buAutoNum type="arabicPeriod" startAt="9"/>
              <a:tabLst>
                <a:tab pos="253365" algn="l"/>
              </a:tabLst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10">
                <a:latin typeface="Cambria Math"/>
                <a:cs typeface="Cambria Math"/>
              </a:rPr>
              <a:t> Click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Jacking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1021</a:t>
            </a:r>
            <a:endParaRPr sz="1100">
              <a:latin typeface="Cambria Math"/>
              <a:cs typeface="Cambria Math"/>
            </a:endParaRPr>
          </a:p>
          <a:p>
            <a:pPr algn="just" marL="260985" marR="55244" indent="-7620">
              <a:lnSpc>
                <a:spcPct val="100499"/>
              </a:lnSpc>
              <a:spcBef>
                <a:spcPts val="1205"/>
              </a:spcBef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does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restrict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incorrectly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restricts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frame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objects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UI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layers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that </a:t>
            </a:r>
            <a:r>
              <a:rPr dirty="0" sz="1100">
                <a:latin typeface="Cambria Math"/>
                <a:cs typeface="Cambria Math"/>
              </a:rPr>
              <a:t>belong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another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domain,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lead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confusion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about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interface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interacting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with.</a:t>
            </a:r>
            <a:endParaRPr sz="1100">
              <a:latin typeface="Cambria Math"/>
              <a:cs typeface="Cambria Math"/>
            </a:endParaRPr>
          </a:p>
          <a:p>
            <a:pPr algn="just" marL="260985" marR="86995" indent="-7620">
              <a:lnSpc>
                <a:spcPct val="100499"/>
              </a:lnSpc>
              <a:spcBef>
                <a:spcPts val="1250"/>
              </a:spcBef>
            </a:pP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43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Impact:</a:t>
            </a:r>
            <a:r>
              <a:rPr dirty="0" sz="1100" spc="4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4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effectively</a:t>
            </a:r>
            <a:r>
              <a:rPr dirty="0" sz="1100" spc="4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reduce</a:t>
            </a:r>
            <a:r>
              <a:rPr dirty="0" sz="1100" spc="4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43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4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consequences</a:t>
            </a:r>
            <a:r>
              <a:rPr dirty="0" sz="1100" spc="43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resulting</a:t>
            </a:r>
            <a:r>
              <a:rPr dirty="0" sz="1100" spc="4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43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CWE-</a:t>
            </a:r>
            <a:r>
              <a:rPr dirty="0" sz="1100" spc="-10">
                <a:latin typeface="Cambria Math"/>
                <a:cs typeface="Cambria Math"/>
              </a:rPr>
              <a:t>1021, </a:t>
            </a:r>
            <a:r>
              <a:rPr dirty="0" sz="1100">
                <a:latin typeface="Cambria Math"/>
                <a:cs typeface="Cambria Math"/>
              </a:rPr>
              <a:t>organizations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must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prioritize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implementation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protective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measures, such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frame-</a:t>
            </a:r>
            <a:r>
              <a:rPr dirty="0" sz="1100">
                <a:latin typeface="Cambria Math"/>
                <a:cs typeface="Cambria Math"/>
              </a:rPr>
              <a:t>busting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code. </a:t>
            </a:r>
            <a:r>
              <a:rPr dirty="0" sz="1100">
                <a:latin typeface="Cambria Math"/>
                <a:cs typeface="Cambria Math"/>
              </a:rPr>
              <a:t>Simultaneously,</a:t>
            </a:r>
            <a:r>
              <a:rPr dirty="0" sz="1100" spc="3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educating</a:t>
            </a:r>
            <a:r>
              <a:rPr dirty="0" sz="1100" spc="3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3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3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safe</a:t>
            </a:r>
            <a:r>
              <a:rPr dirty="0" sz="1100" spc="3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browsing</a:t>
            </a:r>
            <a:r>
              <a:rPr dirty="0" sz="1100" spc="3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practices</a:t>
            </a:r>
            <a:r>
              <a:rPr dirty="0" sz="1100" spc="3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plays</a:t>
            </a:r>
            <a:r>
              <a:rPr dirty="0" sz="1100" spc="3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3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crucial</a:t>
            </a:r>
            <a:r>
              <a:rPr dirty="0" sz="1100" spc="3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role</a:t>
            </a:r>
            <a:r>
              <a:rPr dirty="0" sz="1100" spc="3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3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preventing </a:t>
            </a:r>
            <a:r>
              <a:rPr dirty="0" sz="1100">
                <a:latin typeface="Cambria Math"/>
                <a:cs typeface="Cambria Math"/>
              </a:rPr>
              <a:t>clickjacking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incidents.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Additionally,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routine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assessments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testing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pivotal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identifying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mitigating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vulnerabilities</a:t>
            </a:r>
            <a:r>
              <a:rPr dirty="0" sz="1100" spc="-10">
                <a:latin typeface="Cambria Math"/>
                <a:cs typeface="Cambria Math"/>
              </a:rPr>
              <a:t> associated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clickjacking.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paramount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importance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upholding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trust,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protection,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safeguarding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organization's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reputation.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253365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path: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http://testfire.net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/</a:t>
            </a:r>
            <a:endParaRPr sz="1100">
              <a:latin typeface="Cambria Math"/>
              <a:cs typeface="Cambria Math"/>
            </a:endParaRPr>
          </a:p>
          <a:p>
            <a:pPr marL="253365" marR="3591560">
              <a:lnSpc>
                <a:spcPct val="190900"/>
              </a:lnSpc>
              <a:spcBef>
                <a:spcPts val="395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http://testfire.net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/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 lvl="1" marL="709930" indent="-227965">
              <a:lnSpc>
                <a:spcPct val="100000"/>
              </a:lnSpc>
              <a:spcBef>
                <a:spcPts val="1215"/>
              </a:spcBef>
              <a:buFont typeface="Wingdings"/>
              <a:buChar char=""/>
              <a:tabLst>
                <a:tab pos="709930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3480" y="1181100"/>
            <a:ext cx="5771388" cy="1298448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775" y="4102608"/>
            <a:ext cx="5501639" cy="172821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30604" y="3364205"/>
            <a:ext cx="5979160" cy="5499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80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Then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take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URL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html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code</a:t>
            </a:r>
            <a:endParaRPr sz="1100">
              <a:latin typeface="Cambria Math"/>
              <a:cs typeface="Cambria Math"/>
            </a:endParaRPr>
          </a:p>
          <a:p>
            <a:pPr marL="240665" marR="5080" indent="-228600">
              <a:lnSpc>
                <a:spcPct val="100000"/>
              </a:lnSpc>
              <a:spcBef>
                <a:spcPts val="85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writing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some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html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0">
                <a:latin typeface="Cambria Math"/>
                <a:cs typeface="Cambria Math"/>
              </a:rPr>
              <a:t> vulnerability.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writing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vs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better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flexibility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functionality.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0604" y="5825109"/>
            <a:ext cx="510159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>
                <a:latin typeface="Cambria Math"/>
                <a:cs typeface="Cambria Math"/>
              </a:rPr>
              <a:t>After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been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written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executing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browser.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8145018"/>
            <a:ext cx="6188075" cy="1551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469265" algn="l"/>
              </a:tabLst>
            </a:pP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image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can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been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found.</a:t>
            </a: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100" spc="-10">
                <a:latin typeface="Cambria Math"/>
                <a:cs typeface="Cambria Math"/>
              </a:rPr>
              <a:t>Recommendation:</a:t>
            </a:r>
            <a:endParaRPr sz="1100">
              <a:latin typeface="Cambria Math"/>
              <a:cs typeface="Cambria Math"/>
            </a:endParaRPr>
          </a:p>
          <a:p>
            <a:pPr marL="469265" marR="508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100">
                <a:latin typeface="Cambria Math"/>
                <a:cs typeface="Cambria Math"/>
              </a:rPr>
              <a:t>Set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X-</a:t>
            </a:r>
            <a:r>
              <a:rPr dirty="0" sz="1100" spc="-10">
                <a:latin typeface="Cambria Math"/>
                <a:cs typeface="Cambria Math"/>
              </a:rPr>
              <a:t>Frame-</a:t>
            </a:r>
            <a:r>
              <a:rPr dirty="0" sz="1100">
                <a:latin typeface="Cambria Math"/>
                <a:cs typeface="Cambria Math"/>
              </a:rPr>
              <a:t>Options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HTTP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response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header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deny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same-</a:t>
            </a:r>
            <a:r>
              <a:rPr dirty="0" sz="1100">
                <a:latin typeface="Cambria Math"/>
                <a:cs typeface="Cambria Math"/>
              </a:rPr>
              <a:t>origin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control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how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site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framed.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supported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most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modern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browsers.</a:t>
            </a:r>
            <a:endParaRPr sz="1100">
              <a:latin typeface="Cambria Math"/>
              <a:cs typeface="Cambria Math"/>
            </a:endParaRPr>
          </a:p>
          <a:p>
            <a:pPr marL="469265" marR="35560" indent="-2286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100">
                <a:latin typeface="Cambria Math"/>
                <a:cs typeface="Cambria Math"/>
              </a:rPr>
              <a:t>Utilize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frame-</a:t>
            </a:r>
            <a:r>
              <a:rPr dirty="0" sz="1100">
                <a:latin typeface="Cambria Math"/>
                <a:cs typeface="Cambria Math"/>
              </a:rPr>
              <a:t>busting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JavaScript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embedding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site </a:t>
            </a:r>
            <a:r>
              <a:rPr dirty="0" sz="1100">
                <a:latin typeface="Cambria Math"/>
                <a:cs typeface="Cambria Math"/>
              </a:rPr>
              <a:t>within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-10">
                <a:latin typeface="Cambria Math"/>
                <a:cs typeface="Cambria Math"/>
              </a:rPr>
              <a:t> iframes.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disrupt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clickjacking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attempts.</a:t>
            </a:r>
            <a:endParaRPr sz="1100">
              <a:latin typeface="Cambria Math"/>
              <a:cs typeface="Cambria Math"/>
            </a:endParaRPr>
          </a:p>
          <a:p>
            <a:pPr marL="469265" marR="91440" indent="-228600">
              <a:lnSpc>
                <a:spcPts val="131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100">
                <a:latin typeface="Cambria Math"/>
                <a:cs typeface="Cambria Math"/>
              </a:rPr>
              <a:t>Implement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Policy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restrict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domains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embed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iframes.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help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-10">
                <a:latin typeface="Cambria Math"/>
                <a:cs typeface="Cambria Math"/>
              </a:rPr>
              <a:t> unauthorized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framing.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7047" y="990600"/>
            <a:ext cx="5044439" cy="224332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45207" y="6024372"/>
            <a:ext cx="4008120" cy="1851660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0660" y="5786628"/>
            <a:ext cx="4913376" cy="218541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44500" y="976630"/>
            <a:ext cx="6668134" cy="4809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7100" marR="508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927100" algn="l"/>
              </a:tabLst>
            </a:pPr>
            <a:r>
              <a:rPr dirty="0" sz="1100" spc="-10">
                <a:latin typeface="Cambria Math"/>
                <a:cs typeface="Cambria Math"/>
              </a:rPr>
              <a:t>Implement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additional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controls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UI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redress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such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clickjacking,</a:t>
            </a:r>
            <a:r>
              <a:rPr dirty="0" sz="1100" spc="-10">
                <a:latin typeface="Cambria Math"/>
                <a:cs typeface="Cambria Math"/>
              </a:rPr>
              <a:t> within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application.</a:t>
            </a:r>
            <a:endParaRPr sz="1100">
              <a:latin typeface="Cambria Math"/>
              <a:cs typeface="Cambria Math"/>
            </a:endParaRPr>
          </a:p>
          <a:p>
            <a:pPr marL="227329" marR="2513965" indent="-215265">
              <a:lnSpc>
                <a:spcPct val="190000"/>
              </a:lnSpc>
              <a:spcBef>
                <a:spcPts val="75"/>
              </a:spcBef>
              <a:buAutoNum type="arabicPeriod" startAt="10"/>
              <a:tabLst>
                <a:tab pos="228600" algn="l"/>
              </a:tabLst>
            </a:pP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allows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password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auto-completion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310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190"/>
              </a:spcBef>
            </a:pPr>
            <a:r>
              <a:rPr dirty="0" sz="1100" spc="-10">
                <a:latin typeface="Cambria Math"/>
                <a:cs typeface="Cambria Math"/>
              </a:rPr>
              <a:t>Description:</a:t>
            </a:r>
            <a:endParaRPr sz="1100">
              <a:latin typeface="Cambria Math"/>
              <a:cs typeface="Cambria Math"/>
            </a:endParaRPr>
          </a:p>
          <a:p>
            <a:pPr marL="234950" marR="200660" indent="-12700">
              <a:lnSpc>
                <a:spcPct val="96700"/>
              </a:lnSpc>
              <a:spcBef>
                <a:spcPts val="90"/>
              </a:spcBef>
            </a:pPr>
            <a:r>
              <a:rPr dirty="0" sz="1100" spc="-10">
                <a:latin typeface="Cambria Math"/>
                <a:cs typeface="Cambria Math"/>
              </a:rPr>
              <a:t>Weaknesses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category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related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design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implementation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confidentiality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>
                <a:latin typeface="Cambria Math"/>
                <a:cs typeface="Cambria Math"/>
              </a:rPr>
              <a:t>integrity.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Frequently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deal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encoding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techniques,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encryption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libraries,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hashing algorithms.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weaknesses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category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could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lead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0">
                <a:latin typeface="Cambria Math"/>
                <a:cs typeface="Cambria Math"/>
              </a:rPr>
              <a:t> degradation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quality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not </a:t>
            </a:r>
            <a:r>
              <a:rPr dirty="0" sz="1100" spc="-10">
                <a:latin typeface="Cambria Math"/>
                <a:cs typeface="Cambria Math"/>
              </a:rPr>
              <a:t>addressed.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75"/>
              </a:spcBef>
            </a:pPr>
            <a:r>
              <a:rPr dirty="0" sz="1100" spc="-10">
                <a:latin typeface="Cambria Math"/>
                <a:cs typeface="Cambria Math"/>
              </a:rPr>
              <a:t>Business</a:t>
            </a:r>
            <a:r>
              <a:rPr dirty="0" sz="110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impact:</a:t>
            </a:r>
            <a:endParaRPr sz="1100">
              <a:latin typeface="Cambria Math"/>
              <a:cs typeface="Cambria Math"/>
            </a:endParaRPr>
          </a:p>
          <a:p>
            <a:pPr marL="234950" marR="34925" indent="-12700">
              <a:lnSpc>
                <a:spcPct val="96700"/>
              </a:lnSpc>
              <a:spcBef>
                <a:spcPts val="105"/>
              </a:spcBef>
            </a:pP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effectively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lessen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business consequences</a:t>
            </a:r>
            <a:r>
              <a:rPr dirty="0" sz="1100">
                <a:latin typeface="Cambria Math"/>
                <a:cs typeface="Cambria Math"/>
              </a:rPr>
              <a:t> associated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CWE-310,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organizations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must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prioritize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>
                <a:latin typeface="Cambria Math"/>
                <a:cs typeface="Cambria Math"/>
              </a:rPr>
              <a:t>adoption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cryptographic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practices.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entails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proper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password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storage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robust </a:t>
            </a:r>
            <a:r>
              <a:rPr dirty="0" sz="1100">
                <a:latin typeface="Cambria Math"/>
                <a:cs typeface="Cambria Math"/>
              </a:rPr>
              <a:t>encryption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key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management.</a:t>
            </a:r>
            <a:r>
              <a:rPr dirty="0" sz="110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Simultaneously,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conducting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routine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assessments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testing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is</a:t>
            </a:r>
            <a:r>
              <a:rPr dirty="0" sz="1100" spc="5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pivotal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detecting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mitigating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</a:t>
            </a:r>
            <a:r>
              <a:rPr dirty="0" sz="1100">
                <a:latin typeface="Cambria Math"/>
                <a:cs typeface="Cambria Math"/>
              </a:rPr>
              <a:t> related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cryptographic </a:t>
            </a:r>
            <a:r>
              <a:rPr dirty="0" sz="1100" spc="-10">
                <a:latin typeface="Cambria Math"/>
                <a:cs typeface="Cambria Math"/>
              </a:rPr>
              <a:t>issues.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Striving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10">
                <a:latin typeface="Cambria Math"/>
                <a:cs typeface="Cambria Math"/>
              </a:rPr>
              <a:t> compliance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pertinent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protection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regulations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industry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standards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equally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essential.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of </a:t>
            </a:r>
            <a:r>
              <a:rPr dirty="0" sz="1100">
                <a:latin typeface="Cambria Math"/>
                <a:cs typeface="Cambria Math"/>
              </a:rPr>
              <a:t>paramount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importance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upholding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trust,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preservation </a:t>
            </a:r>
            <a:r>
              <a:rPr dirty="0" sz="1100">
                <a:latin typeface="Cambria Math"/>
                <a:cs typeface="Cambria Math"/>
              </a:rPr>
              <a:t>of the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organization's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esteemed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reputation.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70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http://testfire.net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/</a:t>
            </a:r>
            <a:endParaRPr sz="1100">
              <a:latin typeface="Cambria Math"/>
              <a:cs typeface="Cambria Math"/>
            </a:endParaRPr>
          </a:p>
          <a:p>
            <a:pPr marL="228600" marR="3320415">
              <a:lnSpc>
                <a:spcPct val="195600"/>
              </a:lnSpc>
              <a:spcBef>
                <a:spcPts val="300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http://testfire.net/login.js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p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 lvl="1" marL="926465" indent="-227965">
              <a:lnSpc>
                <a:spcPct val="100000"/>
              </a:lnSpc>
              <a:spcBef>
                <a:spcPts val="1220"/>
              </a:spcBef>
              <a:buFont typeface="Wingdings"/>
              <a:buChar char=""/>
              <a:tabLst>
                <a:tab pos="926465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7732" y="3531108"/>
            <a:ext cx="2718816" cy="183489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44500" y="5806821"/>
            <a:ext cx="6696075" cy="405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27100" marR="40005" indent="-228600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927100" algn="l"/>
              </a:tabLst>
            </a:pP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image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see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usernames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passwords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getting</a:t>
            </a:r>
            <a:r>
              <a:rPr dirty="0" sz="1100" spc="1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auto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filled.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 spc="-50">
                <a:latin typeface="Cambria Math"/>
                <a:cs typeface="Cambria Math"/>
              </a:rPr>
              <a:t>a</a:t>
            </a:r>
            <a:r>
              <a:rPr dirty="0" sz="1100">
                <a:latin typeface="Cambria Math"/>
                <a:cs typeface="Cambria Math"/>
              </a:rPr>
              <a:t> potential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 can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 doorway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attackers.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60"/>
              </a:spcBef>
            </a:pPr>
            <a:r>
              <a:rPr dirty="0" sz="1100" spc="-10">
                <a:latin typeface="Cambria Math"/>
                <a:cs typeface="Cambria Math"/>
              </a:rPr>
              <a:t>Responsibilities:</a:t>
            </a:r>
            <a:endParaRPr sz="1100">
              <a:latin typeface="Cambria Math"/>
              <a:cs typeface="Cambria Math"/>
            </a:endParaRPr>
          </a:p>
          <a:p>
            <a:pPr marL="698500" marR="37465" indent="-228600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Implement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password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storage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mechanisms,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strong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salted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cryptographic </a:t>
            </a:r>
            <a:r>
              <a:rPr dirty="0" sz="1100">
                <a:latin typeface="Cambria Math"/>
                <a:cs typeface="Cambria Math"/>
              </a:rPr>
              <a:t>hashing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algorithms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like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bcrypt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scrypt.</a:t>
            </a:r>
            <a:endParaRPr sz="1100">
              <a:latin typeface="Cambria Math"/>
              <a:cs typeface="Cambria Math"/>
            </a:endParaRPr>
          </a:p>
          <a:p>
            <a:pPr marL="698500" marR="36830" indent="-228600">
              <a:lnSpc>
                <a:spcPct val="100899"/>
              </a:lnSpc>
              <a:spcBef>
                <a:spcPts val="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Implement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robust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encryption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key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management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practices,</a:t>
            </a:r>
            <a:r>
              <a:rPr dirty="0" sz="1100" spc="-10">
                <a:latin typeface="Cambria Math"/>
                <a:cs typeface="Cambria Math"/>
              </a:rPr>
              <a:t> including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key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storage,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key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rotation,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10">
                <a:latin typeface="Cambria Math"/>
                <a:cs typeface="Cambria Math"/>
              </a:rPr>
              <a:t> controls.</a:t>
            </a:r>
            <a:endParaRPr sz="1100">
              <a:latin typeface="Cambria Math"/>
              <a:cs typeface="Cambria Math"/>
            </a:endParaRPr>
          </a:p>
          <a:p>
            <a:pPr marL="698500" marR="14859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Utilize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well-</a:t>
            </a:r>
            <a:r>
              <a:rPr dirty="0" sz="1100">
                <a:latin typeface="Cambria Math"/>
                <a:cs typeface="Cambria Math"/>
              </a:rPr>
              <a:t>established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proven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cryptographic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libraries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algorithms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encryption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 spc="-10">
                <a:latin typeface="Cambria Math"/>
                <a:cs typeface="Cambria Math"/>
              </a:rPr>
              <a:t>decryption.</a:t>
            </a:r>
            <a:endParaRPr sz="1100">
              <a:latin typeface="Cambria Math"/>
              <a:cs typeface="Cambria Math"/>
            </a:endParaRPr>
          </a:p>
          <a:p>
            <a:pPr marL="698500" marR="111125" indent="-228600">
              <a:lnSpc>
                <a:spcPct val="101800"/>
              </a:lnSpc>
              <a:spcBef>
                <a:spcPts val="6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encryption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protocols,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like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TLS/SSL,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transmission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over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networks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</a:t>
            </a:r>
            <a:r>
              <a:rPr dirty="0" sz="1100" spc="-20">
                <a:latin typeface="Cambria Math"/>
                <a:cs typeface="Cambria Math"/>
              </a:rPr>
              <a:t> data </a:t>
            </a:r>
            <a:r>
              <a:rPr dirty="0" sz="1100">
                <a:latin typeface="Cambria Math"/>
                <a:cs typeface="Cambria Math"/>
              </a:rPr>
              <a:t>in </a:t>
            </a:r>
            <a:r>
              <a:rPr dirty="0" sz="1100" spc="-10">
                <a:latin typeface="Cambria Math"/>
                <a:cs typeface="Cambria Math"/>
              </a:rPr>
              <a:t>transit.</a:t>
            </a: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100">
                <a:latin typeface="Cambria Math"/>
                <a:cs typeface="Cambria Math"/>
              </a:rPr>
              <a:t>11.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Cross-</a:t>
            </a:r>
            <a:r>
              <a:rPr dirty="0" sz="1100">
                <a:latin typeface="Cambria Math"/>
                <a:cs typeface="Cambria Math"/>
              </a:rPr>
              <a:t>site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scripting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(DOM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based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XSS)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00"/>
              </a:spcBef>
            </a:pP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79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25"/>
              </a:spcBef>
            </a:pPr>
            <a:r>
              <a:rPr dirty="0" sz="1100">
                <a:latin typeface="Cambria Math"/>
                <a:cs typeface="Cambria Math"/>
              </a:rPr>
              <a:t>OWASP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category: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A03: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Injections</a:t>
            </a:r>
            <a:endParaRPr sz="1100">
              <a:latin typeface="Cambria Math"/>
              <a:cs typeface="Cambria Math"/>
            </a:endParaRPr>
          </a:p>
          <a:p>
            <a:pPr marL="234950" marR="5080" indent="-6350">
              <a:lnSpc>
                <a:spcPct val="100000"/>
              </a:lnSpc>
              <a:spcBef>
                <a:spcPts val="1200"/>
              </a:spcBef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occurs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when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injected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directly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vulnerable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application.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Reflected </a:t>
            </a:r>
            <a:r>
              <a:rPr dirty="0" sz="1100">
                <a:latin typeface="Cambria Math"/>
                <a:cs typeface="Cambria Math"/>
              </a:rPr>
              <a:t>XSS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involves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reflection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malicious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onto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user's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browser.</a:t>
            </a:r>
            <a:endParaRPr sz="1100">
              <a:latin typeface="Cambria Math"/>
              <a:cs typeface="Cambria Math"/>
            </a:endParaRPr>
          </a:p>
          <a:p>
            <a:pPr algn="just" marL="234950" marR="8890" indent="-6350">
              <a:lnSpc>
                <a:spcPct val="100499"/>
              </a:lnSpc>
              <a:spcBef>
                <a:spcPts val="1275"/>
              </a:spcBef>
            </a:pPr>
            <a:r>
              <a:rPr dirty="0" sz="1100" spc="-10">
                <a:latin typeface="Cambria Math"/>
                <a:cs typeface="Cambria Math"/>
              </a:rPr>
              <a:t>DOM-</a:t>
            </a:r>
            <a:r>
              <a:rPr dirty="0" sz="1100">
                <a:latin typeface="Cambria Math"/>
                <a:cs typeface="Cambria Math"/>
              </a:rPr>
              <a:t>XSS: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DOM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stands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Document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Object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Model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programming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interface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HTML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XML </a:t>
            </a:r>
            <a:r>
              <a:rPr dirty="0" sz="1100">
                <a:latin typeface="Cambria Math"/>
                <a:cs typeface="Cambria Math"/>
              </a:rPr>
              <a:t>documents.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represents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programs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change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document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structure,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style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webpage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is</a:t>
            </a:r>
            <a:r>
              <a:rPr dirty="0" sz="1100" spc="5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document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0">
                <a:latin typeface="Cambria Math"/>
                <a:cs typeface="Cambria Math"/>
              </a:rPr>
              <a:t> document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either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displayed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browser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window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HTML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Source.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3035" y="990600"/>
            <a:ext cx="2904743" cy="23241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552" y="3747516"/>
            <a:ext cx="5576316" cy="233019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60908" y="976630"/>
            <a:ext cx="6480810" cy="2583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415" marR="5080" indent="-6350">
              <a:lnSpc>
                <a:spcPct val="100499"/>
              </a:lnSpc>
              <a:spcBef>
                <a:spcPts val="95"/>
              </a:spcBef>
            </a:pP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Impact: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stores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dangerous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database,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message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forum,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visitor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log,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other </a:t>
            </a:r>
            <a:r>
              <a:rPr dirty="0" sz="1100">
                <a:latin typeface="Cambria Math"/>
                <a:cs typeface="Cambria Math"/>
              </a:rPr>
              <a:t>trusted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store.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Later, the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dangerous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subsequently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read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back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into the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included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in </a:t>
            </a:r>
            <a:r>
              <a:rPr dirty="0" sz="1100">
                <a:latin typeface="Cambria Math"/>
                <a:cs typeface="Cambria Math"/>
              </a:rPr>
              <a:t>dynamic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content.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attacker's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perspective,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optimal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place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inject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area </a:t>
            </a:r>
            <a:r>
              <a:rPr dirty="0" sz="1100">
                <a:latin typeface="Cambria Math"/>
                <a:cs typeface="Cambria Math"/>
              </a:rPr>
              <a:t>displayed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many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particularly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interesting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users.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Interesting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typically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have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elevated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privileges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interact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that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valuable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attacker.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executes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content,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attacker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may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able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privileged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operations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behalf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gain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belonging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user.</a:t>
            </a:r>
            <a:endParaRPr sz="1100">
              <a:latin typeface="Cambria Math"/>
              <a:cs typeface="Cambria Math"/>
            </a:endParaRPr>
          </a:p>
          <a:p>
            <a:pPr algn="just" marL="12700">
              <a:lnSpc>
                <a:spcPct val="100000"/>
              </a:lnSpc>
              <a:spcBef>
                <a:spcPts val="1250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https://vit.ac.in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/</a:t>
            </a:r>
            <a:endParaRPr sz="1100">
              <a:latin typeface="Cambria Math"/>
              <a:cs typeface="Cambria Math"/>
            </a:endParaRPr>
          </a:p>
          <a:p>
            <a:pPr marL="12700" marR="3968750">
              <a:lnSpc>
                <a:spcPct val="217499"/>
              </a:lnSpc>
              <a:spcBef>
                <a:spcPts val="10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https://vit.ac.in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/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 marL="239395" indent="-226695">
              <a:lnSpc>
                <a:spcPct val="100000"/>
              </a:lnSpc>
              <a:spcBef>
                <a:spcPts val="1220"/>
              </a:spcBef>
              <a:buFont typeface="Wingdings"/>
              <a:buChar char=""/>
              <a:tabLst>
                <a:tab pos="239395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0908" y="6265545"/>
            <a:ext cx="6332855" cy="683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39395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try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DOM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XSS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displaying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source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webpage.</a:t>
            </a:r>
            <a:endParaRPr sz="1100">
              <a:latin typeface="Cambria Math"/>
              <a:cs typeface="Cambria Math"/>
            </a:endParaRPr>
          </a:p>
          <a:p>
            <a:pPr marL="238760" marR="5080" indent="-226695">
              <a:lnSpc>
                <a:spcPts val="1310"/>
              </a:lnSpc>
              <a:spcBef>
                <a:spcPts val="1275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Now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source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webpage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two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ways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clicking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inspect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by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simply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pressing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Ctrl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+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U.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4439539"/>
            <a:ext cx="6697980" cy="55302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55295" indent="-22669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455295" algn="l"/>
              </a:tabLst>
            </a:pPr>
            <a:r>
              <a:rPr dirty="0" sz="1100">
                <a:latin typeface="Cambria Math"/>
                <a:cs typeface="Cambria Math"/>
              </a:rPr>
              <a:t>Many</a:t>
            </a:r>
            <a:r>
              <a:rPr dirty="0" sz="1100" spc="-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programs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help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alter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source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vulnerable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spots.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Font typeface="Wingdings"/>
              <a:buChar char=""/>
            </a:pPr>
            <a:endParaRPr sz="1100">
              <a:latin typeface="Cambria Math"/>
              <a:cs typeface="Cambria Math"/>
            </a:endParaRPr>
          </a:p>
          <a:p>
            <a:pPr marL="455295" marR="45085" indent="-226695">
              <a:lnSpc>
                <a:spcPct val="100000"/>
              </a:lnSpc>
              <a:buFont typeface="Wingdings"/>
              <a:buChar char=""/>
              <a:tabLst>
                <a:tab pos="457834" algn="l"/>
              </a:tabLst>
            </a:pPr>
            <a:r>
              <a:rPr dirty="0" sz="1100">
                <a:latin typeface="Cambria Math"/>
                <a:cs typeface="Cambria Math"/>
              </a:rPr>
              <a:t>So,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getting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source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webpage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lead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potential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can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abuse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loop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holes,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exploits,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accordingly.</a:t>
            </a: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1240"/>
              </a:spcBef>
            </a:pPr>
            <a:r>
              <a:rPr dirty="0" sz="1100" spc="-10">
                <a:latin typeface="Cambria Math"/>
                <a:cs typeface="Cambria Math"/>
              </a:rPr>
              <a:t>Recommendation:</a:t>
            </a:r>
            <a:endParaRPr sz="1100">
              <a:latin typeface="Cambria Math"/>
              <a:cs typeface="Cambria Math"/>
            </a:endParaRPr>
          </a:p>
          <a:p>
            <a:pPr marL="457834" marR="187960" indent="-2292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57834" algn="l"/>
              </a:tabLst>
            </a:pP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interacting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databases,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parameterized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statements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prepared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statements</a:t>
            </a:r>
            <a:r>
              <a:rPr dirty="0" sz="1100">
                <a:latin typeface="Cambria Math"/>
                <a:cs typeface="Cambria Math"/>
              </a:rPr>
              <a:t> to avoid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SQL </a:t>
            </a:r>
            <a:r>
              <a:rPr dirty="0" sz="1100">
                <a:latin typeface="Cambria Math"/>
                <a:cs typeface="Cambria Math"/>
              </a:rPr>
              <a:t>injection,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vector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XSS.</a:t>
            </a:r>
            <a:endParaRPr sz="1100">
              <a:latin typeface="Cambria Math"/>
              <a:cs typeface="Cambria Math"/>
            </a:endParaRPr>
          </a:p>
          <a:p>
            <a:pPr marL="457834" marR="41910" indent="-229235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457834" algn="l"/>
              </a:tabLst>
            </a:pPr>
            <a:r>
              <a:rPr dirty="0" sz="1100">
                <a:latin typeface="Cambria Math"/>
                <a:cs typeface="Cambria Math"/>
              </a:rPr>
              <a:t>Sanitize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validate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inputs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any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displayed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page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properly </a:t>
            </a:r>
            <a:r>
              <a:rPr dirty="0" sz="1100">
                <a:latin typeface="Cambria Math"/>
                <a:cs typeface="Cambria Math"/>
              </a:rPr>
              <a:t>encoded.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10">
                <a:latin typeface="Cambria Math"/>
                <a:cs typeface="Cambria Math"/>
              </a:rPr>
              <a:t> output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encoding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libraries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functions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injection.</a:t>
            </a:r>
            <a:endParaRPr sz="1100">
              <a:latin typeface="Cambria Math"/>
              <a:cs typeface="Cambria Math"/>
            </a:endParaRPr>
          </a:p>
          <a:p>
            <a:pPr marL="457834" marR="38100" indent="-229235">
              <a:lnSpc>
                <a:spcPts val="1310"/>
              </a:lnSpc>
              <a:spcBef>
                <a:spcPts val="135"/>
              </a:spcBef>
              <a:buFont typeface="Arial MT"/>
              <a:buChar char="•"/>
              <a:tabLst>
                <a:tab pos="457834" algn="l"/>
              </a:tabLst>
            </a:pPr>
            <a:r>
              <a:rPr dirty="0" sz="1100">
                <a:latin typeface="Cambria Math"/>
                <a:cs typeface="Cambria Math"/>
              </a:rPr>
              <a:t>Avoid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DOM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manipulation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methods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that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introduce vulnerabilities.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cautious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with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inner</a:t>
            </a:r>
            <a:r>
              <a:rPr dirty="0" sz="1100" spc="-10">
                <a:latin typeface="Cambria Math"/>
                <a:cs typeface="Cambria Math"/>
              </a:rPr>
              <a:t> HTML, document.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Write,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other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methods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execute scripts.</a:t>
            </a:r>
            <a:endParaRPr sz="1100">
              <a:latin typeface="Cambria Math"/>
              <a:cs typeface="Cambria Math"/>
            </a:endParaRPr>
          </a:p>
          <a:p>
            <a:pPr marL="457834" marR="176530" indent="-22923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457834" algn="l"/>
              </a:tabLst>
            </a:pPr>
            <a:r>
              <a:rPr dirty="0" sz="1100">
                <a:latin typeface="Cambria Math"/>
                <a:cs typeface="Cambria Math"/>
              </a:rPr>
              <a:t>Consider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well-</a:t>
            </a:r>
            <a:r>
              <a:rPr dirty="0" sz="1100">
                <a:latin typeface="Cambria Math"/>
                <a:cs typeface="Cambria Math"/>
              </a:rPr>
              <a:t>established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JavaScript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frameworks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libraries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include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built-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 </a:t>
            </a:r>
            <a:r>
              <a:rPr dirty="0" sz="1100">
                <a:latin typeface="Cambria Math"/>
                <a:cs typeface="Cambria Math"/>
              </a:rPr>
              <a:t>features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prevent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DOM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XSS.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mbria Math"/>
                <a:cs typeface="Cambria Math"/>
              </a:rPr>
              <a:t>12.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JQuery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1.2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&lt;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3.5.0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Multiple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XSS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</a:pP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79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</a:pPr>
            <a:r>
              <a:rPr dirty="0" sz="1100">
                <a:latin typeface="Cambria Math"/>
                <a:cs typeface="Cambria Math"/>
              </a:rPr>
              <a:t>OWASP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category: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A03: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Injections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Cambria Math"/>
              <a:cs typeface="Cambria Math"/>
            </a:endParaRPr>
          </a:p>
          <a:p>
            <a:pPr marL="228600" marR="482600">
              <a:lnSpc>
                <a:spcPct val="108200"/>
              </a:lnSpc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occurs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injected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directly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vulnerable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application. Reflected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XSS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involves 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reflection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malicious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application,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onto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user's </a:t>
            </a:r>
            <a:r>
              <a:rPr dirty="0" sz="1100" spc="-10">
                <a:latin typeface="Cambria Math"/>
                <a:cs typeface="Cambria Math"/>
              </a:rPr>
              <a:t>browser.</a:t>
            </a:r>
            <a:endParaRPr sz="1100">
              <a:latin typeface="Cambria Math"/>
              <a:cs typeface="Cambria Math"/>
            </a:endParaRPr>
          </a:p>
          <a:p>
            <a:pPr algn="just" marL="234950" marR="120650" indent="-6350">
              <a:lnSpc>
                <a:spcPct val="100499"/>
              </a:lnSpc>
              <a:spcBef>
                <a:spcPts val="1195"/>
              </a:spcBef>
            </a:pPr>
            <a:r>
              <a:rPr dirty="0" sz="1100">
                <a:latin typeface="Cambria Math"/>
                <a:cs typeface="Cambria Math"/>
              </a:rPr>
              <a:t>Stored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XSS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(Persistent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XSS):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type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permanently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server</a:t>
            </a:r>
            <a:r>
              <a:rPr dirty="0" sz="1100" spc="-25">
                <a:latin typeface="Cambria Math"/>
                <a:cs typeface="Cambria Math"/>
              </a:rPr>
              <a:t> or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database,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often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user-generated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like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comments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forum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posts.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other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view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>
                <a:latin typeface="Cambria Math"/>
                <a:cs typeface="Cambria Math"/>
              </a:rPr>
              <a:t>affected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executes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browsers,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potentially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compromising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sessions.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234950" marR="5080" indent="-6350">
              <a:lnSpc>
                <a:spcPct val="100499"/>
              </a:lnSpc>
              <a:spcBef>
                <a:spcPts val="5"/>
              </a:spcBef>
            </a:pPr>
            <a:r>
              <a:rPr dirty="0" sz="1100">
                <a:latin typeface="Cambria Math"/>
                <a:cs typeface="Cambria Math"/>
              </a:rPr>
              <a:t>Reflected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XSS: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Reflected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XSS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occurs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embedded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URL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immediately </a:t>
            </a:r>
            <a:r>
              <a:rPr dirty="0" sz="1100">
                <a:latin typeface="Cambria Math"/>
                <a:cs typeface="Cambria Math"/>
              </a:rPr>
              <a:t>executed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victim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clicks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manipulated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link.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reflected </a:t>
            </a:r>
            <a:r>
              <a:rPr dirty="0" sz="1100">
                <a:latin typeface="Cambria Math"/>
                <a:cs typeface="Cambria Math"/>
              </a:rPr>
              <a:t>off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50">
                <a:latin typeface="Cambria Math"/>
                <a:cs typeface="Cambria Math"/>
              </a:rPr>
              <a:t>a</a:t>
            </a:r>
            <a:r>
              <a:rPr dirty="0" sz="1100">
                <a:latin typeface="Cambria Math"/>
                <a:cs typeface="Cambria Math"/>
              </a:rPr>
              <a:t> web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making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one-time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463" y="990600"/>
            <a:ext cx="5943599" cy="326440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2727" y="4408932"/>
            <a:ext cx="5573268" cy="233019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60908" y="976630"/>
            <a:ext cx="6478905" cy="3245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415" marR="165100" indent="-6350">
              <a:lnSpc>
                <a:spcPct val="100600"/>
              </a:lnSpc>
              <a:spcBef>
                <a:spcPts val="95"/>
              </a:spcBef>
            </a:pPr>
            <a:r>
              <a:rPr dirty="0" sz="1100" spc="-10">
                <a:latin typeface="Cambria Math"/>
                <a:cs typeface="Cambria Math"/>
              </a:rPr>
              <a:t>DOM-</a:t>
            </a:r>
            <a:r>
              <a:rPr dirty="0" sz="1100">
                <a:latin typeface="Cambria Math"/>
                <a:cs typeface="Cambria Math"/>
              </a:rPr>
              <a:t>based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XSS: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DOM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stands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Document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Object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Model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programming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interface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HTML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>
                <a:latin typeface="Cambria Math"/>
                <a:cs typeface="Cambria Math"/>
              </a:rPr>
              <a:t>XML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documents.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represents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programs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change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document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structure,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style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content.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 spc="-50">
                <a:latin typeface="Cambria Math"/>
                <a:cs typeface="Cambria Math"/>
              </a:rPr>
              <a:t>A</a:t>
            </a:r>
            <a:r>
              <a:rPr dirty="0" sz="1100">
                <a:latin typeface="Cambria Math"/>
                <a:cs typeface="Cambria Math"/>
              </a:rPr>
              <a:t> webpage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document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document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either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displayed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browser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window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HTML </a:t>
            </a:r>
            <a:r>
              <a:rPr dirty="0" sz="1100" spc="-10">
                <a:latin typeface="Cambria Math"/>
                <a:cs typeface="Cambria Math"/>
              </a:rPr>
              <a:t>Source.</a:t>
            </a:r>
            <a:endParaRPr sz="1100">
              <a:latin typeface="Cambria Math"/>
              <a:cs typeface="Cambria Math"/>
            </a:endParaRPr>
          </a:p>
          <a:p>
            <a:pPr algn="just" marL="18415" marR="5080" indent="-6350">
              <a:lnSpc>
                <a:spcPct val="100600"/>
              </a:lnSpc>
              <a:spcBef>
                <a:spcPts val="65"/>
              </a:spcBef>
            </a:pP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Impact: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stores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dangerous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database,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message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forum,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visitor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log,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other </a:t>
            </a:r>
            <a:r>
              <a:rPr dirty="0" sz="1100">
                <a:latin typeface="Cambria Math"/>
                <a:cs typeface="Cambria Math"/>
              </a:rPr>
              <a:t>trusted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store.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Later,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dangerous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subsequently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read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back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into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included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in </a:t>
            </a:r>
            <a:r>
              <a:rPr dirty="0" sz="1100">
                <a:latin typeface="Cambria Math"/>
                <a:cs typeface="Cambria Math"/>
              </a:rPr>
              <a:t>dynamic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content.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attacker's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perspective,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optimal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place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inject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area </a:t>
            </a:r>
            <a:r>
              <a:rPr dirty="0" sz="1100">
                <a:latin typeface="Cambria Math"/>
                <a:cs typeface="Cambria Math"/>
              </a:rPr>
              <a:t>displayed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many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particularly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interesting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Interesting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typically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have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elevated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privileges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interact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sensitive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valuable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attacker.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executes </a:t>
            </a:r>
            <a:r>
              <a:rPr dirty="0" sz="1100">
                <a:latin typeface="Cambria Math"/>
                <a:cs typeface="Cambria Math"/>
              </a:rPr>
              <a:t>malicious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content,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attacker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may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able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privileged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operations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behalf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gain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belonging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user.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https://vit.ac.in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3"/>
              </a:rPr>
              <a:t>/</a:t>
            </a:r>
            <a:endParaRPr sz="1100">
              <a:latin typeface="Cambria Math"/>
              <a:cs typeface="Cambria Math"/>
            </a:endParaRPr>
          </a:p>
          <a:p>
            <a:pPr marL="18415" marR="597535" indent="-6350">
              <a:lnSpc>
                <a:spcPct val="185500"/>
              </a:lnSpc>
              <a:spcBef>
                <a:spcPts val="445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2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parameter:</a:t>
            </a:r>
            <a:r>
              <a:rPr dirty="0" sz="1100" spc="280">
                <a:latin typeface="Cambria Math"/>
                <a:cs typeface="Cambria Math"/>
              </a:rPr>
              <a:t> </a:t>
            </a:r>
            <a:r>
              <a:rPr dirty="0" u="sng" sz="1100" spc="-2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https://vit.ac.in/sites/all/themes/vittheme/js/jquer</a:t>
            </a:r>
            <a:r>
              <a:rPr dirty="0" u="sng" sz="1100" spc="-2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y</a:t>
            </a:r>
            <a:r>
              <a:rPr dirty="0" u="sng" sz="1100" spc="-2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-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2.1.1.min.js?rdiap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4"/>
              </a:rPr>
              <a:t>4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 marL="242570" indent="-229870">
              <a:lnSpc>
                <a:spcPct val="100000"/>
              </a:lnSpc>
              <a:spcBef>
                <a:spcPts val="1165"/>
              </a:spcBef>
              <a:buFont typeface="Wingdings"/>
              <a:buChar char=""/>
              <a:tabLst>
                <a:tab pos="242570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0908" y="6926961"/>
            <a:ext cx="6271895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935" marR="5080" indent="-229870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44475" algn="l"/>
              </a:tabLst>
            </a:pPr>
            <a:r>
              <a:rPr dirty="0" sz="1100">
                <a:latin typeface="Cambria Math"/>
                <a:cs typeface="Cambria Math"/>
              </a:rPr>
              <a:t>Try to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URL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5"/>
              </a:rPr>
              <a:t>https://vit.ac.in/sites/all/themes/vittheme/js/jquer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5"/>
              </a:rPr>
              <a:t>y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5"/>
              </a:rPr>
              <a:t>-</a:t>
            </a:r>
            <a:r>
              <a:rPr dirty="0" sz="1100" spc="5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  <a:hlinkClick r:id="rId5"/>
              </a:rPr>
              <a:t>.</a:t>
            </a:r>
            <a:r>
              <a:rPr dirty="0" sz="1100">
                <a:latin typeface="Cambria Math"/>
                <a:cs typeface="Cambria Math"/>
              </a:rPr>
              <a:t> This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lead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webpage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jquery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it.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6267" y="4415028"/>
            <a:ext cx="2167128" cy="62483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60908" y="4032630"/>
            <a:ext cx="428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42570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also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jquery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version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been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website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5032375"/>
            <a:ext cx="6697980" cy="4960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58470" marR="110489" indent="-229870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461009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source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jquery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been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making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can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lead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multiple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potential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threats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Wingdings"/>
              <a:buChar char=""/>
            </a:pP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Recommendation:</a:t>
            </a:r>
            <a:endParaRPr sz="1100">
              <a:latin typeface="Cambria Math"/>
              <a:cs typeface="Cambria Math"/>
            </a:endParaRPr>
          </a:p>
          <a:p>
            <a:pPr algn="just" lvl="1" marL="687070" marR="9525" indent="-224790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690880" algn="l"/>
              </a:tabLst>
            </a:pP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most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important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recommendation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update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latest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version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jQuery.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Newer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versions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typically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patches,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fixes,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performance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improvements.</a:t>
            </a:r>
            <a:endParaRPr sz="1100">
              <a:latin typeface="Cambria Math"/>
              <a:cs typeface="Cambria Math"/>
            </a:endParaRPr>
          </a:p>
          <a:p>
            <a:pPr algn="just" lvl="1" marL="687070" marR="9525" indent="-224790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690880" algn="l"/>
              </a:tabLst>
            </a:pPr>
            <a:r>
              <a:rPr dirty="0" sz="1100">
                <a:latin typeface="Cambria Math"/>
                <a:cs typeface="Cambria Math"/>
              </a:rPr>
              <a:t>Stay</a:t>
            </a:r>
            <a:r>
              <a:rPr dirty="0" sz="1100" spc="2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vigilant</a:t>
            </a:r>
            <a:r>
              <a:rPr dirty="0" sz="1100" spc="2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about</a:t>
            </a:r>
            <a:r>
              <a:rPr dirty="0" sz="1100" spc="2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jQuery</a:t>
            </a:r>
            <a:r>
              <a:rPr dirty="0" sz="1100" spc="2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updates</a:t>
            </a:r>
            <a:r>
              <a:rPr dirty="0" sz="1100" spc="2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announcements.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Subscribe</a:t>
            </a:r>
            <a:r>
              <a:rPr dirty="0" sz="1100" spc="2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relevant</a:t>
            </a:r>
            <a:r>
              <a:rPr dirty="0" sz="1100" spc="2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mailing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lists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forums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receive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notifications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about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new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releases.</a:t>
            </a:r>
            <a:endParaRPr sz="1100">
              <a:latin typeface="Cambria Math"/>
              <a:cs typeface="Cambria Math"/>
            </a:endParaRPr>
          </a:p>
          <a:p>
            <a:pPr algn="just" lvl="1" marL="687070" marR="5080" indent="-224790">
              <a:lnSpc>
                <a:spcPct val="100499"/>
              </a:lnSpc>
              <a:spcBef>
                <a:spcPts val="75"/>
              </a:spcBef>
              <a:buFont typeface="Arial MT"/>
              <a:buChar char="•"/>
              <a:tabLst>
                <a:tab pos="690880" algn="l"/>
              </a:tabLst>
            </a:pP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Content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Policy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(CSP)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help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mitigate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various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types</a:t>
            </a:r>
            <a:r>
              <a:rPr dirty="0" sz="1100" spc="-20">
                <a:latin typeface="Cambria Math"/>
                <a:cs typeface="Cambria Math"/>
              </a:rPr>
              <a:t> of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client-</a:t>
            </a:r>
            <a:r>
              <a:rPr dirty="0" sz="1100">
                <a:latin typeface="Cambria Math"/>
                <a:cs typeface="Cambria Math"/>
              </a:rPr>
              <a:t>side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including 	Cross-</a:t>
            </a:r>
            <a:r>
              <a:rPr dirty="0" sz="1100">
                <a:latin typeface="Cambria Math"/>
                <a:cs typeface="Cambria Math"/>
              </a:rPr>
              <a:t>Site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Scripting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(XSS).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Consider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implementing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CSP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application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restrict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sources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scripts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loaded.</a:t>
            </a:r>
            <a:endParaRPr sz="1100">
              <a:latin typeface="Cambria Math"/>
              <a:cs typeface="Cambria Math"/>
            </a:endParaRPr>
          </a:p>
          <a:p>
            <a:pPr algn="just" lvl="1" marL="687070" marR="5080" indent="-224790">
              <a:lnSpc>
                <a:spcPct val="100899"/>
              </a:lnSpc>
              <a:spcBef>
                <a:spcPts val="70"/>
              </a:spcBef>
              <a:buFont typeface="Arial MT"/>
              <a:buChar char="•"/>
              <a:tabLst>
                <a:tab pos="690880" algn="l"/>
              </a:tabLst>
            </a:pP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updating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jQuery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immediately</a:t>
            </a:r>
            <a:r>
              <a:rPr dirty="0" sz="1100" spc="-10">
                <a:latin typeface="Cambria Math"/>
                <a:cs typeface="Cambria Math"/>
              </a:rPr>
              <a:t> possible,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review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code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potential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issues.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Ensure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escaping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sanitizing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inputs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safe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coding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practices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prevent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XSS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other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vulnerabilities.</a:t>
            </a:r>
            <a:endParaRPr sz="1100">
              <a:latin typeface="Cambria Math"/>
              <a:cs typeface="Cambria Math"/>
            </a:endParaRPr>
          </a:p>
          <a:p>
            <a:pPr marL="228600" marR="946150" indent="-216535">
              <a:lnSpc>
                <a:spcPts val="2900"/>
              </a:lnSpc>
              <a:spcBef>
                <a:spcPts val="320"/>
              </a:spcBef>
            </a:pPr>
            <a:r>
              <a:rPr dirty="0" sz="1100">
                <a:latin typeface="Cambria Math"/>
                <a:cs typeface="Cambria Math"/>
              </a:rPr>
              <a:t>13.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10">
                <a:latin typeface="Cambria Math"/>
                <a:cs typeface="Cambria Math"/>
              </a:rPr>
              <a:t> Information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Exposure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(Web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Server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HTTP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Header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Internal </a:t>
            </a:r>
            <a:r>
              <a:rPr dirty="0" sz="1100">
                <a:latin typeface="Cambria Math"/>
                <a:cs typeface="Cambria Math"/>
              </a:rPr>
              <a:t>IP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Disclosure) </a:t>
            </a: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200</a:t>
            </a:r>
            <a:endParaRPr sz="1100">
              <a:latin typeface="Cambria Math"/>
              <a:cs typeface="Cambria Math"/>
            </a:endParaRPr>
          </a:p>
          <a:p>
            <a:pPr marL="234950" marR="15875" indent="-6350">
              <a:lnSpc>
                <a:spcPct val="100000"/>
              </a:lnSpc>
              <a:spcBef>
                <a:spcPts val="1275"/>
              </a:spcBef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product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exposes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actor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explicitly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authorized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have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information.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234950" marR="6350" indent="-6350">
              <a:lnSpc>
                <a:spcPct val="100600"/>
              </a:lnSpc>
            </a:pP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Impact: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effectively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reduce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consequences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associated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CWE-</a:t>
            </a:r>
            <a:r>
              <a:rPr dirty="0" sz="1100">
                <a:latin typeface="Cambria Math"/>
                <a:cs typeface="Cambria Math"/>
              </a:rPr>
              <a:t>200,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organizations must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prioritize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implementation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robust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data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controls,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data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handling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practices,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privacy </a:t>
            </a:r>
            <a:r>
              <a:rPr dirty="0" sz="1100">
                <a:latin typeface="Cambria Math"/>
                <a:cs typeface="Cambria Math"/>
              </a:rPr>
              <a:t>protection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measures.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Regular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assessments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testing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instrumental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detecting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rectifying vulnerabilities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related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exposure. Furthermore,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strict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adherence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protection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regulations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industry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standards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indispensable.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paramount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importance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protection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of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preservation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trust,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upholding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organization's </a:t>
            </a:r>
            <a:r>
              <a:rPr dirty="0" sz="1100">
                <a:latin typeface="Cambria Math"/>
                <a:cs typeface="Cambria Math"/>
              </a:rPr>
              <a:t>esteemed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reputation.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39" y="990600"/>
            <a:ext cx="6169152" cy="28575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2662428"/>
            <a:ext cx="4980432" cy="173126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180" y="4853940"/>
            <a:ext cx="6068568" cy="169926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59383" y="1167130"/>
            <a:ext cx="2881630" cy="1290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0125" algn="l"/>
                <a:tab pos="1521460" algn="l"/>
              </a:tabLst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	</a:t>
            </a:r>
            <a:r>
              <a:rPr dirty="0" sz="1100" spc="-20">
                <a:latin typeface="Cambria Math"/>
                <a:cs typeface="Cambria Math"/>
              </a:rPr>
              <a:t>path:</a:t>
            </a:r>
            <a:r>
              <a:rPr dirty="0" sz="1100">
                <a:latin typeface="Cambria Math"/>
                <a:cs typeface="Cambria Math"/>
              </a:rPr>
              <a:t>	</a:t>
            </a:r>
            <a:r>
              <a:rPr dirty="0" sz="1100" spc="-10">
                <a:latin typeface="Cambria Math"/>
                <a:cs typeface="Cambria Math"/>
              </a:rPr>
              <a:t>https://vit.ac.in/</a:t>
            </a:r>
            <a:endParaRPr sz="1100">
              <a:latin typeface="Cambria Math"/>
              <a:cs typeface="Cambria Math"/>
            </a:endParaRPr>
          </a:p>
          <a:p>
            <a:pPr marL="13970" marR="5080">
              <a:lnSpc>
                <a:spcPct val="218200"/>
              </a:lnSpc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https://vit.ac.in/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Steps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Reproduce: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Cambria Math"/>
              <a:cs typeface="Cambria Math"/>
            </a:endParaRPr>
          </a:p>
          <a:p>
            <a:pPr marL="240665" indent="-226695">
              <a:lnSpc>
                <a:spcPct val="100000"/>
              </a:lnSpc>
              <a:spcBef>
                <a:spcPts val="5"/>
              </a:spcBef>
              <a:buFont typeface="Wingdings"/>
              <a:buChar char=""/>
              <a:tabLst>
                <a:tab pos="240665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0908" y="4655947"/>
            <a:ext cx="467360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239395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(Nessus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Scanner)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0908" y="6730975"/>
            <a:ext cx="6429375" cy="379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8760" marR="5080" indent="-226695">
              <a:lnSpc>
                <a:spcPct val="105500"/>
              </a:lnSpc>
              <a:spcBef>
                <a:spcPts val="95"/>
              </a:spcBef>
              <a:buFont typeface="Wingdings"/>
              <a:buChar char=""/>
              <a:tabLst>
                <a:tab pos="244475" algn="l"/>
              </a:tabLst>
            </a:pPr>
            <a:r>
              <a:rPr dirty="0" sz="1100">
                <a:latin typeface="Cambria Math"/>
                <a:cs typeface="Cambria Math"/>
              </a:rPr>
              <a:t>Through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along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detailed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regarding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that </a:t>
            </a:r>
            <a:r>
              <a:rPr dirty="0" sz="1100" spc="-20">
                <a:latin typeface="Cambria Math"/>
                <a:cs typeface="Cambria Math"/>
              </a:rPr>
              <a:t>	</a:t>
            </a:r>
            <a:r>
              <a:rPr dirty="0" sz="1100" spc="-10">
                <a:latin typeface="Cambria Math"/>
                <a:cs typeface="Cambria Math"/>
              </a:rPr>
              <a:t>vulnerability.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4474591"/>
            <a:ext cx="6687184" cy="5483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55295" marR="95250" indent="-226695">
              <a:lnSpc>
                <a:spcPct val="100000"/>
              </a:lnSpc>
              <a:spcBef>
                <a:spcPts val="105"/>
              </a:spcBef>
              <a:buFont typeface="Wingdings"/>
              <a:buChar char=""/>
              <a:tabLst>
                <a:tab pos="457834" algn="l"/>
              </a:tabLst>
            </a:pPr>
            <a:r>
              <a:rPr dirty="0" sz="1100">
                <a:latin typeface="Cambria Math"/>
                <a:cs typeface="Cambria Math"/>
              </a:rPr>
              <a:t>Now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image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tells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internal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IP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address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target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attackers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easily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exploit</a:t>
            </a:r>
            <a:r>
              <a:rPr dirty="0" sz="1100" spc="-25">
                <a:latin typeface="Cambria Math"/>
                <a:cs typeface="Cambria Math"/>
              </a:rPr>
              <a:t> the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website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ip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address.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Cambria Math"/>
                <a:cs typeface="Cambria Math"/>
              </a:rPr>
              <a:t>Recommendation:</a:t>
            </a:r>
            <a:endParaRPr sz="1100">
              <a:latin typeface="Cambria Math"/>
              <a:cs typeface="Cambria Math"/>
            </a:endParaRPr>
          </a:p>
          <a:p>
            <a:pPr marL="457834" marR="152400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457834" algn="l"/>
              </a:tabLst>
            </a:pPr>
            <a:r>
              <a:rPr dirty="0" sz="1100">
                <a:latin typeface="Cambria Math"/>
                <a:cs typeface="Cambria Math"/>
              </a:rPr>
              <a:t>Carefully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review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server's</a:t>
            </a:r>
            <a:r>
              <a:rPr dirty="0" sz="1100" spc="-10">
                <a:latin typeface="Cambria Math"/>
                <a:cs typeface="Cambria Math"/>
              </a:rPr>
              <a:t> configuration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files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(e.g.,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Apache's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httpd.conf,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Nginx's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nginx.conf)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to </a:t>
            </a:r>
            <a:r>
              <a:rPr dirty="0" sz="1100">
                <a:latin typeface="Cambria Math"/>
                <a:cs typeface="Cambria Math"/>
              </a:rPr>
              <a:t>identify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anywhere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internal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IP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addresses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inadvertently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HTTP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response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headers.</a:t>
            </a:r>
            <a:endParaRPr sz="1100">
              <a:latin typeface="Cambria Math"/>
              <a:cs typeface="Cambria Math"/>
            </a:endParaRPr>
          </a:p>
          <a:p>
            <a:pPr marL="457834" marR="23495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457834" algn="l"/>
              </a:tabLst>
            </a:pPr>
            <a:r>
              <a:rPr dirty="0" sz="1100">
                <a:latin typeface="Cambria Math"/>
                <a:cs typeface="Cambria Math"/>
              </a:rPr>
              <a:t>Remove</a:t>
            </a:r>
            <a:r>
              <a:rPr dirty="0" sz="1100" spc="3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3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replace</a:t>
            </a:r>
            <a:r>
              <a:rPr dirty="0" sz="1100" spc="3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any</a:t>
            </a:r>
            <a:r>
              <a:rPr dirty="0" sz="1100" spc="3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internal</a:t>
            </a:r>
            <a:r>
              <a:rPr dirty="0" sz="1100" spc="3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IP</a:t>
            </a:r>
            <a:r>
              <a:rPr dirty="0" sz="1100" spc="3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addresses</a:t>
            </a:r>
            <a:r>
              <a:rPr dirty="0" sz="1100" spc="3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3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server</a:t>
            </a:r>
            <a:r>
              <a:rPr dirty="0" sz="1100" spc="3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configuration</a:t>
            </a:r>
            <a:r>
              <a:rPr dirty="0" sz="1100" spc="3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files</a:t>
            </a:r>
            <a:r>
              <a:rPr dirty="0" sz="1100" spc="3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3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appropriate </a:t>
            </a:r>
            <a:r>
              <a:rPr dirty="0" sz="1100">
                <a:latin typeface="Cambria Math"/>
                <a:cs typeface="Cambria Math"/>
              </a:rPr>
              <a:t>placeholders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public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IP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addresses.</a:t>
            </a:r>
            <a:endParaRPr sz="1100">
              <a:latin typeface="Cambria Math"/>
              <a:cs typeface="Cambria Math"/>
            </a:endParaRPr>
          </a:p>
          <a:p>
            <a:pPr marL="457834" marR="70485" indent="-229235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457834" algn="l"/>
              </a:tabLst>
            </a:pP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proxy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servers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load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balancers,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configured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hide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internal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IP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addresses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only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expose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public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IP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addresses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instances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HTTP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headers.</a:t>
            </a:r>
            <a:endParaRPr sz="1100">
              <a:latin typeface="Cambria Math"/>
              <a:cs typeface="Cambria Math"/>
            </a:endParaRPr>
          </a:p>
          <a:p>
            <a:pPr marL="457834" marR="27940" indent="-229235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457834" algn="l"/>
              </a:tabLst>
            </a:pPr>
            <a:r>
              <a:rPr dirty="0" sz="1100">
                <a:latin typeface="Cambria Math"/>
                <a:cs typeface="Cambria Math"/>
              </a:rPr>
              <a:t>Review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6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configure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HTTP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response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headers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(e.g.,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Server,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X-</a:t>
            </a:r>
            <a:r>
              <a:rPr dirty="0" sz="1100" spc="-10">
                <a:latin typeface="Cambria Math"/>
                <a:cs typeface="Cambria Math"/>
              </a:rPr>
              <a:t>Powered-By)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to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limit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exposure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server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technology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details,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reducing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potential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disclosing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internal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IP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addresses.</a:t>
            </a:r>
            <a:endParaRPr sz="1100">
              <a:latin typeface="Cambria Math"/>
              <a:cs typeface="Cambria Math"/>
            </a:endParaRPr>
          </a:p>
          <a:p>
            <a:pPr marL="228600" marR="2531745" indent="-216535">
              <a:lnSpc>
                <a:spcPct val="208199"/>
              </a:lnSpc>
              <a:spcBef>
                <a:spcPts val="130"/>
              </a:spcBef>
            </a:pPr>
            <a:r>
              <a:rPr dirty="0" sz="1100">
                <a:latin typeface="Cambria Math"/>
                <a:cs typeface="Cambria Math"/>
              </a:rPr>
              <a:t>14.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name: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Information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Exposure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(SSL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(Multiple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Issues)) </a:t>
            </a: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200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234950" marR="5080" indent="-6350">
              <a:lnSpc>
                <a:spcPct val="100000"/>
              </a:lnSpc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product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exposes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actor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explicitly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authorized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have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information.</a:t>
            </a:r>
            <a:endParaRPr sz="1100">
              <a:latin typeface="Cambria Math"/>
              <a:cs typeface="Cambria Math"/>
            </a:endParaRPr>
          </a:p>
          <a:p>
            <a:pPr algn="just" marL="234950" marR="159385" indent="-6350">
              <a:lnSpc>
                <a:spcPct val="100699"/>
              </a:lnSpc>
              <a:spcBef>
                <a:spcPts val="75"/>
              </a:spcBef>
            </a:pP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Impact: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effectively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reduce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business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consequences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arising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SSL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issues,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organizations </a:t>
            </a:r>
            <a:r>
              <a:rPr dirty="0" sz="1100">
                <a:latin typeface="Cambria Math"/>
                <a:cs typeface="Cambria Math"/>
              </a:rPr>
              <a:t>must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give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utmost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priority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establishing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SSL/TLS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configuration,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conducting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frequent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 </a:t>
            </a:r>
            <a:r>
              <a:rPr dirty="0" sz="1100">
                <a:latin typeface="Cambria Math"/>
                <a:cs typeface="Cambria Math"/>
              </a:rPr>
              <a:t>assessments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testing.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Adhering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protection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regulations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industry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standards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imperative.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pivotal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role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safeguarding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upholding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trust,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safeguarding</a:t>
            </a:r>
            <a:r>
              <a:rPr dirty="0" sz="1100" spc="-25">
                <a:latin typeface="Cambria Math"/>
                <a:cs typeface="Cambria Math"/>
              </a:rPr>
              <a:t> the </a:t>
            </a:r>
            <a:r>
              <a:rPr dirty="0" sz="1100">
                <a:latin typeface="Cambria Math"/>
                <a:cs typeface="Cambria Math"/>
              </a:rPr>
              <a:t>organization's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esteemed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reputation.</a:t>
            </a:r>
            <a:endParaRPr sz="1100">
              <a:latin typeface="Cambria Math"/>
              <a:cs typeface="Cambria Math"/>
            </a:endParaRPr>
          </a:p>
          <a:p>
            <a:pPr marL="228600" marR="3958590">
              <a:lnSpc>
                <a:spcPct val="235500"/>
              </a:lnSpc>
              <a:spcBef>
                <a:spcPts val="35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https://vit.ac.in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/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https://vit.ac.in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/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9075" y="990600"/>
            <a:ext cx="5768339" cy="325374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547" y="1359408"/>
            <a:ext cx="4986528" cy="173126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7552" y="3744468"/>
            <a:ext cx="5993892" cy="260604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60908" y="1161034"/>
            <a:ext cx="11480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39395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0908" y="3346830"/>
            <a:ext cx="46736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39395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(Nessus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Scanner)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0908" y="6543523"/>
            <a:ext cx="6429375" cy="388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8760" marR="5080" indent="-226695">
              <a:lnSpc>
                <a:spcPct val="108200"/>
              </a:lnSpc>
              <a:spcBef>
                <a:spcPts val="95"/>
              </a:spcBef>
              <a:buFont typeface="Wingdings"/>
              <a:buChar char=""/>
              <a:tabLst>
                <a:tab pos="244475" algn="l"/>
              </a:tabLst>
            </a:pPr>
            <a:r>
              <a:rPr dirty="0" sz="1100">
                <a:latin typeface="Cambria Math"/>
                <a:cs typeface="Cambria Math"/>
              </a:rPr>
              <a:t>Through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along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detailed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regarding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that </a:t>
            </a:r>
            <a:r>
              <a:rPr dirty="0" sz="1100" spc="-20">
                <a:latin typeface="Cambria Math"/>
                <a:cs typeface="Cambria Math"/>
              </a:rPr>
              <a:t>	</a:t>
            </a:r>
            <a:r>
              <a:rPr dirty="0" sz="1100" spc="-10">
                <a:latin typeface="Cambria Math"/>
                <a:cs typeface="Cambria Math"/>
              </a:rPr>
              <a:t>vulnerability.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8951" y="5748528"/>
            <a:ext cx="6356985" cy="3016250"/>
            <a:chOff x="758951" y="5748528"/>
            <a:chExt cx="6356985" cy="30162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951" y="5748528"/>
              <a:ext cx="6348984" cy="97078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951" y="6743700"/>
              <a:ext cx="6356604" cy="110794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951" y="7876032"/>
              <a:ext cx="6355080" cy="888492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660908" y="5177155"/>
            <a:ext cx="6299835" cy="3632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38760" marR="5080" indent="-226695">
              <a:lnSpc>
                <a:spcPct val="101099"/>
              </a:lnSpc>
              <a:spcBef>
                <a:spcPts val="90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Now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image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tells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type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encryption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target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public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key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details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as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 spc="-10">
                <a:latin typeface="Cambria Math"/>
                <a:cs typeface="Cambria Math"/>
              </a:rPr>
              <a:t>well.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60908" y="8992361"/>
            <a:ext cx="57080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39395" algn="l"/>
              </a:tabLst>
            </a:pPr>
            <a:r>
              <a:rPr dirty="0" sz="1100" spc="-10">
                <a:latin typeface="Cambria Math"/>
                <a:cs typeface="Cambria Math"/>
              </a:rPr>
              <a:t>Through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 we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understand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what </a:t>
            </a:r>
            <a:r>
              <a:rPr dirty="0" sz="1100" spc="-10">
                <a:latin typeface="Cambria Math"/>
                <a:cs typeface="Cambria Math"/>
              </a:rPr>
              <a:t>different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types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encryptions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website.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39" y="990600"/>
            <a:ext cx="5745480" cy="4000500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4601692"/>
            <a:ext cx="6668770" cy="521906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265"/>
              </a:spcBef>
            </a:pPr>
            <a:r>
              <a:rPr dirty="0" sz="1100" spc="-10">
                <a:latin typeface="Cambria Math"/>
                <a:cs typeface="Cambria Math"/>
              </a:rPr>
              <a:t>Recommendation:</a:t>
            </a:r>
            <a:endParaRPr sz="1100">
              <a:latin typeface="Cambria Math"/>
              <a:cs typeface="Cambria Math"/>
            </a:endParaRPr>
          </a:p>
          <a:p>
            <a:pPr marL="698500" marR="146050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Configure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latest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strongest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encryption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protocols,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TLS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1.2</a:t>
            </a:r>
            <a:r>
              <a:rPr dirty="0" sz="1100" spc="-25">
                <a:latin typeface="Cambria Math"/>
                <a:cs typeface="Cambria Math"/>
              </a:rPr>
              <a:t> or </a:t>
            </a:r>
            <a:r>
              <a:rPr dirty="0" sz="1100">
                <a:latin typeface="Cambria Math"/>
                <a:cs typeface="Cambria Math"/>
              </a:rPr>
              <a:t>higher.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Disable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outdated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insecure</a:t>
            </a:r>
            <a:r>
              <a:rPr dirty="0" sz="1100" spc="-10">
                <a:latin typeface="Cambria Math"/>
                <a:cs typeface="Cambria Math"/>
              </a:rPr>
              <a:t> protocols</a:t>
            </a:r>
            <a:r>
              <a:rPr dirty="0" sz="1100">
                <a:latin typeface="Cambria Math"/>
                <a:cs typeface="Cambria Math"/>
              </a:rPr>
              <a:t> like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SSLv3.</a:t>
            </a:r>
            <a:endParaRPr sz="1100">
              <a:latin typeface="Cambria Math"/>
              <a:cs typeface="Cambria Math"/>
            </a:endParaRPr>
          </a:p>
          <a:p>
            <a:pPr marL="698500" marR="5080" indent="-228600">
              <a:lnSpc>
                <a:spcPct val="101099"/>
              </a:lnSpc>
              <a:spcBef>
                <a:spcPts val="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 spc="-10">
                <a:latin typeface="Cambria Math"/>
                <a:cs typeface="Cambria Math"/>
              </a:rPr>
              <a:t>Implement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Perfect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Forward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Secrecy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ensure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that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even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private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key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compromised,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previously </a:t>
            </a:r>
            <a:r>
              <a:rPr dirty="0" sz="1100">
                <a:latin typeface="Cambria Math"/>
                <a:cs typeface="Cambria Math"/>
              </a:rPr>
              <a:t>recorded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encrypted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traffic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remains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secure.</a:t>
            </a:r>
            <a:endParaRPr sz="1100">
              <a:latin typeface="Cambria Math"/>
              <a:cs typeface="Cambria Math"/>
            </a:endParaRPr>
          </a:p>
          <a:p>
            <a:pPr marL="698500" marR="84455" indent="-228600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Safeguard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private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keys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storing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them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securely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ensuring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they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accessible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to </a:t>
            </a:r>
            <a:r>
              <a:rPr dirty="0" sz="1100">
                <a:latin typeface="Cambria Math"/>
                <a:cs typeface="Cambria Math"/>
              </a:rPr>
              <a:t>unauthorized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parties.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100">
              <a:latin typeface="Cambria Math"/>
              <a:cs typeface="Cambria Math"/>
            </a:endParaRPr>
          </a:p>
          <a:p>
            <a:pPr marL="227329" marR="2385695" indent="-215265">
              <a:lnSpc>
                <a:spcPct val="190900"/>
              </a:lnSpc>
              <a:buAutoNum type="arabicPeriod" startAt="15"/>
              <a:tabLst>
                <a:tab pos="228600" algn="l"/>
              </a:tabLst>
            </a:pPr>
            <a:r>
              <a:rPr dirty="0" sz="1100">
                <a:latin typeface="Cambria Math"/>
                <a:cs typeface="Cambria Math"/>
              </a:rPr>
              <a:t>Vulnerability name: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Information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Exposure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(HTTP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(Multiple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Issues))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200</a:t>
            </a:r>
            <a:endParaRPr sz="1100">
              <a:latin typeface="Cambria Math"/>
              <a:cs typeface="Cambria Math"/>
            </a:endParaRPr>
          </a:p>
          <a:p>
            <a:pPr algn="just" marL="234950" marR="102870" indent="-6350">
              <a:lnSpc>
                <a:spcPct val="100899"/>
              </a:lnSpc>
              <a:spcBef>
                <a:spcPts val="1175"/>
              </a:spcBef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product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exposes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sensitive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explicitly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have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information.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234950" marR="64769" indent="-6350">
              <a:lnSpc>
                <a:spcPct val="100499"/>
              </a:lnSpc>
            </a:pPr>
            <a:r>
              <a:rPr dirty="0" sz="1100" spc="-10">
                <a:latin typeface="Cambria Math"/>
                <a:cs typeface="Cambria Math"/>
              </a:rPr>
              <a:t>Business </a:t>
            </a:r>
            <a:r>
              <a:rPr dirty="0" sz="1100">
                <a:latin typeface="Cambria Math"/>
                <a:cs typeface="Cambria Math"/>
              </a:rPr>
              <a:t>Impact: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effectively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reduce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business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repercussions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HTTP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issues,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organizations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must</a:t>
            </a:r>
            <a:r>
              <a:rPr dirty="0" sz="1100" spc="-10">
                <a:latin typeface="Cambria Math"/>
                <a:cs typeface="Cambria Math"/>
              </a:rPr>
              <a:t> place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strong </a:t>
            </a:r>
            <a:r>
              <a:rPr dirty="0" sz="1100" spc="-10">
                <a:latin typeface="Cambria Math"/>
                <a:cs typeface="Cambria Math"/>
              </a:rPr>
              <a:t>emphasis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ongoing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monitoring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enhancement of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services.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Consistent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performance </a:t>
            </a:r>
            <a:r>
              <a:rPr dirty="0" sz="1100">
                <a:latin typeface="Cambria Math"/>
                <a:cs typeface="Cambria Math"/>
              </a:rPr>
              <a:t>testing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assessments,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coupled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proactive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maintenance,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indispensable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 spc="-50">
                <a:latin typeface="Cambria Math"/>
                <a:cs typeface="Cambria Math"/>
              </a:rPr>
              <a:t>a</a:t>
            </a:r>
            <a:r>
              <a:rPr dirty="0" sz="1100">
                <a:latin typeface="Cambria Math"/>
                <a:cs typeface="Cambria Math"/>
              </a:rPr>
              <a:t> seamless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online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presence.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Furthermore,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offering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timely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helpful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customer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support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>
                <a:latin typeface="Cambria Math"/>
                <a:cs typeface="Cambria Math"/>
              </a:rPr>
              <a:t>transparent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communication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when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HTTP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issues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arise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instrumental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mitigating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adverse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effects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user </a:t>
            </a:r>
            <a:r>
              <a:rPr dirty="0" sz="1100">
                <a:latin typeface="Cambria Math"/>
                <a:cs typeface="Cambria Math"/>
              </a:rPr>
              <a:t>trust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satisfaction.</a:t>
            </a:r>
            <a:endParaRPr sz="1100">
              <a:latin typeface="Cambria Math"/>
              <a:cs typeface="Cambria Math"/>
            </a:endParaRPr>
          </a:p>
          <a:p>
            <a:pPr marL="228600" marR="3940810">
              <a:lnSpc>
                <a:spcPts val="2870"/>
              </a:lnSpc>
              <a:spcBef>
                <a:spcPts val="40"/>
              </a:spcBef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 path: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https://vit.ac.in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/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https://vit.ac.in</a:t>
            </a:r>
            <a:r>
              <a:rPr dirty="0" u="sng" sz="1100" spc="-1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mbria Math"/>
                <a:cs typeface="Cambria Math"/>
                <a:hlinkClick r:id="rId2"/>
              </a:rPr>
              <a:t>/</a:t>
            </a:r>
            <a:r>
              <a:rPr dirty="0" sz="1100" spc="-10">
                <a:solidFill>
                  <a:srgbClr val="0460C1"/>
                </a:solidFill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Reproduce:</a:t>
            </a:r>
            <a:endParaRPr sz="1100">
              <a:latin typeface="Cambria Math"/>
              <a:cs typeface="Cambria Math"/>
            </a:endParaRPr>
          </a:p>
          <a:p>
            <a:pPr lvl="1" marL="455295" indent="-226695">
              <a:lnSpc>
                <a:spcPct val="100000"/>
              </a:lnSpc>
              <a:spcBef>
                <a:spcPts val="844"/>
              </a:spcBef>
              <a:buFont typeface="Wingdings"/>
              <a:buChar char=""/>
              <a:tabLst>
                <a:tab pos="455295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39" y="990600"/>
            <a:ext cx="5995416" cy="344576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552" y="3453384"/>
            <a:ext cx="6141720" cy="1505712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55547" y="5155692"/>
            <a:ext cx="6134100" cy="2987040"/>
            <a:chOff x="955547" y="5155692"/>
            <a:chExt cx="6134100" cy="298704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5547" y="5155692"/>
              <a:ext cx="6134100" cy="10789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5547" y="6239256"/>
              <a:ext cx="4972812" cy="1903476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8705088"/>
            <a:ext cx="5114544" cy="99974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60908" y="3070987"/>
            <a:ext cx="46736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39395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(Nessus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Scanner)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60908" y="8324850"/>
            <a:ext cx="57416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39395" algn="l"/>
              </a:tabLst>
            </a:pP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above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image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details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protocol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version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its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status.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7967" y="990600"/>
            <a:ext cx="5748528" cy="1996439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1664564"/>
            <a:ext cx="6697345" cy="647954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455295" indent="-226695">
              <a:lnSpc>
                <a:spcPct val="100000"/>
              </a:lnSpc>
              <a:spcBef>
                <a:spcPts val="170"/>
              </a:spcBef>
              <a:buFont typeface="Wingdings"/>
              <a:buChar char=""/>
              <a:tabLst>
                <a:tab pos="455295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type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remote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webserver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here.</a:t>
            </a:r>
            <a:endParaRPr sz="1100">
              <a:latin typeface="Cambria Math"/>
              <a:cs typeface="Cambria Math"/>
            </a:endParaRPr>
          </a:p>
          <a:p>
            <a:pPr marL="455295" indent="-226695">
              <a:lnSpc>
                <a:spcPct val="100000"/>
              </a:lnSpc>
              <a:spcBef>
                <a:spcPts val="70"/>
              </a:spcBef>
              <a:buFont typeface="Wingdings"/>
              <a:buChar char=""/>
              <a:tabLst>
                <a:tab pos="455295" algn="l"/>
              </a:tabLst>
            </a:pPr>
            <a:r>
              <a:rPr dirty="0" sz="1100">
                <a:latin typeface="Cambria Math"/>
                <a:cs typeface="Cambria Math"/>
              </a:rPr>
              <a:t>All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lead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multiple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potential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threats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such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breaches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hackers.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Wingdings"/>
              <a:buChar char=""/>
            </a:pPr>
            <a:endParaRPr sz="1100">
              <a:latin typeface="Cambria Math"/>
              <a:cs typeface="Cambria Math"/>
            </a:endParaRPr>
          </a:p>
          <a:p>
            <a:pPr marL="228600">
              <a:lnSpc>
                <a:spcPct val="100000"/>
              </a:lnSpc>
            </a:pPr>
            <a:r>
              <a:rPr dirty="0" sz="1100" spc="-10">
                <a:latin typeface="Cambria Math"/>
                <a:cs typeface="Cambria Math"/>
              </a:rPr>
              <a:t>Recommendation:</a:t>
            </a:r>
            <a:endParaRPr sz="1100">
              <a:latin typeface="Cambria Math"/>
              <a:cs typeface="Cambria Math"/>
            </a:endParaRPr>
          </a:p>
          <a:p>
            <a:pPr lvl="1" marL="698500" marR="41910" indent="-22860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 spc="-10">
                <a:latin typeface="Cambria Math"/>
                <a:cs typeface="Cambria Math"/>
              </a:rPr>
              <a:t>Minimize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unnecessary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redirects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they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can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increase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page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load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times.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Use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301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(permanent) </a:t>
            </a:r>
            <a:r>
              <a:rPr dirty="0" sz="1100">
                <a:latin typeface="Cambria Math"/>
                <a:cs typeface="Cambria Math"/>
              </a:rPr>
              <a:t>redirects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consistent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content.</a:t>
            </a:r>
            <a:endParaRPr sz="1100">
              <a:latin typeface="Cambria Math"/>
              <a:cs typeface="Cambria Math"/>
            </a:endParaRPr>
          </a:p>
          <a:p>
            <a:pPr lvl="1" marL="698500" marR="64135" indent="-228600">
              <a:lnSpc>
                <a:spcPct val="100899"/>
              </a:lnSpc>
              <a:spcBef>
                <a:spcPts val="6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Regularly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check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broken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links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(404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errors)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fix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them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content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are </a:t>
            </a:r>
            <a:r>
              <a:rPr dirty="0" sz="1100">
                <a:latin typeface="Cambria Math"/>
                <a:cs typeface="Cambria Math"/>
              </a:rPr>
              <a:t>looking</a:t>
            </a:r>
            <a:r>
              <a:rPr dirty="0" sz="1100" spc="-20">
                <a:latin typeface="Cambria Math"/>
                <a:cs typeface="Cambria Math"/>
              </a:rPr>
              <a:t> for.</a:t>
            </a:r>
            <a:endParaRPr sz="1100">
              <a:latin typeface="Cambria Math"/>
              <a:cs typeface="Cambria Math"/>
            </a:endParaRPr>
          </a:p>
          <a:p>
            <a:pPr lvl="1" marL="698500" indent="-228600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Properly</a:t>
            </a:r>
            <a:r>
              <a:rPr dirty="0" sz="1100" spc="-6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configure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CORS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control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which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domains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allowed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make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requests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server.</a:t>
            </a:r>
            <a:endParaRPr sz="1100">
              <a:latin typeface="Cambria Math"/>
              <a:cs typeface="Cambria Math"/>
            </a:endParaRPr>
          </a:p>
          <a:p>
            <a:pPr lvl="1" marL="698500" marR="106045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100">
                <a:latin typeface="Cambria Math"/>
                <a:cs typeface="Cambria Math"/>
              </a:rPr>
              <a:t>Migrate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HTTP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HTTPS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transmission.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essential</a:t>
            </a:r>
            <a:r>
              <a:rPr dirty="0" sz="1100" spc="-25">
                <a:latin typeface="Cambria Math"/>
                <a:cs typeface="Cambria Math"/>
              </a:rPr>
              <a:t> for </a:t>
            </a:r>
            <a:r>
              <a:rPr dirty="0" sz="1100">
                <a:latin typeface="Cambria Math"/>
                <a:cs typeface="Cambria Math"/>
              </a:rPr>
              <a:t>user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trust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search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engine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ranking.</a:t>
            </a:r>
            <a:endParaRPr sz="1100">
              <a:latin typeface="Cambria Math"/>
              <a:cs typeface="Cambria Math"/>
            </a:endParaRPr>
          </a:p>
          <a:p>
            <a:pPr marL="227329" marR="3869054" indent="-215265">
              <a:lnSpc>
                <a:spcPts val="2930"/>
              </a:lnSpc>
              <a:spcBef>
                <a:spcPts val="315"/>
              </a:spcBef>
              <a:buAutoNum type="arabicPeriod" startAt="16"/>
              <a:tabLst>
                <a:tab pos="228600" algn="l"/>
              </a:tabLst>
            </a:pPr>
            <a:r>
              <a:rPr dirty="0" sz="1100">
                <a:latin typeface="Cambria Math"/>
                <a:cs typeface="Cambria Math"/>
              </a:rPr>
              <a:t>Vulnerability name: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Identification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Failed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CWE: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200</a:t>
            </a:r>
            <a:endParaRPr sz="1100">
              <a:latin typeface="Cambria Math"/>
              <a:cs typeface="Cambria Math"/>
            </a:endParaRPr>
          </a:p>
          <a:p>
            <a:pPr algn="just" marL="234950" marR="5080" indent="-6350">
              <a:lnSpc>
                <a:spcPct val="100800"/>
              </a:lnSpc>
              <a:spcBef>
                <a:spcPts val="1230"/>
              </a:spcBef>
            </a:pPr>
            <a:r>
              <a:rPr dirty="0" sz="1100">
                <a:latin typeface="Cambria Math"/>
                <a:cs typeface="Cambria Math"/>
              </a:rPr>
              <a:t>Description: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identification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failed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refers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inability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software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accurately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recognize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>
                <a:latin typeface="Cambria Math"/>
                <a:cs typeface="Cambria Math"/>
              </a:rPr>
              <a:t>operating</a:t>
            </a:r>
            <a:r>
              <a:rPr dirty="0" sz="1100" spc="2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running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229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device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229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network.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issue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229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result</a:t>
            </a:r>
            <a:r>
              <a:rPr dirty="0" sz="1100" spc="2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various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factors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as </a:t>
            </a:r>
            <a:r>
              <a:rPr dirty="0" sz="1100" spc="-10">
                <a:latin typeface="Cambria Math"/>
                <a:cs typeface="Cambria Math"/>
              </a:rPr>
              <a:t>misconfigurations,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network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issues,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compatibility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problems.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failure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identify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correctly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0">
                <a:latin typeface="Cambria Math"/>
                <a:cs typeface="Cambria Math"/>
              </a:rPr>
              <a:t> lead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vulnerabilities,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hindered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software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updates,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 potential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operational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disruptions.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Resolving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this </a:t>
            </a:r>
            <a:r>
              <a:rPr dirty="0" sz="1100">
                <a:latin typeface="Cambria Math"/>
                <a:cs typeface="Cambria Math"/>
              </a:rPr>
              <a:t>issue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promptly is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crucial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accurate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measures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 the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smooth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functioning of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or </a:t>
            </a:r>
            <a:r>
              <a:rPr dirty="0" sz="1100" spc="-10">
                <a:latin typeface="Cambria Math"/>
                <a:cs typeface="Cambria Math"/>
              </a:rPr>
              <a:t>network.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234950" marR="5080" indent="-6350">
              <a:lnSpc>
                <a:spcPct val="100699"/>
              </a:lnSpc>
            </a:pPr>
            <a:r>
              <a:rPr dirty="0" sz="1100">
                <a:latin typeface="Cambria Math"/>
                <a:cs typeface="Cambria Math"/>
              </a:rPr>
              <a:t>Business Impact: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may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lead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operational inefficiencies,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potential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 vulnerabilities,</a:t>
            </a:r>
            <a:r>
              <a:rPr dirty="0" sz="1100" spc="-10">
                <a:latin typeface="Cambria Math"/>
                <a:cs typeface="Cambria Math"/>
              </a:rPr>
              <a:t> non-compliance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industry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regulations,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possible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loss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customer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trust.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failures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could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result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downtime, </a:t>
            </a:r>
            <a:r>
              <a:rPr dirty="0" sz="1100">
                <a:latin typeface="Cambria Math"/>
                <a:cs typeface="Cambria Math"/>
              </a:rPr>
              <a:t>compromised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security,</a:t>
            </a:r>
            <a:r>
              <a:rPr dirty="0" sz="1100" spc="2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regulatory</a:t>
            </a:r>
            <a:r>
              <a:rPr dirty="0" sz="1100" spc="2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penalties,</a:t>
            </a:r>
            <a:r>
              <a:rPr dirty="0" sz="1100" spc="20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damage</a:t>
            </a:r>
            <a:r>
              <a:rPr dirty="0" sz="1100" spc="2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2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company's</a:t>
            </a:r>
            <a:r>
              <a:rPr dirty="0" sz="1100" spc="2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reputation,</a:t>
            </a:r>
            <a:r>
              <a:rPr dirty="0" sz="1100" spc="2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potentially </a:t>
            </a:r>
            <a:r>
              <a:rPr dirty="0" sz="1100">
                <a:latin typeface="Cambria Math"/>
                <a:cs typeface="Cambria Math"/>
              </a:rPr>
              <a:t>leading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 financial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losses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decreased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market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competitiveness.</a:t>
            </a:r>
            <a:r>
              <a:rPr dirty="0" sz="1100">
                <a:latin typeface="Cambria Math"/>
                <a:cs typeface="Cambria Math"/>
              </a:rPr>
              <a:t> Resolving this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issue promptly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crucial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to </a:t>
            </a:r>
            <a:r>
              <a:rPr dirty="0" sz="1100">
                <a:latin typeface="Cambria Math"/>
                <a:cs typeface="Cambria Math"/>
              </a:rPr>
              <a:t>mitigate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risks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maintain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smooth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functioning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organization.</a:t>
            </a:r>
            <a:endParaRPr sz="1100">
              <a:latin typeface="Cambria Math"/>
              <a:cs typeface="Cambria Math"/>
            </a:endParaRPr>
          </a:p>
          <a:p>
            <a:pPr marL="228600" marR="3606165" indent="-1905">
              <a:lnSpc>
                <a:spcPct val="217800"/>
              </a:lnSpc>
              <a:spcBef>
                <a:spcPts val="234"/>
              </a:spcBef>
              <a:tabLst>
                <a:tab pos="1214755" algn="l"/>
                <a:tab pos="1736725" algn="l"/>
              </a:tabLst>
            </a:pPr>
            <a:r>
              <a:rPr dirty="0" sz="1100" spc="-10">
                <a:latin typeface="Cambria Math"/>
                <a:cs typeface="Cambria Math"/>
              </a:rPr>
              <a:t>Vulnerability</a:t>
            </a:r>
            <a:r>
              <a:rPr dirty="0" sz="1100">
                <a:latin typeface="Cambria Math"/>
                <a:cs typeface="Cambria Math"/>
              </a:rPr>
              <a:t>	</a:t>
            </a:r>
            <a:r>
              <a:rPr dirty="0" sz="1100" spc="-20">
                <a:latin typeface="Cambria Math"/>
                <a:cs typeface="Cambria Math"/>
              </a:rPr>
              <a:t>path:</a:t>
            </a:r>
            <a:r>
              <a:rPr dirty="0" sz="1100">
                <a:latin typeface="Cambria Math"/>
                <a:cs typeface="Cambria Math"/>
              </a:rPr>
              <a:t>	</a:t>
            </a:r>
            <a:r>
              <a:rPr dirty="0" sz="1100" spc="-10">
                <a:latin typeface="Cambria Math"/>
                <a:cs typeface="Cambria Math"/>
              </a:rPr>
              <a:t>https://vit.ac.in/ Vulnerability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parameter: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https://vit.ac.in/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Steps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Reproduce: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Cambria Math"/>
              <a:cs typeface="Cambria Math"/>
            </a:endParaRPr>
          </a:p>
          <a:p>
            <a:pPr lvl="1" marL="455295" indent="-226695">
              <a:lnSpc>
                <a:spcPct val="100000"/>
              </a:lnSpc>
              <a:buFont typeface="Wingdings"/>
              <a:buChar char=""/>
              <a:tabLst>
                <a:tab pos="455295" algn="l"/>
              </a:tabLst>
            </a:pPr>
            <a:r>
              <a:rPr dirty="0" sz="1100" spc="-1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URL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311" y="990600"/>
            <a:ext cx="2813304" cy="684276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3369564"/>
            <a:ext cx="6658356" cy="142646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7927" y="4992624"/>
            <a:ext cx="6035040" cy="273100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60908" y="3173095"/>
            <a:ext cx="46736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Wingdings"/>
              <a:buChar char=""/>
              <a:tabLst>
                <a:tab pos="239395" algn="l"/>
              </a:tabLst>
            </a:pP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will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website.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(Nessus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Scanner)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0908" y="7933791"/>
            <a:ext cx="6447155" cy="7239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70"/>
              </a:spcBef>
              <a:buFont typeface="Wingdings"/>
              <a:buChar char=""/>
              <a:tabLst>
                <a:tab pos="239395" algn="l"/>
              </a:tabLst>
            </a:pP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above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image,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details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SSL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Certificate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Information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SinFP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Information.</a:t>
            </a:r>
            <a:endParaRPr sz="1100">
              <a:latin typeface="Cambria Math"/>
              <a:cs typeface="Cambria Math"/>
            </a:endParaRPr>
          </a:p>
          <a:p>
            <a:pPr marL="238760" marR="5080" indent="-226695">
              <a:lnSpc>
                <a:spcPct val="100000"/>
              </a:lnSpc>
              <a:spcBef>
                <a:spcPts val="70"/>
              </a:spcBef>
              <a:buFont typeface="Wingdings"/>
              <a:buChar char=""/>
              <a:tabLst>
                <a:tab pos="241300" algn="l"/>
              </a:tabLst>
            </a:pP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released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without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proper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authorization,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lead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serious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consequences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increased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cyberattacks,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potential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breaches,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privacy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violations,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legal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repercussions.</a:t>
            </a:r>
            <a:endParaRPr sz="1100">
              <a:latin typeface="Cambria Math"/>
              <a:cs typeface="Cambria Math"/>
            </a:endParaRPr>
          </a:p>
          <a:p>
            <a:pPr marL="239395" indent="-226695">
              <a:lnSpc>
                <a:spcPct val="100000"/>
              </a:lnSpc>
              <a:spcBef>
                <a:spcPts val="75"/>
              </a:spcBef>
              <a:buFont typeface="Wingdings"/>
              <a:buChar char=""/>
              <a:tabLst>
                <a:tab pos="239395" algn="l"/>
              </a:tabLst>
            </a:pPr>
            <a:r>
              <a:rPr dirty="0" sz="1100">
                <a:latin typeface="Cambria Math"/>
                <a:cs typeface="Cambria Math"/>
              </a:rPr>
              <a:t>All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lead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multiple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potential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threats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such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breaches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hackers.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0908" y="9056370"/>
            <a:ext cx="5871210" cy="837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mbria Math"/>
                <a:cs typeface="Cambria Math"/>
              </a:rPr>
              <a:t>Recommendations:</a:t>
            </a:r>
            <a:endParaRPr sz="1100">
              <a:latin typeface="Cambria Math"/>
              <a:cs typeface="Cambria Math"/>
            </a:endParaRPr>
          </a:p>
          <a:p>
            <a:pPr marL="481965" indent="-228600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481965" algn="l"/>
              </a:tabLst>
            </a:pPr>
            <a:r>
              <a:rPr dirty="0" sz="1100">
                <a:latin typeface="Cambria Math"/>
                <a:cs typeface="Cambria Math"/>
              </a:rPr>
              <a:t>Employ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robust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10">
                <a:latin typeface="Cambria Math"/>
                <a:cs typeface="Cambria Math"/>
              </a:rPr>
              <a:t> encryption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methods</a:t>
            </a:r>
            <a:r>
              <a:rPr dirty="0" sz="1100">
                <a:latin typeface="Cambria Math"/>
                <a:cs typeface="Cambria Math"/>
              </a:rPr>
              <a:t> for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both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transit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rest.</a:t>
            </a:r>
            <a:endParaRPr sz="1100">
              <a:latin typeface="Cambria Math"/>
              <a:cs typeface="Cambria Math"/>
            </a:endParaRPr>
          </a:p>
          <a:p>
            <a:pPr marL="481965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81965" algn="l"/>
              </a:tabLst>
            </a:pPr>
            <a:r>
              <a:rPr dirty="0" sz="1100" spc="-10">
                <a:latin typeface="Cambria Math"/>
                <a:cs typeface="Cambria Math"/>
              </a:rPr>
              <a:t>Implement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strict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access </a:t>
            </a:r>
            <a:r>
              <a:rPr dirty="0" sz="1100">
                <a:latin typeface="Cambria Math"/>
                <a:cs typeface="Cambria Math"/>
              </a:rPr>
              <a:t>controls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authentication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protocols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limit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unauthorized access.</a:t>
            </a:r>
            <a:endParaRPr sz="1100">
              <a:latin typeface="Cambria Math"/>
              <a:cs typeface="Cambria Math"/>
            </a:endParaRPr>
          </a:p>
          <a:p>
            <a:pPr marL="481965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481965" algn="l"/>
              </a:tabLst>
            </a:pP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secure communication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channels,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 as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encrypted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email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file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transfer protocols.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7552" y="990600"/>
            <a:ext cx="5748528" cy="1996439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876" y="2141220"/>
            <a:ext cx="4533900" cy="632764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32308" y="966571"/>
            <a:ext cx="6589395" cy="9842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710565" indent="-228600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710565" algn="l"/>
              </a:tabLst>
            </a:pPr>
            <a:r>
              <a:rPr dirty="0" sz="1100">
                <a:latin typeface="Cambria Math"/>
                <a:cs typeface="Cambria Math"/>
              </a:rPr>
              <a:t>Provide</a:t>
            </a:r>
            <a:r>
              <a:rPr dirty="0" sz="1100" spc="-6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comprehensive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training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employees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-10">
                <a:latin typeface="Cambria Math"/>
                <a:cs typeface="Cambria Math"/>
              </a:rPr>
              <a:t> security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best</a:t>
            </a:r>
            <a:r>
              <a:rPr dirty="0" sz="1100" spc="-10">
                <a:latin typeface="Cambria Math"/>
                <a:cs typeface="Cambria Math"/>
              </a:rPr>
              <a:t> practices.</a:t>
            </a:r>
            <a:endParaRPr sz="1100">
              <a:latin typeface="Cambria Math"/>
              <a:cs typeface="Cambria Math"/>
            </a:endParaRPr>
          </a:p>
          <a:p>
            <a:pPr marL="710565" indent="-228600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710565" algn="l"/>
              </a:tabLst>
            </a:pPr>
            <a:r>
              <a:rPr dirty="0" sz="1100" spc="-10">
                <a:latin typeface="Cambria Math"/>
                <a:cs typeface="Cambria Math"/>
              </a:rPr>
              <a:t>Conduct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regular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audits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assessments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identify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address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promptly.</a:t>
            </a:r>
            <a:endParaRPr sz="1100">
              <a:latin typeface="Cambria Math"/>
              <a:cs typeface="Cambria Math"/>
            </a:endParaRPr>
          </a:p>
          <a:p>
            <a:pPr marL="710565" marR="508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710565" algn="l"/>
              </a:tabLst>
            </a:pP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compliance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relevant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protection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regulations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have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5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well-</a:t>
            </a:r>
            <a:r>
              <a:rPr dirty="0" sz="1100">
                <a:latin typeface="Cambria Math"/>
                <a:cs typeface="Cambria Math"/>
              </a:rPr>
              <a:t>defined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incident </a:t>
            </a:r>
            <a:r>
              <a:rPr dirty="0" sz="1100">
                <a:latin typeface="Cambria Math"/>
                <a:cs typeface="Cambria Math"/>
              </a:rPr>
              <a:t>response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place.</a:t>
            </a: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Cambria Math"/>
                <a:cs typeface="Cambria Math"/>
              </a:rPr>
              <a:t>NESSUS</a:t>
            </a:r>
            <a:r>
              <a:rPr dirty="0" sz="1400" spc="-5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SCAN</a:t>
            </a:r>
            <a:r>
              <a:rPr dirty="0" sz="1400" spc="-55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REPORT: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90727" y="990600"/>
            <a:ext cx="4685030" cy="8295640"/>
            <a:chOff x="490727" y="990600"/>
            <a:chExt cx="4685030" cy="82956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727" y="990600"/>
              <a:ext cx="4619244" cy="2595372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687" y="3599688"/>
              <a:ext cx="4623816" cy="5686044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0916" y="5059727"/>
            <a:ext cx="6684009" cy="10795"/>
          </a:xfrm>
          <a:custGeom>
            <a:avLst/>
            <a:gdLst/>
            <a:ahLst/>
            <a:cxnLst/>
            <a:rect l="l" t="t" r="r" b="b"/>
            <a:pathLst>
              <a:path w="6684009" h="10795">
                <a:moveTo>
                  <a:pt x="6683883" y="0"/>
                </a:moveTo>
                <a:lnTo>
                  <a:pt x="0" y="0"/>
                </a:lnTo>
                <a:lnTo>
                  <a:pt x="0" y="10240"/>
                </a:lnTo>
                <a:lnTo>
                  <a:pt x="6683883" y="10240"/>
                </a:lnTo>
                <a:lnTo>
                  <a:pt x="66838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32308" y="3744595"/>
            <a:ext cx="6328410" cy="9226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0480" marR="5080" indent="-6350">
              <a:lnSpc>
                <a:spcPct val="100600"/>
              </a:lnSpc>
              <a:spcBef>
                <a:spcPts val="95"/>
              </a:spcBef>
            </a:pPr>
            <a:r>
              <a:rPr dirty="0" sz="1100">
                <a:latin typeface="Cambria Math"/>
                <a:cs typeface="Cambria Math"/>
              </a:rPr>
              <a:t>"With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report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now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our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disposal,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we're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equipped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critical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existing vulnerabilities</a:t>
            </a:r>
            <a:r>
              <a:rPr dirty="0" sz="1100">
                <a:latin typeface="Cambria Math"/>
                <a:cs typeface="Cambria Math"/>
              </a:rPr>
              <a:t> and</a:t>
            </a:r>
            <a:r>
              <a:rPr dirty="0" sz="1100" spc="-10">
                <a:latin typeface="Cambria Math"/>
                <a:cs typeface="Cambria Math"/>
              </a:rPr>
              <a:t> potential </a:t>
            </a:r>
            <a:r>
              <a:rPr dirty="0" sz="1100">
                <a:latin typeface="Cambria Math"/>
                <a:cs typeface="Cambria Math"/>
              </a:rPr>
              <a:t>threats.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0">
                <a:latin typeface="Cambria Math"/>
                <a:cs typeface="Cambria Math"/>
              </a:rPr>
              <a:t> invaluable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 will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foundation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our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project </a:t>
            </a:r>
            <a:r>
              <a:rPr dirty="0" sz="1100">
                <a:latin typeface="Cambria Math"/>
                <a:cs typeface="Cambria Math"/>
              </a:rPr>
              <a:t>planning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phase,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chart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course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develop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our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AI-driven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incident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response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platform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well- </a:t>
            </a:r>
            <a:r>
              <a:rPr dirty="0" sz="1100">
                <a:latin typeface="Cambria Math"/>
                <a:cs typeface="Cambria Math"/>
              </a:rPr>
              <a:t>informed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strategy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timeline."</a:t>
            </a:r>
            <a:endParaRPr sz="1100">
              <a:latin typeface="Cambria Math"/>
              <a:cs typeface="Cambria Math"/>
            </a:endParaRPr>
          </a:p>
          <a:p>
            <a:pPr algn="just" marL="12700">
              <a:lnSpc>
                <a:spcPct val="100000"/>
              </a:lnSpc>
              <a:spcBef>
                <a:spcPts val="70"/>
              </a:spcBef>
            </a:pPr>
            <a:r>
              <a:rPr dirty="0" sz="1400">
                <a:latin typeface="Cambria Math"/>
                <a:cs typeface="Cambria Math"/>
              </a:rPr>
              <a:t>Stage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–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 spc="-5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6212" y="5242941"/>
            <a:ext cx="6714490" cy="4462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Cambria Math"/>
                <a:cs typeface="Cambria Math"/>
              </a:rPr>
              <a:t>Overview:</a:t>
            </a:r>
            <a:r>
              <a:rPr dirty="0" sz="1300" spc="-35">
                <a:latin typeface="Cambria Math"/>
                <a:cs typeface="Cambria Math"/>
              </a:rPr>
              <a:t> </a:t>
            </a:r>
            <a:r>
              <a:rPr dirty="0" sz="1300" spc="-50">
                <a:latin typeface="Cambria Math"/>
                <a:cs typeface="Cambria Math"/>
              </a:rPr>
              <a:t>-</a:t>
            </a:r>
            <a:endParaRPr sz="1300">
              <a:latin typeface="Cambria Math"/>
              <a:cs typeface="Cambria Math"/>
            </a:endParaRPr>
          </a:p>
          <a:p>
            <a:pPr marL="30480">
              <a:lnSpc>
                <a:spcPct val="100000"/>
              </a:lnSpc>
              <a:spcBef>
                <a:spcPts val="869"/>
              </a:spcBef>
            </a:pP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overview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Nessus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typically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involves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following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key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aspects: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256540" marR="12700" indent="-226060">
              <a:lnSpc>
                <a:spcPct val="100899"/>
              </a:lnSpc>
              <a:spcBef>
                <a:spcPts val="5"/>
              </a:spcBef>
              <a:buAutoNum type="arabicPeriod"/>
              <a:tabLst>
                <a:tab pos="259715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Preparation: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Define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Objectives: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Determine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scope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objectives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scan.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What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networks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do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want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assess,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what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specific</a:t>
            </a:r>
            <a:r>
              <a:rPr dirty="0" sz="1100" spc="-10">
                <a:latin typeface="Cambria Math"/>
                <a:cs typeface="Cambria Math"/>
              </a:rPr>
              <a:t> vulnerabilities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looking</a:t>
            </a:r>
            <a:r>
              <a:rPr dirty="0" sz="1100" spc="-20">
                <a:latin typeface="Cambria Math"/>
                <a:cs typeface="Cambria Math"/>
              </a:rPr>
              <a:t> for?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Font typeface="Cambria Math"/>
              <a:buAutoNum type="arabicPeriod"/>
            </a:pPr>
            <a:endParaRPr sz="1100">
              <a:latin typeface="Cambria Math"/>
              <a:cs typeface="Cambria Math"/>
            </a:endParaRPr>
          </a:p>
          <a:p>
            <a:pPr marL="253365" marR="44450" indent="-635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Cambria Math"/>
                <a:cs typeface="Cambria Math"/>
              </a:rPr>
              <a:t>System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Access: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have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necessary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permissions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rights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target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systems </a:t>
            </a:r>
            <a:r>
              <a:rPr dirty="0" sz="1100">
                <a:latin typeface="Cambria Math"/>
                <a:cs typeface="Cambria Math"/>
              </a:rPr>
              <a:t>or </a:t>
            </a:r>
            <a:r>
              <a:rPr dirty="0" sz="1100" spc="-10">
                <a:latin typeface="Cambria Math"/>
                <a:cs typeface="Cambria Math"/>
              </a:rPr>
              <a:t>networks.</a:t>
            </a:r>
            <a:endParaRPr sz="1100">
              <a:latin typeface="Cambria Math"/>
              <a:cs typeface="Cambria Math"/>
            </a:endParaRPr>
          </a:p>
          <a:p>
            <a:pPr algn="just" marL="256540" marR="12700" indent="-226060">
              <a:lnSpc>
                <a:spcPct val="100000"/>
              </a:lnSpc>
              <a:spcBef>
                <a:spcPts val="1270"/>
              </a:spcBef>
              <a:buAutoNum type="arabicPeriod" startAt="2"/>
              <a:tabLst>
                <a:tab pos="259715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Configuration: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Set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Policy: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Create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policy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defines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parameters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scan,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types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check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scanning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frequency,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specific</a:t>
            </a:r>
            <a:r>
              <a:rPr dirty="0" sz="1100" spc="-10">
                <a:latin typeface="Cambria Math"/>
                <a:cs typeface="Cambria Math"/>
              </a:rPr>
              <a:t> configurations.</a:t>
            </a:r>
            <a:endParaRPr sz="1100">
              <a:latin typeface="Cambria Math"/>
              <a:cs typeface="Cambria Math"/>
            </a:endParaRPr>
          </a:p>
          <a:p>
            <a:pPr marL="86995">
              <a:lnSpc>
                <a:spcPct val="100000"/>
              </a:lnSpc>
              <a:spcBef>
                <a:spcPts val="1250"/>
              </a:spcBef>
            </a:pPr>
            <a:r>
              <a:rPr dirty="0" sz="1100">
                <a:latin typeface="Cambria Math"/>
                <a:cs typeface="Cambria Math"/>
              </a:rPr>
              <a:t>Define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Target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Assets: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Specify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IP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addresses,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hostnames,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network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ranges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want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scan.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Cambria Math"/>
              <a:cs typeface="Cambria Math"/>
            </a:endParaRPr>
          </a:p>
          <a:p>
            <a:pPr algn="just" marL="256540" marR="10160" indent="-226060">
              <a:lnSpc>
                <a:spcPct val="100000"/>
              </a:lnSpc>
              <a:buAutoNum type="arabicPeriod" startAt="3"/>
              <a:tabLst>
                <a:tab pos="259715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Scanning: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Initiate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Scan: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Start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configured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policy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target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assets.</a:t>
            </a:r>
            <a:r>
              <a:rPr dirty="0" sz="1100" spc="1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will </a:t>
            </a:r>
            <a:r>
              <a:rPr dirty="0" sz="1100" spc="-20">
                <a:latin typeface="Cambria Math"/>
                <a:cs typeface="Cambria Math"/>
              </a:rPr>
              <a:t>	</a:t>
            </a:r>
            <a:r>
              <a:rPr dirty="0" sz="1100" spc="-10">
                <a:latin typeface="Cambria Math"/>
                <a:cs typeface="Cambria Math"/>
              </a:rPr>
              <a:t>systematically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 target systems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 </a:t>
            </a:r>
            <a:r>
              <a:rPr dirty="0" sz="1100" spc="-10">
                <a:latin typeface="Cambria Math"/>
                <a:cs typeface="Cambria Math"/>
              </a:rPr>
              <a:t>vulnerabilities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based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its plugins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policies.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Font typeface="Cambria Math"/>
              <a:buAutoNum type="arabicPeriod" startAt="3"/>
            </a:pPr>
            <a:endParaRPr sz="1100">
              <a:latin typeface="Cambria Math"/>
              <a:cs typeface="Cambria Math"/>
            </a:endParaRPr>
          </a:p>
          <a:p>
            <a:pPr algn="just" marL="256540" marR="8255" indent="-226060">
              <a:lnSpc>
                <a:spcPct val="101400"/>
              </a:lnSpc>
              <a:buAutoNum type="arabicPeriod" startAt="3"/>
              <a:tabLst>
                <a:tab pos="259715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Vulnerability</a:t>
            </a:r>
            <a:r>
              <a:rPr dirty="0" u="sng" sz="1100" spc="17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Identification:</a:t>
            </a:r>
            <a:r>
              <a:rPr dirty="0" sz="1100" spc="2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1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performs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comprehensive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assessment,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checking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vulnerabilities, 	misconfigurations,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open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ports,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other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issues.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progresses,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categorizes</a:t>
            </a:r>
            <a:r>
              <a:rPr dirty="0" sz="110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severity,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making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easier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prioritize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remediation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efforts.</a:t>
            </a:r>
            <a:endParaRPr sz="1100">
              <a:latin typeface="Cambria Math"/>
              <a:cs typeface="Cambria Math"/>
            </a:endParaRPr>
          </a:p>
          <a:p>
            <a:pPr algn="just" marL="256540" marR="5080" indent="-226060">
              <a:lnSpc>
                <a:spcPct val="100600"/>
              </a:lnSpc>
              <a:spcBef>
                <a:spcPts val="1240"/>
              </a:spcBef>
              <a:buAutoNum type="arabicPeriod" startAt="3"/>
              <a:tabLst>
                <a:tab pos="259715" algn="l"/>
              </a:tabLst>
            </a:pP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Reporting: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generates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detailed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reports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list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discovered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during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scan.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Reports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typically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include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information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about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severity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each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recommended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remediation,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supporting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evidence.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reports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customized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exported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various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formats,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PDF, </a:t>
            </a:r>
            <a:r>
              <a:rPr dirty="0" sz="1100" spc="-2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HTML,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CSV.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587" y="990600"/>
            <a:ext cx="4590288" cy="2314955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976630"/>
            <a:ext cx="6698615" cy="8695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38125" marR="15875" indent="-226060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41300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Remediation: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Review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Findings: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teams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review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1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reports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prioritize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address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identified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Font typeface="Cambria Math"/>
              <a:buAutoNum type="arabicPeriod" startAt="6"/>
            </a:pPr>
            <a:endParaRPr sz="1100">
              <a:latin typeface="Cambria Math"/>
              <a:cs typeface="Cambria Math"/>
            </a:endParaRPr>
          </a:p>
          <a:p>
            <a:pPr marL="234950" marR="132715" indent="-6350">
              <a:lnSpc>
                <a:spcPct val="100000"/>
              </a:lnSpc>
            </a:pPr>
            <a:r>
              <a:rPr dirty="0" sz="1100">
                <a:latin typeface="Cambria Math"/>
                <a:cs typeface="Cambria Math"/>
              </a:rPr>
              <a:t>Remediation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Steps: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Take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corrective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fix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mitigate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vulnerabilities.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involve</a:t>
            </a:r>
            <a:r>
              <a:rPr dirty="0" sz="1100" spc="-10">
                <a:latin typeface="Cambria Math"/>
                <a:cs typeface="Cambria Math"/>
              </a:rPr>
              <a:t> applying </a:t>
            </a:r>
            <a:r>
              <a:rPr dirty="0" sz="1100">
                <a:latin typeface="Cambria Math"/>
                <a:cs typeface="Cambria Math"/>
              </a:rPr>
              <a:t>patches,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changing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configurations,</a:t>
            </a:r>
            <a:r>
              <a:rPr dirty="0" sz="1100">
                <a:latin typeface="Cambria Math"/>
                <a:cs typeface="Cambria Math"/>
              </a:rPr>
              <a:t> or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implementing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measures.</a:t>
            </a:r>
            <a:endParaRPr sz="1100">
              <a:latin typeface="Cambria Math"/>
              <a:cs typeface="Cambria Math"/>
            </a:endParaRPr>
          </a:p>
          <a:p>
            <a:pPr algn="just" marL="238125" marR="5080" indent="-226060">
              <a:lnSpc>
                <a:spcPct val="100000"/>
              </a:lnSpc>
              <a:spcBef>
                <a:spcPts val="1270"/>
              </a:spcBef>
              <a:buAutoNum type="arabicPeriod" startAt="7"/>
              <a:tabLst>
                <a:tab pos="241300" algn="l"/>
              </a:tabLst>
            </a:pP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Follow-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up: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Regular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Scanning: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Conduct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periodic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continuously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monitor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posture</a:t>
            </a:r>
            <a:r>
              <a:rPr dirty="0" sz="1100" spc="-25">
                <a:latin typeface="Cambria Math"/>
                <a:cs typeface="Cambria Math"/>
              </a:rPr>
              <a:t> of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networks.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helps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identify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new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vulnerabilities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track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progress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mitigating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existing 	ones.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Cambria Math"/>
              <a:buAutoNum type="arabicPeriod" startAt="7"/>
            </a:pPr>
            <a:endParaRPr sz="1100">
              <a:latin typeface="Cambria Math"/>
              <a:cs typeface="Cambria Math"/>
            </a:endParaRPr>
          </a:p>
          <a:p>
            <a:pPr marL="234950" marR="36195" indent="-6350">
              <a:lnSpc>
                <a:spcPts val="1310"/>
              </a:lnSpc>
            </a:pPr>
            <a:r>
              <a:rPr dirty="0" sz="1100">
                <a:latin typeface="Cambria Math"/>
                <a:cs typeface="Cambria Math"/>
              </a:rPr>
              <a:t>Integration:</a:t>
            </a:r>
            <a:r>
              <a:rPr dirty="0" sz="1100" spc="3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Integrate</a:t>
            </a:r>
            <a:r>
              <a:rPr dirty="0" sz="1100" spc="3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3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other</a:t>
            </a:r>
            <a:r>
              <a:rPr dirty="0" sz="1100" spc="3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3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tools</a:t>
            </a:r>
            <a:r>
              <a:rPr dirty="0" sz="1100" spc="3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3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workflows</a:t>
            </a:r>
            <a:r>
              <a:rPr dirty="0" sz="1100" spc="3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3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automate</a:t>
            </a:r>
            <a:r>
              <a:rPr dirty="0" sz="1100" spc="3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35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vulnerability </a:t>
            </a:r>
            <a:r>
              <a:rPr dirty="0" sz="1100">
                <a:latin typeface="Cambria Math"/>
                <a:cs typeface="Cambria Math"/>
              </a:rPr>
              <a:t>management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process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streamline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response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new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findings.</a:t>
            </a:r>
            <a:endParaRPr sz="1100">
              <a:latin typeface="Cambria Math"/>
              <a:cs typeface="Cambria Math"/>
            </a:endParaRPr>
          </a:p>
          <a:p>
            <a:pPr algn="just" marL="238125" marR="13335" indent="-226060">
              <a:lnSpc>
                <a:spcPct val="100000"/>
              </a:lnSpc>
              <a:spcBef>
                <a:spcPts val="1230"/>
              </a:spcBef>
              <a:buAutoNum type="arabicPeriod" startAt="8"/>
              <a:tabLst>
                <a:tab pos="241300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Compliance</a:t>
            </a:r>
            <a:r>
              <a:rPr dirty="0" u="sng" sz="1100" spc="8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Auditing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(if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applicable):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If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compliance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checks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part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policy,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review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compliance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results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take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actions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meet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required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standards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regulations.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Font typeface="Cambria Math"/>
              <a:buAutoNum type="arabicPeriod" startAt="8"/>
            </a:pPr>
            <a:endParaRPr sz="1100">
              <a:latin typeface="Cambria Math"/>
              <a:cs typeface="Cambria Math"/>
            </a:endParaRPr>
          </a:p>
          <a:p>
            <a:pPr algn="just" marL="238125" marR="8255" indent="-226060">
              <a:lnSpc>
                <a:spcPct val="100000"/>
              </a:lnSpc>
              <a:buAutoNum type="arabicPeriod" startAt="8"/>
              <a:tabLst>
                <a:tab pos="241300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Documentation: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Maintain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records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results,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remediation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efforts,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compliance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checks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audit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reporting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purposes.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Cambria Math"/>
              <a:buAutoNum type="arabicPeriod" startAt="8"/>
            </a:pPr>
            <a:endParaRPr sz="1100">
              <a:latin typeface="Cambria Math"/>
              <a:cs typeface="Cambria Math"/>
            </a:endParaRPr>
          </a:p>
          <a:p>
            <a:pPr algn="just" marL="240029" marR="6985" indent="-227965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41300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User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Training: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that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your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teams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trained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Nessus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effectively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interpreting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results.</a:t>
            </a:r>
            <a:endParaRPr sz="1100">
              <a:latin typeface="Cambria Math"/>
              <a:cs typeface="Cambria Math"/>
            </a:endParaRPr>
          </a:p>
          <a:p>
            <a:pPr algn="just" marL="18415" marR="9525" indent="-6350">
              <a:lnSpc>
                <a:spcPct val="100499"/>
              </a:lnSpc>
              <a:spcBef>
                <a:spcPts val="75"/>
              </a:spcBef>
            </a:pP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3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scans</a:t>
            </a:r>
            <a:r>
              <a:rPr dirty="0" sz="1100" spc="3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3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3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critical</a:t>
            </a:r>
            <a:r>
              <a:rPr dirty="0" sz="1100" spc="3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component</a:t>
            </a:r>
            <a:r>
              <a:rPr dirty="0" sz="1100" spc="3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3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proactive</a:t>
            </a:r>
            <a:r>
              <a:rPr dirty="0" sz="1100" spc="3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security,</a:t>
            </a:r>
            <a:r>
              <a:rPr dirty="0" sz="1100" spc="3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helping</a:t>
            </a:r>
            <a:r>
              <a:rPr dirty="0" sz="1100" spc="3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organizations</a:t>
            </a:r>
            <a:r>
              <a:rPr dirty="0" sz="1100" spc="3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identify</a:t>
            </a:r>
            <a:r>
              <a:rPr dirty="0" sz="1100" spc="3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9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address </a:t>
            </a:r>
            <a:r>
              <a:rPr dirty="0" sz="1100">
                <a:latin typeface="Cambria Math"/>
                <a:cs typeface="Cambria Math"/>
              </a:rPr>
              <a:t>vulnerabilities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infrastructure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reduce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1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risk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breaches</a:t>
            </a:r>
            <a:r>
              <a:rPr dirty="0" sz="1100" spc="1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data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compromises.</a:t>
            </a:r>
            <a:r>
              <a:rPr dirty="0" sz="1100" spc="13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The </a:t>
            </a:r>
            <a:r>
              <a:rPr dirty="0" sz="1100">
                <a:latin typeface="Cambria Math"/>
                <a:cs typeface="Cambria Math"/>
              </a:rPr>
              <a:t>frequency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depth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vary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depending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organization's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strategy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requirements.</a:t>
            </a:r>
            <a:endParaRPr sz="1100">
              <a:latin typeface="Cambria Math"/>
              <a:cs typeface="Cambria Math"/>
            </a:endParaRPr>
          </a:p>
          <a:p>
            <a:pPr algn="just" marL="18415" marR="11430" indent="-6350">
              <a:lnSpc>
                <a:spcPct val="100600"/>
              </a:lnSpc>
              <a:spcBef>
                <a:spcPts val="1255"/>
              </a:spcBef>
            </a:pP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popular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scanning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used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identifying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weaknesses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computer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systems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networks.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widely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utilized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professionals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assess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posture</a:t>
            </a:r>
            <a:r>
              <a:rPr dirty="0" sz="1100" spc="2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of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proactively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identify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potential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vulnerabilities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could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exploited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attackers.</a:t>
            </a:r>
            <a:r>
              <a:rPr dirty="0" sz="1100" spc="8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Here's </a:t>
            </a:r>
            <a:r>
              <a:rPr dirty="0" sz="1100">
                <a:latin typeface="Cambria Math"/>
                <a:cs typeface="Cambria Math"/>
              </a:rPr>
              <a:t>what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understand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about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scans:</a:t>
            </a:r>
            <a:endParaRPr sz="1100">
              <a:latin typeface="Cambria Math"/>
              <a:cs typeface="Cambria Math"/>
            </a:endParaRPr>
          </a:p>
          <a:p>
            <a:pPr algn="just" lvl="1" marL="455930" marR="9525" indent="-227329">
              <a:lnSpc>
                <a:spcPct val="100899"/>
              </a:lnSpc>
              <a:spcBef>
                <a:spcPts val="1235"/>
              </a:spcBef>
              <a:buAutoNum type="arabicPeriod"/>
              <a:tabLst>
                <a:tab pos="459105" algn="l"/>
              </a:tabLst>
            </a:pP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Assessment: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performs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assessment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scanning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target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or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networks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identify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issues,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such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missing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patches,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misconfigurations,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weak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passwords,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other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potential</a:t>
            </a:r>
            <a:r>
              <a:rPr dirty="0" sz="1100" spc="-10">
                <a:latin typeface="Cambria Math"/>
                <a:cs typeface="Cambria Math"/>
              </a:rPr>
              <a:t> weaknesses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could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10">
                <a:latin typeface="Cambria Math"/>
                <a:cs typeface="Cambria Math"/>
              </a:rPr>
              <a:t> exploited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attackers.</a:t>
            </a:r>
            <a:endParaRPr sz="1100">
              <a:latin typeface="Cambria Math"/>
              <a:cs typeface="Cambria Math"/>
            </a:endParaRPr>
          </a:p>
          <a:p>
            <a:pPr algn="just" lvl="1" marL="455930" marR="9525" indent="-227329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459105" algn="l"/>
              </a:tabLst>
            </a:pPr>
            <a:r>
              <a:rPr dirty="0" sz="1100" spc="-10">
                <a:latin typeface="Cambria Math"/>
                <a:cs typeface="Cambria Math"/>
              </a:rPr>
              <a:t>Network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Scanning: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Nessus can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wide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range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network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devices,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including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servers,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routers,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switches,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firewalls,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more.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examines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network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services,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open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ports,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software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running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on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target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systems.</a:t>
            </a:r>
            <a:endParaRPr sz="1100">
              <a:latin typeface="Cambria Math"/>
              <a:cs typeface="Cambria Math"/>
            </a:endParaRPr>
          </a:p>
          <a:p>
            <a:pPr lvl="1">
              <a:lnSpc>
                <a:spcPct val="100000"/>
              </a:lnSpc>
              <a:spcBef>
                <a:spcPts val="254"/>
              </a:spcBef>
              <a:buFont typeface="Cambria Math"/>
              <a:buAutoNum type="arabicPeriod"/>
            </a:pPr>
            <a:endParaRPr sz="1100">
              <a:latin typeface="Cambria Math"/>
              <a:cs typeface="Cambria Math"/>
            </a:endParaRPr>
          </a:p>
          <a:p>
            <a:pPr algn="just" lvl="1" marL="455930" marR="7620" indent="-227329">
              <a:lnSpc>
                <a:spcPct val="101000"/>
              </a:lnSpc>
              <a:buAutoNum type="arabicPeriod"/>
              <a:tabLst>
                <a:tab pos="459105" algn="l"/>
              </a:tabLst>
            </a:pPr>
            <a:r>
              <a:rPr dirty="0" sz="1100">
                <a:latin typeface="Cambria Math"/>
                <a:cs typeface="Cambria Math"/>
              </a:rPr>
              <a:t>Plugin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Architecture: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uses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plugin-based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architecture,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allowing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check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wide</a:t>
            </a:r>
            <a:r>
              <a:rPr dirty="0" sz="1100" spc="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variety</a:t>
            </a:r>
            <a:r>
              <a:rPr dirty="0" sz="1100" spc="5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of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vulnerabilities.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plugins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regularly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updated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include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latest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checks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support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for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new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vulnerabilities.</a:t>
            </a:r>
            <a:endParaRPr sz="1100">
              <a:latin typeface="Cambria Math"/>
              <a:cs typeface="Cambria Math"/>
            </a:endParaRPr>
          </a:p>
          <a:p>
            <a:pPr algn="just" lvl="1" marL="455930" marR="8255" indent="-227329">
              <a:lnSpc>
                <a:spcPct val="100499"/>
              </a:lnSpc>
              <a:spcBef>
                <a:spcPts val="1255"/>
              </a:spcBef>
              <a:buAutoNum type="arabicPeriod"/>
              <a:tabLst>
                <a:tab pos="459105" algn="l"/>
              </a:tabLst>
            </a:pPr>
            <a:r>
              <a:rPr dirty="0" sz="1100">
                <a:latin typeface="Cambria Math"/>
                <a:cs typeface="Cambria Math"/>
              </a:rPr>
              <a:t>Compliance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Auditing: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also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used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assess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against</a:t>
            </a:r>
            <a:r>
              <a:rPr dirty="0" sz="1100" spc="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various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compliance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standards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regulatory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requirements,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helping</a:t>
            </a:r>
            <a:r>
              <a:rPr dirty="0" sz="1100" spc="37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organizations</a:t>
            </a:r>
            <a:r>
              <a:rPr dirty="0" sz="1100" spc="3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ensure</a:t>
            </a:r>
            <a:r>
              <a:rPr dirty="0" sz="1100" spc="3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3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36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</a:t>
            </a:r>
            <a:r>
              <a:rPr dirty="0" sz="1100" spc="36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meet</a:t>
            </a:r>
            <a:r>
              <a:rPr dirty="0" sz="1100" spc="37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specific</a:t>
            </a:r>
            <a:r>
              <a:rPr dirty="0" sz="1100" spc="38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standards,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like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PCI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DSS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benchmarks.</a:t>
            </a:r>
            <a:endParaRPr sz="1100">
              <a:latin typeface="Cambria Math"/>
              <a:cs typeface="Cambria Math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ambria Math"/>
              <a:buAutoNum type="arabicPeriod"/>
            </a:pPr>
            <a:endParaRPr sz="1100">
              <a:latin typeface="Cambria Math"/>
              <a:cs typeface="Cambria Math"/>
            </a:endParaRPr>
          </a:p>
          <a:p>
            <a:pPr algn="just" lvl="1" marL="455930" marR="13335" indent="-227329">
              <a:lnSpc>
                <a:spcPts val="1310"/>
              </a:lnSpc>
              <a:buAutoNum type="arabicPeriod"/>
              <a:tabLst>
                <a:tab pos="459105" algn="l"/>
              </a:tabLst>
            </a:pPr>
            <a:r>
              <a:rPr dirty="0" sz="1100">
                <a:latin typeface="Cambria Math"/>
                <a:cs typeface="Cambria Math"/>
              </a:rPr>
              <a:t>Customization: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customized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suit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specific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needs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organization.</a:t>
            </a:r>
            <a:r>
              <a:rPr dirty="0" sz="1100" spc="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can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define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policies,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select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target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systems,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specify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types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vulnerabilities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for.</a:t>
            </a:r>
            <a:endParaRPr sz="1100">
              <a:latin typeface="Cambria Math"/>
              <a:cs typeface="Cambria Math"/>
            </a:endParaRPr>
          </a:p>
          <a:p>
            <a:pPr lvl="1">
              <a:lnSpc>
                <a:spcPct val="100000"/>
              </a:lnSpc>
              <a:spcBef>
                <a:spcPts val="225"/>
              </a:spcBef>
              <a:buFont typeface="Cambria Math"/>
              <a:buAutoNum type="arabicPeriod"/>
            </a:pPr>
            <a:endParaRPr sz="1100">
              <a:latin typeface="Cambria Math"/>
              <a:cs typeface="Cambria Math"/>
            </a:endParaRPr>
          </a:p>
          <a:p>
            <a:pPr algn="just" lvl="1" marL="455930" marR="10795" indent="-227329">
              <a:lnSpc>
                <a:spcPct val="100899"/>
              </a:lnSpc>
              <a:spcBef>
                <a:spcPts val="5"/>
              </a:spcBef>
              <a:buAutoNum type="arabicPeriod"/>
              <a:tabLst>
                <a:tab pos="459105" algn="l"/>
              </a:tabLst>
            </a:pPr>
            <a:r>
              <a:rPr dirty="0" sz="1100" spc="-10">
                <a:latin typeface="Cambria Math"/>
                <a:cs typeface="Cambria Math"/>
              </a:rPr>
              <a:t>Reporting: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Nessus</a:t>
            </a:r>
            <a:r>
              <a:rPr dirty="0" sz="1100">
                <a:latin typeface="Cambria Math"/>
                <a:cs typeface="Cambria Math"/>
              </a:rPr>
              <a:t> provides</a:t>
            </a:r>
            <a:r>
              <a:rPr dirty="0" sz="1100" spc="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detailed reports</a:t>
            </a:r>
            <a:r>
              <a:rPr dirty="0" sz="1100" spc="1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that highlight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vulnerabilities,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severity,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remediation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recommendations.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These</a:t>
            </a:r>
            <a:r>
              <a:rPr dirty="0" sz="1100" spc="2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reports</a:t>
            </a:r>
            <a:r>
              <a:rPr dirty="0" sz="1100" spc="2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are</a:t>
            </a:r>
            <a:r>
              <a:rPr dirty="0" sz="1100" spc="2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essential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2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229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teams</a:t>
            </a:r>
            <a:r>
              <a:rPr dirty="0" sz="1100" spc="229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prioritize</a:t>
            </a:r>
            <a:r>
              <a:rPr dirty="0" sz="1100" spc="2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23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address 	vulnerabilities.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976630"/>
            <a:ext cx="6692900" cy="2550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5930" marR="33020" indent="-22732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459105" algn="l"/>
              </a:tabLst>
            </a:pPr>
            <a:r>
              <a:rPr dirty="0" sz="1100">
                <a:latin typeface="Cambria Math"/>
                <a:cs typeface="Cambria Math"/>
              </a:rPr>
              <a:t>Scanning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Frequency:</a:t>
            </a:r>
            <a:r>
              <a:rPr dirty="0" sz="1100" spc="1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Organizations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often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perform</a:t>
            </a:r>
            <a:r>
              <a:rPr dirty="0" sz="1100" spc="10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regular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scans</a:t>
            </a:r>
            <a:r>
              <a:rPr dirty="0" sz="1100" spc="1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continuously</a:t>
            </a:r>
            <a:r>
              <a:rPr dirty="0" sz="1100" spc="9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monitor</a:t>
            </a:r>
            <a:r>
              <a:rPr dirty="0" sz="1100" spc="114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and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improve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posture.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crucial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staying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ahead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evolving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threats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vulnerabilities.</a:t>
            </a:r>
            <a:endParaRPr sz="1100">
              <a:latin typeface="Cambria Math"/>
              <a:cs typeface="Cambria Math"/>
            </a:endParaRPr>
          </a:p>
          <a:p>
            <a:pPr marL="455930" marR="69850" indent="-227329">
              <a:lnSpc>
                <a:spcPct val="100000"/>
              </a:lnSpc>
              <a:spcBef>
                <a:spcPts val="1260"/>
              </a:spcBef>
              <a:buAutoNum type="arabicPeriod" startAt="7"/>
              <a:tabLst>
                <a:tab pos="459105" algn="l"/>
              </a:tabLst>
            </a:pPr>
            <a:r>
              <a:rPr dirty="0" sz="1100">
                <a:latin typeface="Cambria Math"/>
                <a:cs typeface="Cambria Math"/>
              </a:rPr>
              <a:t>Integration: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can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be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integrated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with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other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platforms,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allowing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-25">
                <a:latin typeface="Cambria Math"/>
                <a:cs typeface="Cambria Math"/>
              </a:rPr>
              <a:t>to </a:t>
            </a:r>
            <a:r>
              <a:rPr dirty="0" sz="1100" spc="-25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automate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scanning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process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streamline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vulnerability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management.</a:t>
            </a:r>
            <a:endParaRPr sz="1100">
              <a:latin typeface="Cambria Math"/>
              <a:cs typeface="Cambria Math"/>
            </a:endParaRPr>
          </a:p>
          <a:p>
            <a:pPr marL="455930" marR="33655" indent="-227329">
              <a:lnSpc>
                <a:spcPct val="100000"/>
              </a:lnSpc>
              <a:spcBef>
                <a:spcPts val="1260"/>
              </a:spcBef>
              <a:buAutoNum type="arabicPeriod" startAt="7"/>
              <a:tabLst>
                <a:tab pos="459105" algn="l"/>
              </a:tabLst>
            </a:pPr>
            <a:r>
              <a:rPr dirty="0" sz="1100" spc="-10">
                <a:latin typeface="Cambria Math"/>
                <a:cs typeface="Cambria Math"/>
              </a:rPr>
              <a:t>Licensing: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Nessus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offers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both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free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5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commercial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versions.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The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free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version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limited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functionality, </a:t>
            </a:r>
            <a:r>
              <a:rPr dirty="0" sz="1100" spc="-1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while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commercial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version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provides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more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features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support.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Cambria Math"/>
              <a:buAutoNum type="arabicPeriod" startAt="7"/>
            </a:pPr>
            <a:endParaRPr sz="1100">
              <a:latin typeface="Cambria Math"/>
              <a:cs typeface="Cambria Math"/>
            </a:endParaRPr>
          </a:p>
          <a:p>
            <a:pPr marL="457200" marR="27305" indent="-228600">
              <a:lnSpc>
                <a:spcPts val="1310"/>
              </a:lnSpc>
              <a:buAutoNum type="arabicPeriod" startAt="7"/>
              <a:tabLst>
                <a:tab pos="459105" algn="l"/>
              </a:tabLst>
            </a:pPr>
            <a:r>
              <a:rPr dirty="0" sz="1100" spc="-10">
                <a:latin typeface="Cambria Math"/>
                <a:cs typeface="Cambria Math"/>
              </a:rPr>
              <a:t>User-</a:t>
            </a:r>
            <a:r>
              <a:rPr dirty="0" sz="1100">
                <a:latin typeface="Cambria Math"/>
                <a:cs typeface="Cambria Math"/>
              </a:rPr>
              <a:t>Friendly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Interface: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offers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easy-</a:t>
            </a:r>
            <a:r>
              <a:rPr dirty="0" sz="1100" spc="-20">
                <a:latin typeface="Cambria Math"/>
                <a:cs typeface="Cambria Math"/>
              </a:rPr>
              <a:t>to-</a:t>
            </a:r>
            <a:r>
              <a:rPr dirty="0" sz="1100">
                <a:latin typeface="Cambria Math"/>
                <a:cs typeface="Cambria Math"/>
              </a:rPr>
              <a:t>use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web-</a:t>
            </a:r>
            <a:r>
              <a:rPr dirty="0" sz="1100">
                <a:latin typeface="Cambria Math"/>
                <a:cs typeface="Cambria Math"/>
              </a:rPr>
              <a:t>based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interface,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making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accessible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-20">
                <a:latin typeface="Cambria Math"/>
                <a:cs typeface="Cambria Math"/>
              </a:rPr>
              <a:t> wide </a:t>
            </a:r>
            <a:r>
              <a:rPr dirty="0" sz="1100" spc="-20">
                <a:latin typeface="Cambria Math"/>
                <a:cs typeface="Cambria Math"/>
              </a:rPr>
              <a:t>	</a:t>
            </a:r>
            <a:r>
              <a:rPr dirty="0" sz="1100">
                <a:latin typeface="Cambria Math"/>
                <a:cs typeface="Cambria Math"/>
              </a:rPr>
              <a:t>range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of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users,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from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2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experts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less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experienced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10">
                <a:latin typeface="Cambria Math"/>
                <a:cs typeface="Cambria Math"/>
              </a:rPr>
              <a:t> professionals.</a:t>
            </a:r>
            <a:endParaRPr sz="1100">
              <a:latin typeface="Cambria Math"/>
              <a:cs typeface="Cambria Math"/>
            </a:endParaRPr>
          </a:p>
          <a:p>
            <a:pPr algn="just" marL="18415" marR="5080" indent="-6350">
              <a:lnSpc>
                <a:spcPct val="100600"/>
              </a:lnSpc>
              <a:spcBef>
                <a:spcPts val="1210"/>
              </a:spcBef>
            </a:pPr>
            <a:r>
              <a:rPr dirty="0" sz="1100">
                <a:latin typeface="Cambria Math"/>
                <a:cs typeface="Cambria Math"/>
              </a:rPr>
              <a:t>It's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important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note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that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Nessus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valuable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tool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for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identifying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vulnerabilities,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but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19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doesn't</a:t>
            </a:r>
            <a:r>
              <a:rPr dirty="0" sz="1100" spc="18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fix</a:t>
            </a:r>
            <a:r>
              <a:rPr dirty="0" sz="1100" spc="185">
                <a:latin typeface="Cambria Math"/>
                <a:cs typeface="Cambria Math"/>
              </a:rPr>
              <a:t> </a:t>
            </a:r>
            <a:r>
              <a:rPr dirty="0" sz="1100" spc="-20">
                <a:latin typeface="Cambria Math"/>
                <a:cs typeface="Cambria Math"/>
              </a:rPr>
              <a:t>these </a:t>
            </a:r>
            <a:r>
              <a:rPr dirty="0" sz="1100">
                <a:latin typeface="Cambria Math"/>
                <a:cs typeface="Cambria Math"/>
              </a:rPr>
              <a:t>vulnerabilities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itself.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It's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up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organization's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IT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and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security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teams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 take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 necessary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steps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5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remediate </a:t>
            </a:r>
            <a:r>
              <a:rPr dirty="0" sz="1100">
                <a:latin typeface="Cambria Math"/>
                <a:cs typeface="Cambria Math"/>
              </a:rPr>
              <a:t>the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identified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issues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to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enhance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their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-10">
                <a:latin typeface="Cambria Math"/>
                <a:cs typeface="Cambria Math"/>
              </a:rPr>
              <a:t>security.</a:t>
            </a:r>
            <a:endParaRPr sz="1100">
              <a:latin typeface="Cambria Math"/>
              <a:cs typeface="Cambria Math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69391" y="3818255"/>
          <a:ext cx="6730365" cy="4024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750"/>
                <a:gridCol w="2339340"/>
                <a:gridCol w="1171575"/>
                <a:gridCol w="2595244"/>
              </a:tblGrid>
              <a:tr h="36068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300">
                          <a:latin typeface="Cambria Math"/>
                          <a:cs typeface="Cambria Math"/>
                        </a:rPr>
                        <a:t>S.</a:t>
                      </a:r>
                      <a:r>
                        <a:rPr dirty="0" sz="13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300" spc="-25">
                          <a:latin typeface="Cambria Math"/>
                          <a:cs typeface="Cambria Math"/>
                        </a:rPr>
                        <a:t>No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431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300" spc="-10">
                          <a:latin typeface="Cambria Math"/>
                          <a:cs typeface="Cambria Math"/>
                        </a:rPr>
                        <a:t>Vulnerability</a:t>
                      </a:r>
                      <a:r>
                        <a:rPr dirty="0" sz="1300" spc="-4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300" spc="-20">
                          <a:latin typeface="Cambria Math"/>
                          <a:cs typeface="Cambria Math"/>
                        </a:rPr>
                        <a:t>Name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431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300" spc="-10">
                          <a:latin typeface="Cambria Math"/>
                          <a:cs typeface="Cambria Math"/>
                        </a:rPr>
                        <a:t>Severity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431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300" spc="-10">
                          <a:latin typeface="Cambria Math"/>
                          <a:cs typeface="Cambria Math"/>
                        </a:rPr>
                        <a:t>Plugins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431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1.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Cross-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site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scripting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(stored)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Low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Web</a:t>
                      </a:r>
                      <a:r>
                        <a:rPr dirty="0" sz="12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application Scanner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164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2.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Broken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Access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Control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Medium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2980" marR="368935" indent="-578485">
                        <a:lnSpc>
                          <a:spcPct val="105000"/>
                        </a:lnSpc>
                        <a:spcBef>
                          <a:spcPts val="26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SSH</a:t>
                      </a:r>
                      <a:r>
                        <a:rPr dirty="0" sz="1200" spc="-6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weak</a:t>
                      </a:r>
                      <a:r>
                        <a:rPr dirty="0" sz="1200" spc="-5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HMAC</a:t>
                      </a:r>
                      <a:r>
                        <a:rPr dirty="0" sz="1200" spc="-5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Algorithms Supported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3.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SQL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Injection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Medium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N/A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4.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Broken</a:t>
                      </a:r>
                      <a:r>
                        <a:rPr dirty="0" sz="12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Authentication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Low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HSTS</a:t>
                      </a:r>
                      <a:r>
                        <a:rPr dirty="0" sz="1200" spc="-5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Missing</a:t>
                      </a:r>
                      <a:r>
                        <a:rPr dirty="0" sz="1200" spc="-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from</a:t>
                      </a:r>
                      <a:r>
                        <a:rPr dirty="0" sz="1200" spc="-5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Server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5.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Insecure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Direct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Object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Reference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0">
                          <a:latin typeface="Cambria Math"/>
                          <a:cs typeface="Cambria Math"/>
                        </a:rPr>
                        <a:t>Info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Service</a:t>
                      </a:r>
                      <a:r>
                        <a:rPr dirty="0" sz="1200" spc="-6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Detection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6.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Security</a:t>
                      </a:r>
                      <a:r>
                        <a:rPr dirty="0" sz="1200" spc="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Misconfiguration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Low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4110" marR="222250" indent="-878205">
                        <a:lnSpc>
                          <a:spcPct val="105000"/>
                        </a:lnSpc>
                        <a:spcBef>
                          <a:spcPts val="26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SSL</a:t>
                      </a:r>
                      <a:r>
                        <a:rPr dirty="0" sz="1200" spc="-3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cipher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Block</a:t>
                      </a:r>
                      <a:r>
                        <a:rPr dirty="0" sz="1200" spc="-4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Chaining</a:t>
                      </a:r>
                      <a:r>
                        <a:rPr dirty="0" sz="1200" spc="-4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cipher suites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1645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7.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Cross-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Site</a:t>
                      </a:r>
                      <a:r>
                        <a:rPr dirty="0" sz="1200" spc="-3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Request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Forgery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Low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2190" marR="199390" indent="-838835">
                        <a:lnSpc>
                          <a:spcPct val="106700"/>
                        </a:lnSpc>
                        <a:spcBef>
                          <a:spcPts val="240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HTTP</a:t>
                      </a:r>
                      <a:r>
                        <a:rPr dirty="0" sz="1200" spc="-4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Form-</a:t>
                      </a:r>
                      <a:r>
                        <a:rPr dirty="0" sz="1200" spc="-5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Based</a:t>
                      </a:r>
                      <a:r>
                        <a:rPr dirty="0" sz="1200" spc="-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Authentication Detected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8.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15875">
                        <a:lnSpc>
                          <a:spcPct val="105800"/>
                        </a:lnSpc>
                        <a:spcBef>
                          <a:spcPts val="265"/>
                        </a:spcBef>
                        <a:tabLst>
                          <a:tab pos="962660" algn="l"/>
                          <a:tab pos="2193290" algn="l"/>
                        </a:tabLst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Cleartext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Transmission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1200" spc="-45">
                          <a:latin typeface="Cambria Math"/>
                          <a:cs typeface="Cambria Math"/>
                        </a:rPr>
                        <a:t>of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Sensitive</a:t>
                      </a:r>
                      <a:r>
                        <a:rPr dirty="0" sz="1200" spc="-5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Information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Medium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7055" marR="140970" indent="-389255">
                        <a:lnSpc>
                          <a:spcPct val="105000"/>
                        </a:lnSpc>
                        <a:spcBef>
                          <a:spcPts val="260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Cleartext</a:t>
                      </a:r>
                      <a:r>
                        <a:rPr dirty="0" sz="1200" spc="-3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Transmission</a:t>
                      </a:r>
                      <a:r>
                        <a:rPr dirty="0" sz="1200" spc="-5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of</a:t>
                      </a:r>
                      <a:r>
                        <a:rPr dirty="0" sz="1200" spc="-4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Sensitive Information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 over</a:t>
                      </a:r>
                      <a:r>
                        <a:rPr dirty="0" sz="1200" spc="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HTTP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330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9.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ClickJacking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0">
                          <a:latin typeface="Cambria Math"/>
                          <a:cs typeface="Cambria Math"/>
                        </a:rPr>
                        <a:t>Info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HTML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 Rendering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Layer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Vulnerability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6090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10.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44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87630">
                        <a:lnSpc>
                          <a:spcPct val="105000"/>
                        </a:lnSpc>
                        <a:spcBef>
                          <a:spcPts val="27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webserver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allows</a:t>
                      </a:r>
                      <a:r>
                        <a:rPr dirty="0" sz="12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password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auto- completion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Low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44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 marR="30480" indent="238125">
                        <a:lnSpc>
                          <a:spcPct val="105000"/>
                        </a:lnSpc>
                        <a:spcBef>
                          <a:spcPts val="275"/>
                        </a:spcBef>
                        <a:tabLst>
                          <a:tab pos="1624330" algn="l"/>
                        </a:tabLst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SSL/TLS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Diffie-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Hellman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Modulus&lt;=1024</a:t>
                      </a:r>
                      <a:r>
                        <a:rPr dirty="0" sz="1200" spc="5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bits(Logjam)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426212" y="8021573"/>
            <a:ext cx="3689350" cy="1778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Cambria Math"/>
                <a:cs typeface="Cambria Math"/>
              </a:rPr>
              <a:t>Target</a:t>
            </a:r>
            <a:r>
              <a:rPr dirty="0" sz="1300" spc="-30">
                <a:latin typeface="Cambria Math"/>
                <a:cs typeface="Cambria Math"/>
              </a:rPr>
              <a:t> </a:t>
            </a:r>
            <a:r>
              <a:rPr dirty="0" sz="1300">
                <a:latin typeface="Cambria Math"/>
                <a:cs typeface="Cambria Math"/>
              </a:rPr>
              <a:t>Website:</a:t>
            </a:r>
            <a:r>
              <a:rPr dirty="0" sz="13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testfire.net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300" spc="-10">
                <a:latin typeface="Cambria Math"/>
                <a:cs typeface="Cambria Math"/>
              </a:rPr>
              <a:t>Target</a:t>
            </a:r>
            <a:r>
              <a:rPr dirty="0" sz="1300" spc="-30">
                <a:latin typeface="Cambria Math"/>
                <a:cs typeface="Cambria Math"/>
              </a:rPr>
              <a:t> </a:t>
            </a:r>
            <a:r>
              <a:rPr dirty="0" sz="1300" spc="-10">
                <a:latin typeface="Cambria Math"/>
                <a:cs typeface="Cambria Math"/>
              </a:rPr>
              <a:t>IP</a:t>
            </a:r>
            <a:r>
              <a:rPr dirty="0" sz="1300" spc="-40">
                <a:latin typeface="Cambria Math"/>
                <a:cs typeface="Cambria Math"/>
              </a:rPr>
              <a:t> </a:t>
            </a:r>
            <a:r>
              <a:rPr dirty="0" sz="1300" spc="-10">
                <a:latin typeface="Cambria Math"/>
                <a:cs typeface="Cambria Math"/>
              </a:rPr>
              <a:t>Address:</a:t>
            </a:r>
            <a:r>
              <a:rPr dirty="0" sz="13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54.83.41.36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300" spc="-10">
                <a:latin typeface="Cambria Math"/>
                <a:cs typeface="Cambria Math"/>
              </a:rPr>
              <a:t>Report:</a:t>
            </a:r>
            <a:endParaRPr sz="1300">
              <a:latin typeface="Cambria Math"/>
              <a:cs typeface="Cambria Math"/>
            </a:endParaRPr>
          </a:p>
          <a:p>
            <a:pPr marL="241300" marR="5080" indent="-210820">
              <a:lnSpc>
                <a:spcPts val="3040"/>
              </a:lnSpc>
              <a:spcBef>
                <a:spcPts val="130"/>
              </a:spcBef>
            </a:pPr>
            <a:r>
              <a:rPr dirty="0" sz="1200">
                <a:latin typeface="Cambria Math"/>
                <a:cs typeface="Cambria Math"/>
              </a:rPr>
              <a:t>1.</a:t>
            </a:r>
            <a:r>
              <a:rPr dirty="0" sz="1200" spc="409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VULNERABILITY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Cross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site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scripting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(stored) SEVERITY: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Low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976630"/>
            <a:ext cx="6721475" cy="8881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2288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web application scanner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N/A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0" marR="215900" indent="-6350">
              <a:lnSpc>
                <a:spcPct val="102899"/>
              </a:lnSpc>
            </a:pPr>
            <a:r>
              <a:rPr dirty="0" sz="1200">
                <a:latin typeface="Cambria Math"/>
                <a:cs typeface="Cambria Math"/>
              </a:rPr>
              <a:t>DESCRIPTION: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occurs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injected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directly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into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vulnerable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web </a:t>
            </a:r>
            <a:r>
              <a:rPr dirty="0" sz="1200">
                <a:latin typeface="Cambria Math"/>
                <a:cs typeface="Cambria Math"/>
              </a:rPr>
              <a:t>application.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Reflected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XSS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involves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reflection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application,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onto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user's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browser.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algn="just" marL="600710" marR="12700" indent="-228600">
              <a:lnSpc>
                <a:spcPct val="104200"/>
              </a:lnSpc>
              <a:spcBef>
                <a:spcPts val="85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When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interacting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databases,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parameterized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statements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prepared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statements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avoid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SQL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injection,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which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vector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XSS.</a:t>
            </a:r>
            <a:endParaRPr sz="1200">
              <a:latin typeface="Cambria Math"/>
              <a:cs typeface="Cambria Math"/>
            </a:endParaRPr>
          </a:p>
          <a:p>
            <a:pPr algn="just" marL="600710" marR="16510" indent="-228600">
              <a:lnSpc>
                <a:spcPct val="103299"/>
              </a:lnSpc>
              <a:spcBef>
                <a:spcPts val="95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Sanitize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validate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inputs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any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displayed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page </a:t>
            </a:r>
            <a:r>
              <a:rPr dirty="0" sz="1200">
                <a:latin typeface="Cambria Math"/>
                <a:cs typeface="Cambria Math"/>
              </a:rPr>
              <a:t>properly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encoded.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output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encoding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libraries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functions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injection.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Cambria Math"/>
              <a:cs typeface="Cambria Math"/>
            </a:endParaRPr>
          </a:p>
          <a:p>
            <a:pPr marL="228600" marR="97790" indent="-6350">
              <a:lnSpc>
                <a:spcPct val="103499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stores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dangerous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database,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message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forum,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visitor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log,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other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trusted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store.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Later,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dangerous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10">
                <a:latin typeface="Cambria Math"/>
                <a:cs typeface="Cambria Math"/>
              </a:rPr>
              <a:t> subsequently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read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back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into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included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dynamic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attacker's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perspective,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optimal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place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inject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displayed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either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particularly </a:t>
            </a:r>
            <a:r>
              <a:rPr dirty="0" sz="1200">
                <a:latin typeface="Cambria Math"/>
                <a:cs typeface="Cambria Math"/>
              </a:rPr>
              <a:t>interesting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Interesting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typically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elevated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privileges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interact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valuable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executes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content,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able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perform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privileged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operations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behalf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gain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belonging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user.</a:t>
            </a:r>
            <a:endParaRPr sz="1200">
              <a:latin typeface="Cambria Math"/>
              <a:cs typeface="Cambria Math"/>
            </a:endParaRPr>
          </a:p>
          <a:p>
            <a:pPr marL="220979" marR="3444240" indent="-208915">
              <a:lnSpc>
                <a:spcPct val="210000"/>
              </a:lnSpc>
              <a:spcBef>
                <a:spcPts val="15"/>
              </a:spcBef>
              <a:buAutoNum type="arabicPeriod" startAt="2"/>
              <a:tabLst>
                <a:tab pos="222885" algn="l"/>
              </a:tabLst>
            </a:pPr>
            <a:r>
              <a:rPr dirty="0" sz="1200">
                <a:latin typeface="Cambria Math"/>
                <a:cs typeface="Cambria Math"/>
              </a:rPr>
              <a:t>VULNERABILITY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Broken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control 	SEVERITY: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medium</a:t>
            </a: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  <a:spcBef>
                <a:spcPts val="165"/>
              </a:spcBef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SSH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weak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HMAC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Algorithms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supported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N/A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0" marR="139700" indent="-6350">
              <a:lnSpc>
                <a:spcPct val="102499"/>
              </a:lnSpc>
            </a:pPr>
            <a:r>
              <a:rPr dirty="0" sz="1200">
                <a:latin typeface="Cambria Math"/>
                <a:cs typeface="Cambria Math"/>
              </a:rPr>
              <a:t>DESCRIPTION: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checks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applied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consistently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-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-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are </a:t>
            </a:r>
            <a:r>
              <a:rPr dirty="0" sz="1200">
                <a:latin typeface="Cambria Math"/>
                <a:cs typeface="Cambria Math"/>
              </a:rPr>
              <a:t>able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perform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should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allowed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perform.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lead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wide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range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problems,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including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information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exposures,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denial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service,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arbitrary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code </a:t>
            </a:r>
            <a:r>
              <a:rPr dirty="0" sz="1200" spc="-10">
                <a:latin typeface="Cambria Math"/>
                <a:cs typeface="Cambria Math"/>
              </a:rPr>
              <a:t>execution.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algn="just" lvl="1" marL="600710" marR="5080" indent="-228600">
              <a:lnSpc>
                <a:spcPct val="102800"/>
              </a:lnSpc>
              <a:spcBef>
                <a:spcPts val="114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Ensure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robust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authentication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authorization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mechanism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place.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should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authenticated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before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any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performed,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authorization </a:t>
            </a:r>
            <a:r>
              <a:rPr dirty="0" sz="1200">
                <a:latin typeface="Cambria Math"/>
                <a:cs typeface="Cambria Math"/>
              </a:rPr>
              <a:t>checks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should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conducted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verify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necessary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permissions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requested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operation.</a:t>
            </a:r>
            <a:endParaRPr sz="1200">
              <a:latin typeface="Cambria Math"/>
              <a:cs typeface="Cambria Math"/>
            </a:endParaRPr>
          </a:p>
          <a:p>
            <a:pPr algn="just" lvl="1" marL="600710" marR="8890" indent="-228600">
              <a:lnSpc>
                <a:spcPct val="103800"/>
              </a:lnSpc>
              <a:spcBef>
                <a:spcPts val="105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Ensure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session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management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secure.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strong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session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IDs,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enforce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session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timeouts,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regenerate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session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tokens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after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login.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Implement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session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fixation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protection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prevent </a:t>
            </a:r>
            <a:r>
              <a:rPr dirty="0" sz="1200">
                <a:latin typeface="Cambria Math"/>
                <a:cs typeface="Cambria Math"/>
              </a:rPr>
              <a:t>session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hijacking.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Cambria Math"/>
              <a:cs typeface="Cambria Math"/>
            </a:endParaRPr>
          </a:p>
          <a:p>
            <a:pPr marL="228600" marR="231775" indent="-6350">
              <a:lnSpc>
                <a:spcPct val="103499"/>
              </a:lnSpc>
              <a:spcBef>
                <a:spcPts val="5"/>
              </a:spcBef>
            </a:pPr>
            <a:r>
              <a:rPr dirty="0" sz="1200" spc="-10">
                <a:latin typeface="Cambria Math"/>
                <a:cs typeface="Cambria Math"/>
              </a:rPr>
              <a:t>BUSINESS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IMPACT: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wide-</a:t>
            </a:r>
            <a:r>
              <a:rPr dirty="0" sz="1200">
                <a:latin typeface="Cambria Math"/>
                <a:cs typeface="Cambria Math"/>
              </a:rPr>
              <a:t>ranging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including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financial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losses,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reputation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damage, </a:t>
            </a:r>
            <a:r>
              <a:rPr dirty="0" sz="1200">
                <a:latin typeface="Cambria Math"/>
                <a:cs typeface="Cambria Math"/>
              </a:rPr>
              <a:t>legal</a:t>
            </a:r>
            <a:r>
              <a:rPr dirty="0" sz="1200" spc="4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consequences,</a:t>
            </a:r>
            <a:r>
              <a:rPr dirty="0" sz="1200" spc="4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operational</a:t>
            </a:r>
            <a:r>
              <a:rPr dirty="0" sz="1200" spc="4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disruption,</a:t>
            </a:r>
            <a:r>
              <a:rPr dirty="0" sz="1200" spc="4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loss</a:t>
            </a:r>
            <a:r>
              <a:rPr dirty="0" sz="1200" spc="4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4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customer</a:t>
            </a:r>
            <a:r>
              <a:rPr dirty="0" sz="1200" spc="4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trust.</a:t>
            </a:r>
            <a:r>
              <a:rPr dirty="0" sz="1200" spc="4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Addressing</a:t>
            </a:r>
            <a:r>
              <a:rPr dirty="0" sz="1200" spc="46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this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976630"/>
            <a:ext cx="6722745" cy="871664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just" marL="228600" marR="209550">
              <a:lnSpc>
                <a:spcPct val="103299"/>
              </a:lnSpc>
              <a:spcBef>
                <a:spcPts val="50"/>
              </a:spcBef>
            </a:pPr>
            <a:r>
              <a:rPr dirty="0" sz="1200">
                <a:latin typeface="Cambria Math"/>
                <a:cs typeface="Cambria Math"/>
              </a:rPr>
              <a:t>vulnerability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crucial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organization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its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stakeholders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potential </a:t>
            </a:r>
            <a:r>
              <a:rPr dirty="0" sz="1200">
                <a:latin typeface="Cambria Math"/>
                <a:cs typeface="Cambria Math"/>
              </a:rPr>
              <a:t>negative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effects.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200">
              <a:latin typeface="Cambria Math"/>
              <a:cs typeface="Cambria Math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240029" algn="l"/>
              </a:tabLst>
            </a:pPr>
            <a:r>
              <a:rPr dirty="0" sz="1200" spc="-10">
                <a:latin typeface="Cambria Math"/>
                <a:cs typeface="Cambria Math"/>
              </a:rPr>
              <a:t>VULNERABILITY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SQL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injection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Cambria Math"/>
              <a:buAutoNum type="arabicPeriod" startAt="3"/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SEVERITY: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medium</a:t>
            </a:r>
            <a:endParaRPr sz="1200">
              <a:latin typeface="Cambria Math"/>
              <a:cs typeface="Cambria Math"/>
            </a:endParaRPr>
          </a:p>
          <a:p>
            <a:pPr marL="222885" marR="2868295">
              <a:lnSpc>
                <a:spcPct val="210000"/>
              </a:lnSpc>
              <a:spcBef>
                <a:spcPts val="60"/>
              </a:spcBef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N/A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(typically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would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tool) </a:t>
            </a: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80/443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0" marR="195580" indent="-6350">
              <a:lnSpc>
                <a:spcPct val="103600"/>
              </a:lnSpc>
            </a:pPr>
            <a:r>
              <a:rPr dirty="0" sz="1200" spc="-10">
                <a:latin typeface="Cambria Math"/>
                <a:cs typeface="Cambria Math"/>
              </a:rPr>
              <a:t>DESCRIPTION: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product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constructs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part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SQL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command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externally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influenced </a:t>
            </a:r>
            <a:r>
              <a:rPr dirty="0" sz="1200">
                <a:latin typeface="Cambria Math"/>
                <a:cs typeface="Cambria Math"/>
              </a:rPr>
              <a:t>input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upstream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component,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but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does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neutralize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incorrectly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neutralizes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special </a:t>
            </a:r>
            <a:r>
              <a:rPr dirty="0" sz="1200">
                <a:latin typeface="Cambria Math"/>
                <a:cs typeface="Cambria Math"/>
              </a:rPr>
              <a:t>elements</a:t>
            </a:r>
            <a:r>
              <a:rPr dirty="0" sz="1200" spc="2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could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modify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intended</a:t>
            </a:r>
            <a:r>
              <a:rPr dirty="0" sz="1200" spc="2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SQL</a:t>
            </a:r>
            <a:r>
              <a:rPr dirty="0" sz="1200" spc="2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command</a:t>
            </a:r>
            <a:r>
              <a:rPr dirty="0" sz="1200" spc="3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3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2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sent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downstream component.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algn="just" lvl="1" marL="600710" marR="10795" indent="-228600">
              <a:lnSpc>
                <a:spcPct val="102899"/>
              </a:lnSpc>
              <a:spcBef>
                <a:spcPts val="100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If</a:t>
            </a:r>
            <a:r>
              <a:rPr dirty="0" sz="1200" spc="3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parameterized</a:t>
            </a:r>
            <a:r>
              <a:rPr dirty="0" sz="1200" spc="3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statements</a:t>
            </a:r>
            <a:r>
              <a:rPr dirty="0" sz="1200" spc="3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3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3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feasible,</a:t>
            </a:r>
            <a:r>
              <a:rPr dirty="0" sz="1200" spc="3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3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proper</a:t>
            </a:r>
            <a:r>
              <a:rPr dirty="0" sz="1200" spc="3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input</a:t>
            </a:r>
            <a:r>
              <a:rPr dirty="0" sz="1200" spc="3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validation</a:t>
            </a:r>
            <a:r>
              <a:rPr dirty="0" sz="1200" spc="3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3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escaping </a:t>
            </a:r>
            <a:r>
              <a:rPr dirty="0" sz="1200">
                <a:latin typeface="Cambria Math"/>
                <a:cs typeface="Cambria Math"/>
              </a:rPr>
              <a:t>mechanisms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sanitize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inputs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before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used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SQL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queries.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helps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prevent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code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injection.</a:t>
            </a:r>
            <a:endParaRPr sz="1200">
              <a:latin typeface="Cambria Math"/>
              <a:cs typeface="Cambria Math"/>
            </a:endParaRPr>
          </a:p>
          <a:p>
            <a:pPr algn="just" lvl="1" marL="600710" marR="17145" indent="-228600">
              <a:lnSpc>
                <a:spcPct val="104200"/>
              </a:lnSpc>
              <a:spcBef>
                <a:spcPts val="95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Utilize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stored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procedures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database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operations.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help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separate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SQL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code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from </a:t>
            </a:r>
            <a:r>
              <a:rPr dirty="0" sz="1200" spc="-10">
                <a:latin typeface="Cambria Math"/>
                <a:cs typeface="Cambria Math"/>
              </a:rPr>
              <a:t>application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code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SQL</a:t>
            </a:r>
            <a:r>
              <a:rPr dirty="0" sz="1200" spc="-10">
                <a:latin typeface="Cambria Math"/>
                <a:cs typeface="Cambria Math"/>
              </a:rPr>
              <a:t> injection.</a:t>
            </a:r>
            <a:endParaRPr sz="1200">
              <a:latin typeface="Cambria Math"/>
              <a:cs typeface="Cambria Math"/>
            </a:endParaRPr>
          </a:p>
          <a:p>
            <a:pPr algn="just" lvl="1" marL="600710" marR="8255" indent="-228600">
              <a:lnSpc>
                <a:spcPct val="103299"/>
              </a:lnSpc>
              <a:spcBef>
                <a:spcPts val="100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</a:t>
            </a:r>
            <a:r>
              <a:rPr dirty="0" sz="1200" spc="-10">
                <a:latin typeface="Cambria Math"/>
                <a:cs typeface="Cambria Math"/>
              </a:rPr>
              <a:t>Implement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strict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input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validation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inputs,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ensuring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data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adheres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expected </a:t>
            </a:r>
            <a:r>
              <a:rPr dirty="0" sz="1200">
                <a:latin typeface="Cambria Math"/>
                <a:cs typeface="Cambria Math"/>
              </a:rPr>
              <a:t>format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structure.</a:t>
            </a:r>
            <a:endParaRPr sz="1200">
              <a:latin typeface="Cambria Math"/>
              <a:cs typeface="Cambria Math"/>
            </a:endParaRPr>
          </a:p>
          <a:p>
            <a:pPr lvl="1">
              <a:lnSpc>
                <a:spcPct val="100000"/>
              </a:lnSpc>
              <a:spcBef>
                <a:spcPts val="175"/>
              </a:spcBef>
              <a:buFont typeface="Arial MT"/>
              <a:buChar char="•"/>
            </a:pPr>
            <a:endParaRPr sz="1200">
              <a:latin typeface="Cambria Math"/>
              <a:cs typeface="Cambria Math"/>
            </a:endParaRPr>
          </a:p>
          <a:p>
            <a:pPr marL="228600" marR="231140" indent="-6350">
              <a:lnSpc>
                <a:spcPct val="104200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IMPACT: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summary,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crucial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underscore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CWE-</a:t>
            </a:r>
            <a:r>
              <a:rPr dirty="0" sz="1200">
                <a:latin typeface="Cambria Math"/>
                <a:cs typeface="Cambria Math"/>
              </a:rPr>
              <a:t>89,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known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SQL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Injection,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exert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profound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diverse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encompasses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critical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facets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20">
                <a:latin typeface="Cambria Math"/>
                <a:cs typeface="Cambria Math"/>
              </a:rPr>
              <a:t> data </a:t>
            </a:r>
            <a:r>
              <a:rPr dirty="0" sz="1200">
                <a:latin typeface="Cambria Math"/>
                <a:cs typeface="Cambria Math"/>
              </a:rPr>
              <a:t>breaches,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financial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setbacks,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harm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reputation,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legal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ramifications,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operational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turmoil.</a:t>
            </a:r>
            <a:endParaRPr sz="1200">
              <a:latin typeface="Cambria Math"/>
              <a:cs typeface="Cambria Math"/>
            </a:endParaRPr>
          </a:p>
          <a:p>
            <a:pPr marL="228600" marR="436880">
              <a:lnSpc>
                <a:spcPct val="103299"/>
              </a:lnSpc>
              <a:spcBef>
                <a:spcPts val="15"/>
              </a:spcBef>
            </a:pPr>
            <a:r>
              <a:rPr dirty="0" sz="1200">
                <a:latin typeface="Cambria Math"/>
                <a:cs typeface="Cambria Math"/>
              </a:rPr>
              <a:t>Hence,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imperative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remedying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SQL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injection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vulnerabilities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cannot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be </a:t>
            </a:r>
            <a:r>
              <a:rPr dirty="0" sz="1200">
                <a:latin typeface="Cambria Math"/>
                <a:cs typeface="Cambria Math"/>
              </a:rPr>
              <a:t>overstated,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indispensable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fortifying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continuity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organization's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data.</a:t>
            </a:r>
            <a:endParaRPr sz="1200">
              <a:latin typeface="Cambria Math"/>
              <a:cs typeface="Cambria Math"/>
            </a:endParaRPr>
          </a:p>
          <a:p>
            <a:pPr marL="220979" marR="3409950" indent="-208915">
              <a:lnSpc>
                <a:spcPts val="3050"/>
              </a:lnSpc>
              <a:spcBef>
                <a:spcPts val="295"/>
              </a:spcBef>
              <a:buAutoNum type="arabicPeriod" startAt="4"/>
              <a:tabLst>
                <a:tab pos="222885" algn="l"/>
              </a:tabLst>
            </a:pPr>
            <a:r>
              <a:rPr dirty="0" sz="1200" spc="-10">
                <a:latin typeface="Cambria Math"/>
                <a:cs typeface="Cambria Math"/>
              </a:rPr>
              <a:t>VULNERABILITY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Broken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authentication 	SEVERITY: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Low</a:t>
            </a: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  <a:spcBef>
                <a:spcPts val="1200"/>
              </a:spcBef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HSTS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Missing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(plugin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id:142960)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443</a:t>
            </a:r>
            <a:endParaRPr sz="1200">
              <a:latin typeface="Cambria Math"/>
              <a:cs typeface="Cambria Math"/>
            </a:endParaRPr>
          </a:p>
          <a:p>
            <a:pPr marL="228600" marR="34290" indent="-6350">
              <a:lnSpc>
                <a:spcPct val="104200"/>
              </a:lnSpc>
              <a:spcBef>
                <a:spcPts val="80"/>
              </a:spcBef>
            </a:pPr>
            <a:r>
              <a:rPr dirty="0" sz="1200">
                <a:latin typeface="Cambria Math"/>
                <a:cs typeface="Cambria Math"/>
              </a:rPr>
              <a:t>DESCRIPTION: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system's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authorization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functionality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does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one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gaining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another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user's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record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modifying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key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value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identifying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data.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algn="just" lvl="1" marL="600710" marR="5080" indent="-228600">
              <a:lnSpc>
                <a:spcPct val="104200"/>
              </a:lnSpc>
              <a:spcBef>
                <a:spcPts val="85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Implement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strong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authentication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mechanisms,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multi-</a:t>
            </a:r>
            <a:r>
              <a:rPr dirty="0" sz="1200">
                <a:latin typeface="Cambria Math"/>
                <a:cs typeface="Cambria Math"/>
              </a:rPr>
              <a:t>factor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authentication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(MFA)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or </a:t>
            </a:r>
            <a:r>
              <a:rPr dirty="0" sz="1200" spc="-10">
                <a:latin typeface="Cambria Math"/>
                <a:cs typeface="Cambria Math"/>
              </a:rPr>
              <a:t>two-</a:t>
            </a:r>
            <a:r>
              <a:rPr dirty="0" sz="1200">
                <a:latin typeface="Cambria Math"/>
                <a:cs typeface="Cambria Math"/>
              </a:rPr>
              <a:t>factor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authentication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(2FA),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only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authorized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system.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975106"/>
            <a:ext cx="6722745" cy="868299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600710" marR="6350" indent="-228600">
              <a:lnSpc>
                <a:spcPct val="102899"/>
              </a:lnSpc>
              <a:spcBef>
                <a:spcPts val="55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</a:t>
            </a:r>
            <a:r>
              <a:rPr dirty="0" sz="1200" spc="-10">
                <a:latin typeface="Cambria Math"/>
                <a:cs typeface="Cambria Math"/>
              </a:rPr>
              <a:t>Implement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proper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authorization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necessary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permissions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specific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functions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data.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role-based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(RBAC)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manage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user </a:t>
            </a:r>
            <a:r>
              <a:rPr dirty="0" sz="1200">
                <a:latin typeface="Cambria Math"/>
                <a:cs typeface="Cambria Math"/>
              </a:rPr>
              <a:t>privileges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effectively.</a:t>
            </a:r>
            <a:endParaRPr sz="1200">
              <a:latin typeface="Cambria Math"/>
              <a:cs typeface="Cambria Math"/>
            </a:endParaRPr>
          </a:p>
          <a:p>
            <a:pPr algn="just" marL="600710" marR="11430" indent="-228600">
              <a:lnSpc>
                <a:spcPct val="104200"/>
              </a:lnSpc>
              <a:spcBef>
                <a:spcPts val="95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Deploy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intrusion </a:t>
            </a:r>
            <a:r>
              <a:rPr dirty="0" sz="1200">
                <a:latin typeface="Cambria Math"/>
                <a:cs typeface="Cambria Math"/>
              </a:rPr>
              <a:t>detection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(IDS/IPS)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monitor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block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suspicious </a:t>
            </a:r>
            <a:r>
              <a:rPr dirty="0" sz="1200">
                <a:latin typeface="Cambria Math"/>
                <a:cs typeface="Cambria Math"/>
              </a:rPr>
              <a:t>activities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related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0">
                <a:latin typeface="Cambria Math"/>
                <a:cs typeface="Cambria Math"/>
              </a:rPr>
              <a:t> authentication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authorization.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0" marR="5080" indent="-6350">
              <a:lnSpc>
                <a:spcPct val="102699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mitigate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CWE-285,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imperative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that </a:t>
            </a:r>
            <a:r>
              <a:rPr dirty="0" sz="1200">
                <a:latin typeface="Cambria Math"/>
                <a:cs typeface="Cambria Math"/>
              </a:rPr>
              <a:t>organizations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place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strong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emphasis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bolstering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authentication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session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management </a:t>
            </a:r>
            <a:r>
              <a:rPr dirty="0" sz="1200">
                <a:latin typeface="Cambria Math"/>
                <a:cs typeface="Cambria Math"/>
              </a:rPr>
              <a:t>practices.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should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encompass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adoption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multi-</a:t>
            </a:r>
            <a:r>
              <a:rPr dirty="0" sz="1200">
                <a:latin typeface="Cambria Math"/>
                <a:cs typeface="Cambria Math"/>
              </a:rPr>
              <a:t>factor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authentication,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storage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of </a:t>
            </a:r>
            <a:r>
              <a:rPr dirty="0" sz="1200">
                <a:latin typeface="Cambria Math"/>
                <a:cs typeface="Cambria Math"/>
              </a:rPr>
              <a:t>credentials,</a:t>
            </a:r>
            <a:r>
              <a:rPr dirty="0" sz="1200" spc="4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meticulous</a:t>
            </a:r>
            <a:r>
              <a:rPr dirty="0" sz="1200" spc="409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session</a:t>
            </a:r>
            <a:r>
              <a:rPr dirty="0" sz="1200" spc="4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handling,</a:t>
            </a:r>
            <a:r>
              <a:rPr dirty="0" sz="1200" spc="4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09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409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commitment</a:t>
            </a:r>
            <a:r>
              <a:rPr dirty="0" sz="1200" spc="4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4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conducting</a:t>
            </a:r>
            <a:r>
              <a:rPr dirty="0" sz="1200" spc="409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routine</a:t>
            </a:r>
            <a:r>
              <a:rPr dirty="0" sz="1200" spc="409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security </a:t>
            </a:r>
            <a:r>
              <a:rPr dirty="0" sz="1200">
                <a:latin typeface="Cambria Math"/>
                <a:cs typeface="Cambria Math"/>
              </a:rPr>
              <a:t>assessments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testing.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rectification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vulnerabilities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stands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critical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imperative, </a:t>
            </a:r>
            <a:r>
              <a:rPr dirty="0" sz="1200">
                <a:latin typeface="Cambria Math"/>
                <a:cs typeface="Cambria Math"/>
              </a:rPr>
              <a:t>safeguarding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identities,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organization's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overarching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stature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and </a:t>
            </a:r>
            <a:r>
              <a:rPr dirty="0" sz="1200" spc="-10">
                <a:latin typeface="Cambria Math"/>
                <a:cs typeface="Cambria Math"/>
              </a:rPr>
              <a:t>reputation.</a:t>
            </a:r>
            <a:endParaRPr sz="1200">
              <a:latin typeface="Cambria Math"/>
              <a:cs typeface="Cambria Math"/>
            </a:endParaRPr>
          </a:p>
          <a:p>
            <a:pPr marL="220979" marR="2757170" indent="-208915">
              <a:lnSpc>
                <a:spcPct val="210800"/>
              </a:lnSpc>
              <a:spcBef>
                <a:spcPts val="85"/>
              </a:spcBef>
              <a:buAutoNum type="arabicPeriod" startAt="5"/>
              <a:tabLst>
                <a:tab pos="222885" algn="l"/>
              </a:tabLst>
            </a:pPr>
            <a:r>
              <a:rPr dirty="0" sz="1200">
                <a:latin typeface="Cambria Math"/>
                <a:cs typeface="Cambria Math"/>
              </a:rPr>
              <a:t>VULNERABILITY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Insecure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Direct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object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Reference 	SEVERITY: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Info</a:t>
            </a:r>
            <a:endParaRPr sz="1200">
              <a:latin typeface="Cambria Math"/>
              <a:cs typeface="Cambria Math"/>
            </a:endParaRPr>
          </a:p>
          <a:p>
            <a:pPr marL="222885" marR="3596004">
              <a:lnSpc>
                <a:spcPct val="210000"/>
              </a:lnSpc>
              <a:spcBef>
                <a:spcPts val="10"/>
              </a:spcBef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Service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Detection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(plugin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id:22964) </a:t>
            </a: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80/443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0" marR="205104" indent="-6350">
              <a:lnSpc>
                <a:spcPct val="1036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DESCRIPTION: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Insecure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Direct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Object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Reference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(IDOR)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vulnerability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arises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when </a:t>
            </a:r>
            <a:r>
              <a:rPr dirty="0" sz="1200">
                <a:latin typeface="Cambria Math"/>
                <a:cs typeface="Cambria Math"/>
              </a:rPr>
              <a:t>attackers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modify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objects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manipulating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identifiers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used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application's </a:t>
            </a:r>
            <a:r>
              <a:rPr dirty="0" sz="1200">
                <a:latin typeface="Cambria Math"/>
                <a:cs typeface="Cambria Math"/>
              </a:rPr>
              <a:t>URLs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parameters.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occurs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due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missing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checks, which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fail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verify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whether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a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should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allowed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specific</a:t>
            </a:r>
            <a:r>
              <a:rPr dirty="0" sz="1200" spc="-20">
                <a:latin typeface="Cambria Math"/>
                <a:cs typeface="Cambria Math"/>
              </a:rPr>
              <a:t> data.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lvl="1" marL="600710" marR="116205" indent="-228600">
              <a:lnSpc>
                <a:spcPct val="103299"/>
              </a:lnSpc>
              <a:spcBef>
                <a:spcPts val="95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>
                <a:latin typeface="Cambria Math"/>
                <a:cs typeface="Cambria Math"/>
              </a:rPr>
              <a:t>Utilize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parameterized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queries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prepared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statements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interacting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databases.</a:t>
            </a:r>
            <a:r>
              <a:rPr dirty="0" sz="1200" spc="-20">
                <a:latin typeface="Cambria Math"/>
                <a:cs typeface="Cambria Math"/>
              </a:rPr>
              <a:t> This </a:t>
            </a:r>
            <a:r>
              <a:rPr dirty="0" sz="1200">
                <a:latin typeface="Cambria Math"/>
                <a:cs typeface="Cambria Math"/>
              </a:rPr>
              <a:t>prevents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user-</a:t>
            </a:r>
            <a:r>
              <a:rPr dirty="0" sz="1200">
                <a:latin typeface="Cambria Math"/>
                <a:cs typeface="Cambria Math"/>
              </a:rPr>
              <a:t>controlled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input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executed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SQL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code.</a:t>
            </a:r>
            <a:endParaRPr sz="1200">
              <a:latin typeface="Cambria Math"/>
              <a:cs typeface="Cambria Math"/>
            </a:endParaRPr>
          </a:p>
          <a:p>
            <a:pPr lvl="1" marL="600710" marR="120014" indent="-228600">
              <a:lnSpc>
                <a:spcPct val="102499"/>
              </a:lnSpc>
              <a:spcBef>
                <a:spcPts val="120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 spc="-10">
                <a:latin typeface="Cambria Math"/>
                <a:cs typeface="Cambria Math"/>
              </a:rPr>
              <a:t>Implement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mitigate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cross-site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(XSS)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attacks, </a:t>
            </a:r>
            <a:r>
              <a:rPr dirty="0" sz="1200">
                <a:latin typeface="Cambria Math"/>
                <a:cs typeface="Cambria Math"/>
              </a:rPr>
              <a:t>which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 used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 execute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unauthorized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queries.</a:t>
            </a:r>
            <a:endParaRPr sz="1200">
              <a:latin typeface="Cambria Math"/>
              <a:cs typeface="Cambria Math"/>
            </a:endParaRPr>
          </a:p>
          <a:p>
            <a:pPr lvl="1" marL="600710" marR="127635" indent="-228600">
              <a:lnSpc>
                <a:spcPct val="103299"/>
              </a:lnSpc>
              <a:spcBef>
                <a:spcPts val="120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 spc="-10">
                <a:latin typeface="Cambria Math"/>
                <a:cs typeface="Cambria Math"/>
              </a:rPr>
              <a:t>Implement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account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lockout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mechanisms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temporarily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suspend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accounts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after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specified </a:t>
            </a:r>
            <a:r>
              <a:rPr dirty="0" sz="1200">
                <a:latin typeface="Cambria Math"/>
                <a:cs typeface="Cambria Math"/>
              </a:rPr>
              <a:t>number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unauthorized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attempts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brute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force</a:t>
            </a:r>
            <a:r>
              <a:rPr dirty="0" sz="1200" spc="-10">
                <a:latin typeface="Cambria Math"/>
                <a:cs typeface="Cambria Math"/>
              </a:rPr>
              <a:t> attacks.</a:t>
            </a:r>
            <a:endParaRPr sz="1200">
              <a:latin typeface="Cambria Math"/>
              <a:cs typeface="Cambria Math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Font typeface="Arial MT"/>
              <a:buChar char="•"/>
            </a:pPr>
            <a:endParaRPr sz="1200">
              <a:latin typeface="Cambria Math"/>
              <a:cs typeface="Cambria Math"/>
            </a:endParaRPr>
          </a:p>
          <a:p>
            <a:pPr marL="228600" marR="90805" indent="-6350">
              <a:lnSpc>
                <a:spcPct val="103499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mitigate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CWE-</a:t>
            </a:r>
            <a:r>
              <a:rPr dirty="0" sz="1200">
                <a:latin typeface="Cambria Math"/>
                <a:cs typeface="Cambria Math"/>
              </a:rPr>
              <a:t>639,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organizations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must </a:t>
            </a:r>
            <a:r>
              <a:rPr dirty="0" sz="1200">
                <a:latin typeface="Cambria Math"/>
                <a:cs typeface="Cambria Math"/>
              </a:rPr>
              <a:t>make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top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priority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fortify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authorization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mechanisms.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entails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 spc="-10">
                <a:latin typeface="Cambria Math"/>
                <a:cs typeface="Cambria Math"/>
              </a:rPr>
              <a:t>implementation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robust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measures,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regular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conduct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0">
                <a:latin typeface="Cambria Math"/>
                <a:cs typeface="Cambria Math"/>
              </a:rPr>
              <a:t> comprehensive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security </a:t>
            </a:r>
            <a:r>
              <a:rPr dirty="0" sz="1200">
                <a:latin typeface="Cambria Math"/>
                <a:cs typeface="Cambria Math"/>
              </a:rPr>
              <a:t>assessments,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deployment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intrusion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detection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promptly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identify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counter unauthorized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attempts.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measures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critical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defence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overall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systems,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preservation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 </a:t>
            </a:r>
            <a:r>
              <a:rPr dirty="0" sz="1200" spc="-10">
                <a:latin typeface="Cambria Math"/>
                <a:cs typeface="Cambria Math"/>
              </a:rPr>
              <a:t>organization's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esteemed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reputation.</a:t>
            </a:r>
            <a:endParaRPr sz="1200">
              <a:latin typeface="Cambria Math"/>
              <a:cs typeface="Cambria Math"/>
            </a:endParaRPr>
          </a:p>
          <a:p>
            <a:pPr marL="220979" marR="2150745" indent="-208915">
              <a:lnSpc>
                <a:spcPts val="3100"/>
              </a:lnSpc>
              <a:spcBef>
                <a:spcPts val="95"/>
              </a:spcBef>
              <a:buAutoNum type="arabicPeriod" startAt="6"/>
              <a:tabLst>
                <a:tab pos="222885" algn="l"/>
              </a:tabLst>
            </a:pPr>
            <a:r>
              <a:rPr dirty="0" sz="1200">
                <a:latin typeface="Cambria Math"/>
                <a:cs typeface="Cambria Math"/>
              </a:rPr>
              <a:t>VULNERABILITY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Security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Misconfiguration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SEVERITY: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low </a:t>
            </a:r>
            <a:r>
              <a:rPr dirty="0" sz="1200" spc="-25">
                <a:latin typeface="Cambria Math"/>
                <a:cs typeface="Cambria Math"/>
              </a:rPr>
              <a:t>	</a:t>
            </a:r>
            <a:r>
              <a:rPr dirty="0" sz="1200">
                <a:latin typeface="Cambria Math"/>
                <a:cs typeface="Cambria Math"/>
              </a:rPr>
              <a:t>PLUGIN: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SSL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cipher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Block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chaining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cipher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suites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976630"/>
            <a:ext cx="6724650" cy="8689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443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00">
              <a:latin typeface="Cambria Math"/>
              <a:cs typeface="Cambria Math"/>
            </a:endParaRPr>
          </a:p>
          <a:p>
            <a:pPr marL="228600" marR="39370" indent="-6350">
              <a:lnSpc>
                <a:spcPct val="103299"/>
              </a:lnSpc>
            </a:pPr>
            <a:r>
              <a:rPr dirty="0" sz="1200" spc="-10">
                <a:latin typeface="Cambria Math"/>
                <a:cs typeface="Cambria Math"/>
              </a:rPr>
              <a:t>DESCRIPTION: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product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specifies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permissions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for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security-critical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resource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way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allows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resource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read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modified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unintended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actors.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marL="600710" marR="51435" indent="-228600">
              <a:lnSpc>
                <a:spcPct val="103299"/>
              </a:lnSpc>
              <a:spcBef>
                <a:spcPts val="110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>
                <a:latin typeface="Cambria Math"/>
                <a:cs typeface="Cambria Math"/>
              </a:rPr>
              <a:t>Implement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change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management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process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document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review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changes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system configurations.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helps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</a:t>
            </a:r>
            <a:r>
              <a:rPr dirty="0" sz="1200" spc="-10">
                <a:latin typeface="Cambria Math"/>
                <a:cs typeface="Cambria Math"/>
              </a:rPr>
              <a:t> unauthorized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unintended</a:t>
            </a:r>
            <a:r>
              <a:rPr dirty="0" sz="1200" spc="-10">
                <a:latin typeface="Cambria Math"/>
                <a:cs typeface="Cambria Math"/>
              </a:rPr>
              <a:t> alterations.</a:t>
            </a:r>
            <a:endParaRPr sz="1200">
              <a:latin typeface="Cambria Math"/>
              <a:cs typeface="Cambria Math"/>
            </a:endParaRPr>
          </a:p>
          <a:p>
            <a:pPr marL="600710" marR="85090" indent="-228600">
              <a:lnSpc>
                <a:spcPct val="103299"/>
              </a:lnSpc>
              <a:spcBef>
                <a:spcPts val="95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>
                <a:latin typeface="Cambria Math"/>
                <a:cs typeface="Cambria Math"/>
              </a:rPr>
              <a:t>Follow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guidelines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provided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software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hardware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vendors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secure configurations.</a:t>
            </a:r>
            <a:endParaRPr sz="1200">
              <a:latin typeface="Cambria Math"/>
              <a:cs typeface="Cambria Math"/>
            </a:endParaRPr>
          </a:p>
          <a:p>
            <a:pPr marL="600710" marR="202565" indent="-228600">
              <a:lnSpc>
                <a:spcPct val="103499"/>
              </a:lnSpc>
              <a:spcBef>
                <a:spcPts val="105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 spc="-10">
                <a:latin typeface="Cambria Math"/>
                <a:cs typeface="Cambria Math"/>
              </a:rPr>
              <a:t>Regularly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perform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compliance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checks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against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industry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standards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regulations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ensure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configurations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remain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compliance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requirements.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0" marR="267335" indent="-6350">
              <a:lnSpc>
                <a:spcPct val="102600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lessen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consequences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stemming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CWE-</a:t>
            </a:r>
            <a:r>
              <a:rPr dirty="0" sz="1200" spc="-20">
                <a:latin typeface="Cambria Math"/>
                <a:cs typeface="Cambria Math"/>
              </a:rPr>
              <a:t>732, </a:t>
            </a:r>
            <a:r>
              <a:rPr dirty="0" sz="1200">
                <a:latin typeface="Cambria Math"/>
                <a:cs typeface="Cambria Math"/>
              </a:rPr>
              <a:t>organizations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must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place</a:t>
            </a:r>
            <a:r>
              <a:rPr dirty="0" sz="1200" spc="229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strong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emphasis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bolstering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configuration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management </a:t>
            </a:r>
            <a:r>
              <a:rPr dirty="0" sz="1200">
                <a:latin typeface="Cambria Math"/>
                <a:cs typeface="Cambria Math"/>
              </a:rPr>
              <a:t>practices.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involves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establishment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default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settings,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routine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conduct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of </a:t>
            </a:r>
            <a:r>
              <a:rPr dirty="0" sz="1200">
                <a:latin typeface="Cambria Math"/>
                <a:cs typeface="Cambria Math"/>
              </a:rPr>
              <a:t>comprehensive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229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evaluations,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229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29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deployment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intrusion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detection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systems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promptly</a:t>
            </a:r>
            <a:r>
              <a:rPr dirty="0" sz="1200" spc="3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detect</a:t>
            </a:r>
            <a:r>
              <a:rPr dirty="0" sz="1200" spc="3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3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</a:t>
            </a:r>
            <a:r>
              <a:rPr dirty="0" sz="1200" spc="3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misconfigurations</a:t>
            </a:r>
            <a:r>
              <a:rPr dirty="0" sz="1200" spc="3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3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vulnerabilities.</a:t>
            </a:r>
            <a:r>
              <a:rPr dirty="0" sz="1200" spc="3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3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actions</a:t>
            </a:r>
            <a:r>
              <a:rPr dirty="0" sz="1200" spc="3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36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of </a:t>
            </a:r>
            <a:r>
              <a:rPr dirty="0" sz="1200" spc="-10">
                <a:latin typeface="Cambria Math"/>
                <a:cs typeface="Cambria Math"/>
              </a:rPr>
              <a:t>paramount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importance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safeguarding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data,</a:t>
            </a:r>
            <a:r>
              <a:rPr dirty="0" sz="1200" spc="-10">
                <a:latin typeface="Cambria Math"/>
                <a:cs typeface="Cambria Math"/>
              </a:rPr>
              <a:t> fortifying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preserving </a:t>
            </a:r>
            <a:r>
              <a:rPr dirty="0" sz="1200">
                <a:latin typeface="Cambria Math"/>
                <a:cs typeface="Cambria Math"/>
              </a:rPr>
              <a:t>the </a:t>
            </a:r>
            <a:r>
              <a:rPr dirty="0" sz="1200" spc="-10">
                <a:latin typeface="Cambria Math"/>
                <a:cs typeface="Cambria Math"/>
              </a:rPr>
              <a:t>organization's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esteemed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reputation.</a:t>
            </a:r>
            <a:endParaRPr sz="1200">
              <a:latin typeface="Cambria Math"/>
              <a:cs typeface="Cambria Math"/>
            </a:endParaRPr>
          </a:p>
          <a:p>
            <a:pPr marL="220979" marR="2057400" indent="-208915">
              <a:lnSpc>
                <a:spcPct val="213499"/>
              </a:lnSpc>
              <a:spcBef>
                <a:spcPts val="30"/>
              </a:spcBef>
              <a:buAutoNum type="arabicPeriod" startAt="7"/>
              <a:tabLst>
                <a:tab pos="222885" algn="l"/>
              </a:tabLst>
            </a:pPr>
            <a:r>
              <a:rPr dirty="0" sz="1200">
                <a:latin typeface="Cambria Math"/>
                <a:cs typeface="Cambria Math"/>
              </a:rPr>
              <a:t>VULNERABILITY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Cross-</a:t>
            </a:r>
            <a:r>
              <a:rPr dirty="0" sz="1200">
                <a:latin typeface="Cambria Math"/>
                <a:cs typeface="Cambria Math"/>
              </a:rPr>
              <a:t>Site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Request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Forgery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SEVERITY: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Low </a:t>
            </a:r>
            <a:r>
              <a:rPr dirty="0" sz="1200" spc="-25">
                <a:latin typeface="Cambria Math"/>
                <a:cs typeface="Cambria Math"/>
              </a:rPr>
              <a:t>	</a:t>
            </a:r>
            <a:r>
              <a:rPr dirty="0" sz="1200">
                <a:latin typeface="Cambria Math"/>
                <a:cs typeface="Cambria Math"/>
              </a:rPr>
              <a:t>PLUGIN: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Form-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Authentication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Detected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Cambria Math"/>
              <a:buAutoNum type="arabicPeriod" startAt="7"/>
            </a:pPr>
            <a:endParaRPr sz="1200">
              <a:latin typeface="Cambria Math"/>
              <a:cs typeface="Cambria Math"/>
            </a:endParaRPr>
          </a:p>
          <a:p>
            <a:pPr algn="just" marL="222885">
              <a:lnSpc>
                <a:spcPct val="100000"/>
              </a:lnSpc>
            </a:pP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8080/443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00">
              <a:latin typeface="Cambria Math"/>
              <a:cs typeface="Cambria Math"/>
            </a:endParaRPr>
          </a:p>
          <a:p>
            <a:pPr marL="228600" marR="141605" indent="-6350">
              <a:lnSpc>
                <a:spcPct val="103499"/>
              </a:lnSpc>
            </a:pPr>
            <a:r>
              <a:rPr dirty="0" sz="1200" spc="-10">
                <a:latin typeface="Cambria Math"/>
                <a:cs typeface="Cambria Math"/>
              </a:rPr>
              <a:t>DESCRIPTION: Cross-</a:t>
            </a:r>
            <a:r>
              <a:rPr dirty="0" sz="1200">
                <a:latin typeface="Cambria Math"/>
                <a:cs typeface="Cambria Math"/>
              </a:rPr>
              <a:t>Site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Request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Forgery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(CSRF)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forces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execute </a:t>
            </a:r>
            <a:r>
              <a:rPr dirty="0" sz="1200">
                <a:latin typeface="Cambria Math"/>
                <a:cs typeface="Cambria Math"/>
              </a:rPr>
              <a:t>unwanted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which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they’re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currently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authenticated.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little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help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social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engineering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(such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sending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link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email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chat),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trick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a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executing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attacker’s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choosing.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victim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normal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a </a:t>
            </a:r>
            <a:r>
              <a:rPr dirty="0" sz="1200">
                <a:latin typeface="Cambria Math"/>
                <a:cs typeface="Cambria Math"/>
              </a:rPr>
              <a:t>successful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CSRF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perform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state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changing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requests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like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transferring </a:t>
            </a:r>
            <a:r>
              <a:rPr dirty="0" sz="1200">
                <a:latin typeface="Cambria Math"/>
                <a:cs typeface="Cambria Math"/>
              </a:rPr>
              <a:t>funds,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changing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email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forth.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victim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administrative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account,</a:t>
            </a:r>
            <a:r>
              <a:rPr dirty="0" sz="1200" spc="-20">
                <a:latin typeface="Cambria Math"/>
                <a:cs typeface="Cambria Math"/>
              </a:rPr>
              <a:t> CSRF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compromise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entire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algn="just" lvl="1" marL="600710" marR="6985" indent="-228600">
              <a:lnSpc>
                <a:spcPct val="102899"/>
              </a:lnSpc>
              <a:spcBef>
                <a:spcPts val="100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</a:t>
            </a:r>
            <a:r>
              <a:rPr dirty="0" sz="1200" spc="-10">
                <a:latin typeface="Cambria Math"/>
                <a:cs typeface="Cambria Math"/>
              </a:rPr>
              <a:t>Implement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Synchronizer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Token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Patterns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include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unique,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randomly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generated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tokens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each </a:t>
            </a:r>
            <a:r>
              <a:rPr dirty="0" sz="1200">
                <a:latin typeface="Cambria Math"/>
                <a:cs typeface="Cambria Math"/>
              </a:rPr>
              <a:t>HTTP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request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validate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tokens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side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verify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authenticity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 spc="-10">
                <a:latin typeface="Cambria Math"/>
                <a:cs typeface="Cambria Math"/>
              </a:rPr>
              <a:t>request.</a:t>
            </a:r>
            <a:endParaRPr sz="1200">
              <a:latin typeface="Cambria Math"/>
              <a:cs typeface="Cambria Math"/>
            </a:endParaRPr>
          </a:p>
          <a:p>
            <a:pPr algn="just" lvl="1" marL="600710" marR="5080" indent="-228600">
              <a:lnSpc>
                <a:spcPct val="102899"/>
              </a:lnSpc>
              <a:spcBef>
                <a:spcPts val="114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Utilize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Same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Site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attribute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cookies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restrict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usage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same-</a:t>
            </a:r>
            <a:r>
              <a:rPr dirty="0" sz="1200">
                <a:latin typeface="Cambria Math"/>
                <a:cs typeface="Cambria Math"/>
              </a:rPr>
              <a:t>site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requests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only, preventing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them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from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sent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along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cross-</a:t>
            </a:r>
            <a:r>
              <a:rPr dirty="0" sz="1200">
                <a:latin typeface="Cambria Math"/>
                <a:cs typeface="Cambria Math"/>
              </a:rPr>
              <a:t>site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requests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mitigating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CSRF </a:t>
            </a:r>
            <a:r>
              <a:rPr dirty="0" sz="1200" spc="-10">
                <a:latin typeface="Cambria Math"/>
                <a:cs typeface="Cambria Math"/>
              </a:rPr>
              <a:t>attacks.</a:t>
            </a:r>
            <a:endParaRPr sz="1200">
              <a:latin typeface="Cambria Math"/>
              <a:cs typeface="Cambria Math"/>
            </a:endParaRPr>
          </a:p>
          <a:p>
            <a:pPr algn="just" lvl="1" marL="600710" marR="12065" indent="-228600">
              <a:lnSpc>
                <a:spcPct val="103699"/>
              </a:lnSpc>
              <a:spcBef>
                <a:spcPts val="105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Utilize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framework-</a:t>
            </a:r>
            <a:r>
              <a:rPr dirty="0" sz="1200">
                <a:latin typeface="Cambria Math"/>
                <a:cs typeface="Cambria Math"/>
              </a:rPr>
              <a:t>specific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protections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features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CSRF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attacks.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Many </a:t>
            </a:r>
            <a:r>
              <a:rPr dirty="0" sz="1200">
                <a:latin typeface="Cambria Math"/>
                <a:cs typeface="Cambria Math"/>
              </a:rPr>
              <a:t>modern</a:t>
            </a:r>
            <a:r>
              <a:rPr dirty="0" sz="1200" spc="4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frameworks</a:t>
            </a:r>
            <a:r>
              <a:rPr dirty="0" sz="1200" spc="114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 spc="-10">
                <a:latin typeface="Cambria Math"/>
                <a:cs typeface="Cambria Math"/>
              </a:rPr>
              <a:t>built-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mechanisms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libraries</a:t>
            </a:r>
            <a:r>
              <a:rPr dirty="0" sz="1200" spc="114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handling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 spc="-20">
                <a:latin typeface="Cambria Math"/>
                <a:cs typeface="Cambria Math"/>
              </a:rPr>
              <a:t>CSRF </a:t>
            </a:r>
            <a:r>
              <a:rPr dirty="0" sz="1200">
                <a:latin typeface="Cambria Math"/>
                <a:cs typeface="Cambria Math"/>
              </a:rPr>
              <a:t>vulnerabilities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effectively.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975106"/>
            <a:ext cx="6718934" cy="90277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600710" marR="5080" indent="-228600">
              <a:lnSpc>
                <a:spcPct val="102899"/>
              </a:lnSpc>
              <a:spcBef>
                <a:spcPts val="55"/>
              </a:spcBef>
              <a:buFont typeface="Arial MT"/>
              <a:buChar char="•"/>
              <a:tabLst>
                <a:tab pos="600710" algn="l"/>
                <a:tab pos="602615" algn="l"/>
              </a:tabLst>
            </a:pPr>
            <a:r>
              <a:rPr dirty="0" sz="1200">
                <a:latin typeface="Cambria Math"/>
                <a:cs typeface="Cambria Math"/>
              </a:rPr>
              <a:t>	</a:t>
            </a:r>
            <a:r>
              <a:rPr dirty="0" sz="1200" spc="-10">
                <a:latin typeface="Cambria Math"/>
                <a:cs typeface="Cambria Math"/>
              </a:rPr>
              <a:t>Implement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Content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Policy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restrict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sources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from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which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various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types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content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loaded.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specifying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trusted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sources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content,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you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minimize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of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code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execution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likelihood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successful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CSRF</a:t>
            </a:r>
            <a:r>
              <a:rPr dirty="0" sz="1200" spc="-10">
                <a:latin typeface="Cambria Math"/>
                <a:cs typeface="Cambria Math"/>
              </a:rPr>
              <a:t> attacks.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Cambria Math"/>
              <a:cs typeface="Cambria Math"/>
            </a:endParaRPr>
          </a:p>
          <a:p>
            <a:pPr marL="228600" marR="90805" indent="-6350">
              <a:lnSpc>
                <a:spcPct val="103299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repercussions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CWE-352,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organizations </a:t>
            </a:r>
            <a:r>
              <a:rPr dirty="0" sz="1200">
                <a:latin typeface="Cambria Math"/>
                <a:cs typeface="Cambria Math"/>
              </a:rPr>
              <a:t>must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prioritize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coding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practices,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including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incorporation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anti-</a:t>
            </a:r>
            <a:r>
              <a:rPr dirty="0" sz="1200">
                <a:latin typeface="Cambria Math"/>
                <a:cs typeface="Cambria Math"/>
              </a:rPr>
              <a:t>CSRF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tokens,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while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also </a:t>
            </a:r>
            <a:r>
              <a:rPr dirty="0" sz="1200">
                <a:latin typeface="Cambria Math"/>
                <a:cs typeface="Cambria Math"/>
              </a:rPr>
              <a:t>conducting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routine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assessments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detect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rectify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CSRF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vulnerabilities.</a:t>
            </a:r>
            <a:endParaRPr sz="1200">
              <a:latin typeface="Cambria Math"/>
              <a:cs typeface="Cambria Math"/>
            </a:endParaRPr>
          </a:p>
          <a:p>
            <a:pPr algn="just" marL="228600" marR="148590">
              <a:lnSpc>
                <a:spcPts val="1500"/>
              </a:lnSpc>
              <a:spcBef>
                <a:spcPts val="50"/>
              </a:spcBef>
            </a:pPr>
            <a:r>
              <a:rPr dirty="0" sz="1200" spc="-10">
                <a:latin typeface="Cambria Math"/>
                <a:cs typeface="Cambria Math"/>
              </a:rPr>
              <a:t>Furthermore,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educating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 browsing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practices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pivotal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 preventing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CSRF </a:t>
            </a:r>
            <a:r>
              <a:rPr dirty="0" sz="1200" spc="-10">
                <a:latin typeface="Cambria Math"/>
                <a:cs typeface="Cambria Math"/>
              </a:rPr>
              <a:t>attacks.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paramount</a:t>
            </a:r>
            <a:r>
              <a:rPr dirty="0" sz="1200" spc="-10">
                <a:latin typeface="Cambria Math"/>
                <a:cs typeface="Cambria Math"/>
              </a:rPr>
              <a:t> importance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protection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upholding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of </a:t>
            </a:r>
            <a:r>
              <a:rPr dirty="0" sz="1200">
                <a:latin typeface="Cambria Math"/>
                <a:cs typeface="Cambria Math"/>
              </a:rPr>
              <a:t>customers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partners.</a:t>
            </a:r>
            <a:endParaRPr sz="1200">
              <a:latin typeface="Cambria Math"/>
              <a:cs typeface="Cambria Math"/>
            </a:endParaRPr>
          </a:p>
          <a:p>
            <a:pPr marL="220979" marR="1753870" indent="-208915">
              <a:lnSpc>
                <a:spcPts val="3050"/>
              </a:lnSpc>
              <a:spcBef>
                <a:spcPts val="235"/>
              </a:spcBef>
              <a:buAutoNum type="arabicPeriod" startAt="8"/>
              <a:tabLst>
                <a:tab pos="222885" algn="l"/>
              </a:tabLst>
            </a:pPr>
            <a:r>
              <a:rPr dirty="0" sz="1200">
                <a:latin typeface="Cambria Math"/>
                <a:cs typeface="Cambria Math"/>
              </a:rPr>
              <a:t>VULNERABILITY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Cleartext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Transmission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Sensitive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Information 	SEVERITY: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Medium</a:t>
            </a:r>
            <a:endParaRPr sz="1200">
              <a:latin typeface="Cambria Math"/>
              <a:cs typeface="Cambria Math"/>
            </a:endParaRPr>
          </a:p>
          <a:p>
            <a:pPr marL="222885" marR="2076450">
              <a:lnSpc>
                <a:spcPts val="3020"/>
              </a:lnSpc>
              <a:spcBef>
                <a:spcPts val="20"/>
              </a:spcBef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Cleartext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Transmission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Sensitive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Information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over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HTTP </a:t>
            </a: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443</a:t>
            </a:r>
            <a:endParaRPr sz="1200">
              <a:latin typeface="Cambria Math"/>
              <a:cs typeface="Cambria Math"/>
            </a:endParaRPr>
          </a:p>
          <a:p>
            <a:pPr marL="228600" marR="94615" indent="-6350">
              <a:lnSpc>
                <a:spcPct val="103499"/>
              </a:lnSpc>
              <a:spcBef>
                <a:spcPts val="1175"/>
              </a:spcBef>
            </a:pPr>
            <a:r>
              <a:rPr dirty="0" sz="1200" spc="-10">
                <a:latin typeface="Cambria Math"/>
                <a:cs typeface="Cambria Math"/>
              </a:rPr>
              <a:t>DESCRIPTION: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product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transmits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security-</a:t>
            </a:r>
            <a:r>
              <a:rPr dirty="0" sz="1200">
                <a:latin typeface="Cambria Math"/>
                <a:cs typeface="Cambria Math"/>
              </a:rPr>
              <a:t>critical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cleartext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a </a:t>
            </a:r>
            <a:r>
              <a:rPr dirty="0" sz="1200" spc="-10">
                <a:latin typeface="Cambria Math"/>
                <a:cs typeface="Cambria Math"/>
              </a:rPr>
              <a:t>communication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channel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sniffed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unauthorized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actors.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communication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channels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"sniffed"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(monitored)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adversaries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during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transmission.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example,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networking, </a:t>
            </a:r>
            <a:r>
              <a:rPr dirty="0" sz="1200">
                <a:latin typeface="Cambria Math"/>
                <a:cs typeface="Cambria Math"/>
              </a:rPr>
              <a:t>packets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traverse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intermediary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nodes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source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destination,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whether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across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internet,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internal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cloud,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etc.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Some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actors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might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privileged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a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interface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link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along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channel,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router,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might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authorized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collect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underlying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result,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traffic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could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sniffed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adversaries,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spilling security-</a:t>
            </a:r>
            <a:r>
              <a:rPr dirty="0" sz="1200">
                <a:latin typeface="Cambria Math"/>
                <a:cs typeface="Cambria Math"/>
              </a:rPr>
              <a:t>critical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data.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lvl="1" marL="600710" marR="184785" indent="-228600">
              <a:lnSpc>
                <a:spcPct val="103299"/>
              </a:lnSpc>
              <a:spcBef>
                <a:spcPts val="110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>
                <a:latin typeface="Cambria Math"/>
                <a:cs typeface="Cambria Math"/>
              </a:rPr>
              <a:t>Educate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employees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handling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practices,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10">
                <a:latin typeface="Cambria Math"/>
                <a:cs typeface="Cambria Math"/>
              </a:rPr>
              <a:t> recognizing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secure </a:t>
            </a:r>
            <a:r>
              <a:rPr dirty="0" sz="1200">
                <a:latin typeface="Cambria Math"/>
                <a:cs typeface="Cambria Math"/>
              </a:rPr>
              <a:t>websites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(look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"https")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avoiding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insecure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Wi-Fi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networks.</a:t>
            </a:r>
            <a:endParaRPr sz="1200">
              <a:latin typeface="Cambria Math"/>
              <a:cs typeface="Cambria Math"/>
            </a:endParaRPr>
          </a:p>
          <a:p>
            <a:pPr lvl="1" marL="600710" marR="146050" indent="-228600">
              <a:lnSpc>
                <a:spcPct val="104200"/>
              </a:lnSpc>
              <a:spcBef>
                <a:spcPts val="80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>
                <a:latin typeface="Cambria Math"/>
                <a:cs typeface="Cambria Math"/>
              </a:rPr>
              <a:t>Employ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masking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redaction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techniques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replace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placeholders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or </a:t>
            </a:r>
            <a:r>
              <a:rPr dirty="0" sz="1200">
                <a:latin typeface="Cambria Math"/>
                <a:cs typeface="Cambria Math"/>
              </a:rPr>
              <a:t>cryptographic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representations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during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transmission.</a:t>
            </a:r>
            <a:endParaRPr sz="1200">
              <a:latin typeface="Cambria Math"/>
              <a:cs typeface="Cambria Math"/>
            </a:endParaRPr>
          </a:p>
          <a:p>
            <a:pPr lvl="1" marL="600710" marR="57150" indent="-228600">
              <a:lnSpc>
                <a:spcPct val="104400"/>
              </a:lnSpc>
              <a:spcBef>
                <a:spcPts val="80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 spc="-10">
                <a:latin typeface="Cambria Math"/>
                <a:cs typeface="Cambria Math"/>
              </a:rPr>
              <a:t>Implement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encryption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transit.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encryption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protocols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TLS/SSL</a:t>
            </a:r>
            <a:r>
              <a:rPr dirty="0" sz="1200" spc="-25">
                <a:latin typeface="Cambria Math"/>
                <a:cs typeface="Cambria Math"/>
              </a:rPr>
              <a:t> to </a:t>
            </a:r>
            <a:r>
              <a:rPr dirty="0" sz="1200">
                <a:latin typeface="Cambria Math"/>
                <a:cs typeface="Cambria Math"/>
              </a:rPr>
              <a:t>protect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information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during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transmission.</a:t>
            </a:r>
            <a:endParaRPr sz="1200">
              <a:latin typeface="Cambria Math"/>
              <a:cs typeface="Cambria Math"/>
            </a:endParaRPr>
          </a:p>
          <a:p>
            <a:pPr lvl="1" marL="600710" marR="207645" indent="-228600">
              <a:lnSpc>
                <a:spcPct val="102499"/>
              </a:lnSpc>
              <a:spcBef>
                <a:spcPts val="110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3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3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communication</a:t>
            </a:r>
            <a:r>
              <a:rPr dirty="0" sz="1200" spc="3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protocols</a:t>
            </a:r>
            <a:r>
              <a:rPr dirty="0" sz="1200" spc="3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3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transmitting</a:t>
            </a:r>
            <a:r>
              <a:rPr dirty="0" sz="1200" spc="3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data,</a:t>
            </a:r>
            <a:r>
              <a:rPr dirty="0" sz="1200" spc="3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3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3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HTTPS</a:t>
            </a:r>
            <a:r>
              <a:rPr dirty="0" sz="1200" spc="3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37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web </a:t>
            </a:r>
            <a:r>
              <a:rPr dirty="0" sz="1200">
                <a:latin typeface="Cambria Math"/>
                <a:cs typeface="Cambria Math"/>
              </a:rPr>
              <a:t>applications,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selected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protocols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kept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date.</a:t>
            </a:r>
            <a:endParaRPr sz="1200">
              <a:latin typeface="Cambria Math"/>
              <a:cs typeface="Cambria Math"/>
            </a:endParaRPr>
          </a:p>
          <a:p>
            <a:pPr lvl="1">
              <a:lnSpc>
                <a:spcPct val="100000"/>
              </a:lnSpc>
              <a:spcBef>
                <a:spcPts val="165"/>
              </a:spcBef>
              <a:buFont typeface="Arial MT"/>
              <a:buChar char="•"/>
            </a:pPr>
            <a:endParaRPr sz="1200">
              <a:latin typeface="Cambria Math"/>
              <a:cs typeface="Cambria Math"/>
            </a:endParaRPr>
          </a:p>
          <a:p>
            <a:pPr algn="just" marL="228600" marR="53975" indent="-6350">
              <a:lnSpc>
                <a:spcPct val="102600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consequences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associated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CWE-</a:t>
            </a:r>
            <a:r>
              <a:rPr dirty="0" sz="1200" spc="-20">
                <a:latin typeface="Cambria Math"/>
                <a:cs typeface="Cambria Math"/>
              </a:rPr>
              <a:t>319, </a:t>
            </a:r>
            <a:r>
              <a:rPr dirty="0" sz="1200">
                <a:latin typeface="Cambria Math"/>
                <a:cs typeface="Cambria Math"/>
              </a:rPr>
              <a:t>organizations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must prioritize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 adoption 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 transmission practices.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 includes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utilization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encryption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robust,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protocols.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routine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conduct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assessments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pivotal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pinpointing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remedying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vulnerabilities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linked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transmission. </a:t>
            </a:r>
            <a:r>
              <a:rPr dirty="0" sz="1200">
                <a:latin typeface="Cambria Math"/>
                <a:cs typeface="Cambria Math"/>
              </a:rPr>
              <a:t>Furthermore,</a:t>
            </a:r>
            <a:r>
              <a:rPr dirty="0" sz="1200" spc="3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3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education</a:t>
            </a:r>
            <a:r>
              <a:rPr dirty="0" sz="1200" spc="3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3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3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3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3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handling</a:t>
            </a:r>
            <a:r>
              <a:rPr dirty="0" sz="1200" spc="3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practices</a:t>
            </a:r>
            <a:r>
              <a:rPr dirty="0" sz="1200" spc="3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plays</a:t>
            </a:r>
            <a:r>
              <a:rPr dirty="0" sz="1200" spc="3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vital</a:t>
            </a:r>
            <a:r>
              <a:rPr dirty="0" sz="1200" spc="3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role</a:t>
            </a:r>
            <a:r>
              <a:rPr dirty="0" sz="1200" spc="31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in </a:t>
            </a:r>
            <a:r>
              <a:rPr dirty="0" sz="1200">
                <a:latin typeface="Cambria Math"/>
                <a:cs typeface="Cambria Math"/>
              </a:rPr>
              <a:t>proactively preventing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exposure incidents.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actions are of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paramount importance in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protection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0">
                <a:latin typeface="Cambria Math"/>
                <a:cs typeface="Cambria Math"/>
              </a:rPr>
              <a:t> sensitive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preserving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both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customers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0">
                <a:latin typeface="Cambria Math"/>
                <a:cs typeface="Cambria Math"/>
              </a:rPr>
              <a:t> partners.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200">
              <a:latin typeface="Cambria Math"/>
              <a:cs typeface="Cambria Math"/>
            </a:endParaRPr>
          </a:p>
          <a:p>
            <a:pPr marL="237490" indent="-224790">
              <a:lnSpc>
                <a:spcPct val="100000"/>
              </a:lnSpc>
              <a:buAutoNum type="arabicPeriod" startAt="9"/>
              <a:tabLst>
                <a:tab pos="237490" algn="l"/>
              </a:tabLst>
            </a:pPr>
            <a:r>
              <a:rPr dirty="0" sz="1200" spc="-10">
                <a:latin typeface="Cambria Math"/>
                <a:cs typeface="Cambria Math"/>
              </a:rPr>
              <a:t>VULNERABILITY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Clickjacking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SEVERITY:</a:t>
            </a:r>
            <a:r>
              <a:rPr dirty="0" sz="1200" spc="-20">
                <a:latin typeface="Cambria Math"/>
                <a:cs typeface="Cambria Math"/>
              </a:rPr>
              <a:t> Info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1161034"/>
            <a:ext cx="6694170" cy="8507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HTML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Rendering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Layer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Vulnerability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2885">
              <a:lnSpc>
                <a:spcPct val="100000"/>
              </a:lnSpc>
            </a:pP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80/443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0" marR="109855" indent="-6350">
              <a:lnSpc>
                <a:spcPct val="103299"/>
              </a:lnSpc>
            </a:pPr>
            <a:r>
              <a:rPr dirty="0" sz="1200">
                <a:latin typeface="Cambria Math"/>
                <a:cs typeface="Cambria Math"/>
              </a:rPr>
              <a:t>DESCRIPTION: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does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restrict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incorrectly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restricts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frame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objects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UI </a:t>
            </a:r>
            <a:r>
              <a:rPr dirty="0" sz="1200">
                <a:latin typeface="Cambria Math"/>
                <a:cs typeface="Cambria Math"/>
              </a:rPr>
              <a:t>layers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belong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another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domain,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which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lead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confusion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about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which </a:t>
            </a:r>
            <a:r>
              <a:rPr dirty="0" sz="1200">
                <a:latin typeface="Cambria Math"/>
                <a:cs typeface="Cambria Math"/>
              </a:rPr>
              <a:t>interface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 user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 </a:t>
            </a:r>
            <a:r>
              <a:rPr dirty="0" sz="1200" spc="-10">
                <a:latin typeface="Cambria Math"/>
                <a:cs typeface="Cambria Math"/>
              </a:rPr>
              <a:t>interacting </a:t>
            </a:r>
            <a:r>
              <a:rPr dirty="0" sz="1200" spc="-20">
                <a:latin typeface="Cambria Math"/>
                <a:cs typeface="Cambria Math"/>
              </a:rPr>
              <a:t>with.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marL="600710" marR="130810" indent="-228600">
              <a:lnSpc>
                <a:spcPct val="102699"/>
              </a:lnSpc>
              <a:spcBef>
                <a:spcPts val="120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>
                <a:latin typeface="Cambria Math"/>
                <a:cs typeface="Cambria Math"/>
              </a:rPr>
              <a:t>Set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X-Frame-</a:t>
            </a:r>
            <a:r>
              <a:rPr dirty="0" sz="1200">
                <a:latin typeface="Cambria Math"/>
                <a:cs typeface="Cambria Math"/>
              </a:rPr>
              <a:t>Options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response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header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deny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same-</a:t>
            </a:r>
            <a:r>
              <a:rPr dirty="0" sz="1200">
                <a:latin typeface="Cambria Math"/>
                <a:cs typeface="Cambria Math"/>
              </a:rPr>
              <a:t>origin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how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your </a:t>
            </a:r>
            <a:r>
              <a:rPr dirty="0" sz="1200">
                <a:latin typeface="Cambria Math"/>
                <a:cs typeface="Cambria Math"/>
              </a:rPr>
              <a:t>site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framed.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supported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most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modern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browsers.</a:t>
            </a:r>
            <a:endParaRPr sz="1200">
              <a:latin typeface="Cambria Math"/>
              <a:cs typeface="Cambria Math"/>
            </a:endParaRPr>
          </a:p>
          <a:p>
            <a:pPr marL="600710" marR="5080" indent="-228600">
              <a:lnSpc>
                <a:spcPct val="103299"/>
              </a:lnSpc>
              <a:spcBef>
                <a:spcPts val="120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 spc="-10">
                <a:latin typeface="Cambria Math"/>
                <a:cs typeface="Cambria Math"/>
              </a:rPr>
              <a:t>Utilize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frame-busting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JavaScript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code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web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applications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prevent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embedding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of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your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site </a:t>
            </a:r>
            <a:r>
              <a:rPr dirty="0" sz="1200">
                <a:latin typeface="Cambria Math"/>
                <a:cs typeface="Cambria Math"/>
              </a:rPr>
              <a:t>within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frame’s.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code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disrupt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clickjacking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attempts.</a:t>
            </a:r>
            <a:endParaRPr sz="1200">
              <a:latin typeface="Cambria Math"/>
              <a:cs typeface="Cambria Math"/>
            </a:endParaRPr>
          </a:p>
          <a:p>
            <a:pPr marL="600710" marR="12700" indent="-228600">
              <a:lnSpc>
                <a:spcPct val="103299"/>
              </a:lnSpc>
              <a:spcBef>
                <a:spcPts val="105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 spc="-10">
                <a:latin typeface="Cambria Math"/>
                <a:cs typeface="Cambria Math"/>
              </a:rPr>
              <a:t>Implement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Security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Policy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restrict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which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domains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embed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your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site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iframes.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help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unauthorized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framing.</a:t>
            </a:r>
            <a:endParaRPr sz="1200">
              <a:latin typeface="Cambria Math"/>
              <a:cs typeface="Cambria Math"/>
            </a:endParaRPr>
          </a:p>
          <a:p>
            <a:pPr marL="600710" marR="6985" indent="-228600">
              <a:lnSpc>
                <a:spcPct val="103299"/>
              </a:lnSpc>
              <a:spcBef>
                <a:spcPts val="100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>
                <a:latin typeface="Cambria Math"/>
                <a:cs typeface="Cambria Math"/>
              </a:rPr>
              <a:t>Implement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additional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controls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UI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redress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attacks,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clickjacking, </a:t>
            </a:r>
            <a:r>
              <a:rPr dirty="0" sz="1200">
                <a:latin typeface="Cambria Math"/>
                <a:cs typeface="Cambria Math"/>
              </a:rPr>
              <a:t>within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your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Cambria Math"/>
              <a:cs typeface="Cambria Math"/>
            </a:endParaRPr>
          </a:p>
          <a:p>
            <a:pPr marL="228600" marR="93980" indent="-6350">
              <a:lnSpc>
                <a:spcPct val="103400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consequences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resulting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CWE-</a:t>
            </a:r>
            <a:r>
              <a:rPr dirty="0" sz="1200" spc="-10">
                <a:latin typeface="Cambria Math"/>
                <a:cs typeface="Cambria Math"/>
              </a:rPr>
              <a:t>1021, organizations </a:t>
            </a:r>
            <a:r>
              <a:rPr dirty="0" sz="1200">
                <a:latin typeface="Cambria Math"/>
                <a:cs typeface="Cambria Math"/>
              </a:rPr>
              <a:t>must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prioritize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implementation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protective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measures,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frame-busting </a:t>
            </a:r>
            <a:r>
              <a:rPr dirty="0" sz="1200">
                <a:latin typeface="Cambria Math"/>
                <a:cs typeface="Cambria Math"/>
              </a:rPr>
              <a:t>code.</a:t>
            </a:r>
            <a:r>
              <a:rPr dirty="0" sz="1200" spc="-10">
                <a:latin typeface="Cambria Math"/>
                <a:cs typeface="Cambria Math"/>
              </a:rPr>
              <a:t> Simultaneously, educating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safe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browsing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practices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plays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crucial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0">
                <a:latin typeface="Cambria Math"/>
                <a:cs typeface="Cambria Math"/>
              </a:rPr>
              <a:t> preventing clickjacking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incidents.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Additionally, </a:t>
            </a:r>
            <a:r>
              <a:rPr dirty="0" sz="1200">
                <a:latin typeface="Cambria Math"/>
                <a:cs typeface="Cambria Math"/>
              </a:rPr>
              <a:t>routine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assessments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pivotal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for </a:t>
            </a:r>
            <a:r>
              <a:rPr dirty="0" sz="1200" spc="-10">
                <a:latin typeface="Cambria Math"/>
                <a:cs typeface="Cambria Math"/>
              </a:rPr>
              <a:t>identifying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mitigating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vulnerabilities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associated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clickjacking.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of </a:t>
            </a:r>
            <a:r>
              <a:rPr dirty="0" sz="1200">
                <a:latin typeface="Cambria Math"/>
                <a:cs typeface="Cambria Math"/>
              </a:rPr>
              <a:t>paramount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importance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upholding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trust,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ensuring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protection,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safeguarding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 spc="-10">
                <a:latin typeface="Cambria Math"/>
                <a:cs typeface="Cambria Math"/>
              </a:rPr>
              <a:t>organization's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reputation.</a:t>
            </a:r>
            <a:endParaRPr sz="1200">
              <a:latin typeface="Cambria Math"/>
              <a:cs typeface="Cambria Math"/>
            </a:endParaRPr>
          </a:p>
          <a:p>
            <a:pPr marL="222885" marR="1883410" indent="-213360">
              <a:lnSpc>
                <a:spcPts val="3050"/>
              </a:lnSpc>
              <a:spcBef>
                <a:spcPts val="345"/>
              </a:spcBef>
              <a:buAutoNum type="arabicPeriod" startAt="10"/>
              <a:tabLst>
                <a:tab pos="222885" algn="l"/>
              </a:tabLst>
            </a:pPr>
            <a:r>
              <a:rPr dirty="0" sz="1200">
                <a:latin typeface="Cambria Math"/>
                <a:cs typeface="Cambria Math"/>
              </a:rPr>
              <a:t>VULNERABILITY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allows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password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auto-completion SEVERITY: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Low</a:t>
            </a: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  <a:spcBef>
                <a:spcPts val="1225"/>
              </a:spcBef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SSL/TLS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Diffie-Hellman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Modulus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&lt;=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1024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Bits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(Logjam)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</a:pP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443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0" marR="53975" indent="-6350">
              <a:lnSpc>
                <a:spcPct val="102499"/>
              </a:lnSpc>
            </a:pPr>
            <a:r>
              <a:rPr dirty="0" sz="1200">
                <a:latin typeface="Cambria Math"/>
                <a:cs typeface="Cambria Math"/>
              </a:rPr>
              <a:t>DESCRIPTION: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Weaknesses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category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related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design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implementation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data </a:t>
            </a:r>
            <a:r>
              <a:rPr dirty="0" sz="1200" spc="-10">
                <a:latin typeface="Cambria Math"/>
                <a:cs typeface="Cambria Math"/>
              </a:rPr>
              <a:t>confidentiality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integrity. Frequently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deal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encoding </a:t>
            </a:r>
            <a:r>
              <a:rPr dirty="0" sz="1200">
                <a:latin typeface="Cambria Math"/>
                <a:cs typeface="Cambria Math"/>
              </a:rPr>
              <a:t>techniques,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encryption </a:t>
            </a:r>
            <a:r>
              <a:rPr dirty="0" sz="1200">
                <a:latin typeface="Cambria Math"/>
                <a:cs typeface="Cambria Math"/>
              </a:rPr>
              <a:t>libraries,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hashing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algorithms.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weaknesses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category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could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lead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degradation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of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quality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addressed.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Cambria Math"/>
              <a:cs typeface="Cambria Math"/>
            </a:endParaRPr>
          </a:p>
          <a:p>
            <a:pPr marL="22288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lvl="1" marL="600710" marR="114935" indent="-228600">
              <a:lnSpc>
                <a:spcPct val="104200"/>
              </a:lnSpc>
              <a:spcBef>
                <a:spcPts val="95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>
                <a:latin typeface="Cambria Math"/>
                <a:cs typeface="Cambria Math"/>
              </a:rPr>
              <a:t>Implement</a:t>
            </a:r>
            <a:r>
              <a:rPr dirty="0" sz="1200" spc="4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114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password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storage</a:t>
            </a:r>
            <a:r>
              <a:rPr dirty="0" sz="1200" spc="12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mechanisms,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4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using</a:t>
            </a:r>
            <a:r>
              <a:rPr dirty="0" sz="1200" spc="4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strong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salted </a:t>
            </a:r>
            <a:r>
              <a:rPr dirty="0" sz="1200">
                <a:latin typeface="Cambria Math"/>
                <a:cs typeface="Cambria Math"/>
              </a:rPr>
              <a:t>cryptographic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hashing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algorithms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like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crypt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script.</a:t>
            </a:r>
            <a:endParaRPr sz="1200">
              <a:latin typeface="Cambria Math"/>
              <a:cs typeface="Cambria Math"/>
            </a:endParaRPr>
          </a:p>
          <a:p>
            <a:pPr lvl="1" marL="600710" marR="14604" indent="-228600">
              <a:lnSpc>
                <a:spcPct val="103299"/>
              </a:lnSpc>
              <a:spcBef>
                <a:spcPts val="95"/>
              </a:spcBef>
              <a:buFont typeface="Arial MT"/>
              <a:buChar char="•"/>
              <a:tabLst>
                <a:tab pos="600710" algn="l"/>
              </a:tabLst>
            </a:pPr>
            <a:r>
              <a:rPr dirty="0" sz="1200">
                <a:latin typeface="Cambria Math"/>
                <a:cs typeface="Cambria Math"/>
              </a:rPr>
              <a:t>Implement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robust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encryption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key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management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practices,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including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key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storage,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key </a:t>
            </a:r>
            <a:r>
              <a:rPr dirty="0" sz="1200">
                <a:latin typeface="Cambria Math"/>
                <a:cs typeface="Cambria Math"/>
              </a:rPr>
              <a:t>rotation,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controls.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0916" y="3873992"/>
            <a:ext cx="6684009" cy="8890"/>
          </a:xfrm>
          <a:custGeom>
            <a:avLst/>
            <a:gdLst/>
            <a:ahLst/>
            <a:cxnLst/>
            <a:rect l="l" t="t" r="r" b="b"/>
            <a:pathLst>
              <a:path w="6684009" h="8889">
                <a:moveTo>
                  <a:pt x="6683883" y="0"/>
                </a:moveTo>
                <a:lnTo>
                  <a:pt x="0" y="0"/>
                </a:lnTo>
                <a:lnTo>
                  <a:pt x="0" y="8778"/>
                </a:lnTo>
                <a:lnTo>
                  <a:pt x="6683883" y="8778"/>
                </a:lnTo>
                <a:lnTo>
                  <a:pt x="66838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54812" y="975106"/>
            <a:ext cx="6480175" cy="250380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390525" marR="5080" indent="-228600">
              <a:lnSpc>
                <a:spcPct val="104200"/>
              </a:lnSpc>
              <a:spcBef>
                <a:spcPts val="4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1200">
                <a:latin typeface="Cambria Math"/>
                <a:cs typeface="Cambria Math"/>
              </a:rPr>
              <a:t>Utilize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well-</a:t>
            </a:r>
            <a:r>
              <a:rPr dirty="0" sz="1200">
                <a:latin typeface="Cambria Math"/>
                <a:cs typeface="Cambria Math"/>
              </a:rPr>
              <a:t>established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proven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cryptographic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libraries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algorithms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encryption</a:t>
            </a:r>
            <a:r>
              <a:rPr dirty="0" sz="1200" spc="-25">
                <a:latin typeface="Cambria Math"/>
                <a:cs typeface="Cambria Math"/>
              </a:rPr>
              <a:t> and </a:t>
            </a:r>
            <a:r>
              <a:rPr dirty="0" sz="1200" spc="-10">
                <a:latin typeface="Cambria Math"/>
                <a:cs typeface="Cambria Math"/>
              </a:rPr>
              <a:t>decryption.</a:t>
            </a:r>
            <a:endParaRPr sz="1200">
              <a:latin typeface="Cambria Math"/>
              <a:cs typeface="Cambria Math"/>
            </a:endParaRPr>
          </a:p>
          <a:p>
            <a:pPr marL="390525" marR="8890" indent="-228600">
              <a:lnSpc>
                <a:spcPct val="102499"/>
              </a:lnSpc>
              <a:spcBef>
                <a:spcPts val="105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encryption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protocols,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like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TLS/SSL,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transmission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over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protect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transit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Cambria Math"/>
              <a:cs typeface="Cambria Math"/>
            </a:endParaRPr>
          </a:p>
          <a:p>
            <a:pPr marL="18415" marR="93980" indent="-6350">
              <a:lnSpc>
                <a:spcPct val="103499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lessen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consequences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associated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CWE-</a:t>
            </a:r>
            <a:r>
              <a:rPr dirty="0" sz="1200" spc="-20">
                <a:latin typeface="Cambria Math"/>
                <a:cs typeface="Cambria Math"/>
              </a:rPr>
              <a:t>310, </a:t>
            </a:r>
            <a:r>
              <a:rPr dirty="0" sz="1200" spc="-10">
                <a:latin typeface="Cambria Math"/>
                <a:cs typeface="Cambria Math"/>
              </a:rPr>
              <a:t>organizations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must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prioritize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adoption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cryptographic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practices.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entails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ensuring </a:t>
            </a:r>
            <a:r>
              <a:rPr dirty="0" sz="1200">
                <a:latin typeface="Cambria Math"/>
                <a:cs typeface="Cambria Math"/>
              </a:rPr>
              <a:t>proper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password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storage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robust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encryption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key</a:t>
            </a:r>
            <a:r>
              <a:rPr dirty="0" sz="1200" spc="-10">
                <a:latin typeface="Cambria Math"/>
                <a:cs typeface="Cambria Math"/>
              </a:rPr>
              <a:t> management. Simultaneously,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conducting </a:t>
            </a:r>
            <a:r>
              <a:rPr dirty="0" sz="1200">
                <a:latin typeface="Cambria Math"/>
                <a:cs typeface="Cambria Math"/>
              </a:rPr>
              <a:t>routine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assessments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pivotal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detecting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mitigating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vulnerabilities </a:t>
            </a:r>
            <a:r>
              <a:rPr dirty="0" sz="1200">
                <a:latin typeface="Cambria Math"/>
                <a:cs typeface="Cambria Math"/>
              </a:rPr>
              <a:t>related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cryptographic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issues.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Striving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compliance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pertinent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regulations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industry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standards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equally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essential.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paramount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importance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protection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sensitive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upholding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preservation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organization's </a:t>
            </a:r>
            <a:r>
              <a:rPr dirty="0" sz="1200">
                <a:latin typeface="Cambria Math"/>
                <a:cs typeface="Cambria Math"/>
              </a:rPr>
              <a:t>esteemed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reputation.</a:t>
            </a:r>
            <a:endParaRPr sz="1200">
              <a:latin typeface="Cambria Math"/>
              <a:cs typeface="Cambria Math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98296" y="4348607"/>
          <a:ext cx="6501130" cy="3593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2125"/>
                <a:gridCol w="2717800"/>
                <a:gridCol w="1603375"/>
                <a:gridCol w="1604645"/>
              </a:tblGrid>
              <a:tr h="39751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S.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NO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16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VULNERABILITY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NAME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SEVERITY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PLUGINS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1.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Cross-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site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scripting</a:t>
                      </a:r>
                      <a:r>
                        <a:rPr dirty="0" sz="1200" spc="-3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(DOM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based</a:t>
                      </a:r>
                      <a:r>
                        <a:rPr dirty="0" sz="1200" spc="-4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XSS)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Medium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Multiple</a:t>
                      </a:r>
                      <a:r>
                        <a:rPr dirty="0" sz="1200" spc="-5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XSS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2.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jQuery</a:t>
                      </a:r>
                      <a:r>
                        <a:rPr dirty="0" sz="1200" spc="-6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1.3&lt;3.5.0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Multiple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XSS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Medium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CGI</a:t>
                      </a:r>
                      <a:r>
                        <a:rPr dirty="0" sz="1200" spc="-5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Abuse: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XSS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3.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1270">
                        <a:lnSpc>
                          <a:spcPct val="105800"/>
                        </a:lnSpc>
                        <a:spcBef>
                          <a:spcPts val="345"/>
                        </a:spcBef>
                        <a:tabLst>
                          <a:tab pos="1013460" algn="l"/>
                          <a:tab pos="1767839" algn="l"/>
                          <a:tab pos="2298065" algn="l"/>
                        </a:tabLst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Information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exposure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(web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server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HTTP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header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internal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IP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disclosure)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Low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25425" marR="186055" indent="-26670">
                        <a:lnSpc>
                          <a:spcPct val="105800"/>
                        </a:lnSpc>
                        <a:spcBef>
                          <a:spcPts val="345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Webserver</a:t>
                      </a:r>
                      <a:r>
                        <a:rPr dirty="0" sz="1200" spc="-5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0">
                          <a:latin typeface="Cambria Math"/>
                          <a:cs typeface="Cambria Math"/>
                        </a:rPr>
                        <a:t>HTTP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Header</a:t>
                      </a:r>
                      <a:r>
                        <a:rPr dirty="0" sz="1200" spc="-6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Internal</a:t>
                      </a:r>
                      <a:r>
                        <a:rPr dirty="0" sz="1200" spc="-4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IP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Disclosure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4.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266700">
                        <a:lnSpc>
                          <a:spcPct val="105000"/>
                        </a:lnSpc>
                        <a:spcBef>
                          <a:spcPts val="34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Information</a:t>
                      </a:r>
                      <a:r>
                        <a:rPr dirty="0" sz="1200" spc="-4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exposure</a:t>
                      </a:r>
                      <a:r>
                        <a:rPr dirty="0" sz="12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(SSL</a:t>
                      </a:r>
                      <a:r>
                        <a:rPr dirty="0" sz="1200" spc="-4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(Multiple Issues))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>
                          <a:latin typeface="Cambria Math"/>
                          <a:cs typeface="Cambria Math"/>
                        </a:rPr>
                        <a:t>Info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 marR="299720" indent="-79375">
                        <a:lnSpc>
                          <a:spcPct val="105000"/>
                        </a:lnSpc>
                        <a:spcBef>
                          <a:spcPts val="34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SSL</a:t>
                      </a:r>
                      <a:r>
                        <a:rPr dirty="0" sz="1200" spc="-5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Certificate Information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5.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128270">
                        <a:lnSpc>
                          <a:spcPct val="1058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Information</a:t>
                      </a:r>
                      <a:r>
                        <a:rPr dirty="0" sz="1200" spc="-4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exposure</a:t>
                      </a:r>
                      <a:r>
                        <a:rPr dirty="0" sz="1200" spc="-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(HTTP</a:t>
                      </a:r>
                      <a:r>
                        <a:rPr dirty="0" sz="1200" spc="-3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(Multiple Issues))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>
                          <a:latin typeface="Cambria Math"/>
                          <a:cs typeface="Cambria Math"/>
                        </a:rPr>
                        <a:t>Info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HTTP</a:t>
                      </a:r>
                      <a:r>
                        <a:rPr dirty="0" sz="1200" spc="-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Information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6409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>
                          <a:latin typeface="Cambria Math"/>
                          <a:cs typeface="Cambria Math"/>
                        </a:rPr>
                        <a:t>6.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OS</a:t>
                      </a:r>
                      <a:r>
                        <a:rPr dirty="0" sz="1200" spc="-1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identification</a:t>
                      </a:r>
                      <a:r>
                        <a:rPr dirty="0" sz="1200" spc="1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failed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>
                          <a:latin typeface="Cambria Math"/>
                          <a:cs typeface="Cambria Math"/>
                        </a:rPr>
                        <a:t>Info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8485" marR="265430" indent="-247015">
                        <a:lnSpc>
                          <a:spcPct val="105800"/>
                        </a:lnSpc>
                        <a:spcBef>
                          <a:spcPts val="350"/>
                        </a:spcBef>
                      </a:pPr>
                      <a:r>
                        <a:rPr dirty="0" sz="1200" spc="-10">
                          <a:latin typeface="Cambria Math"/>
                          <a:cs typeface="Cambria Math"/>
                        </a:rPr>
                        <a:t>TCP/IP</a:t>
                      </a:r>
                      <a:r>
                        <a:rPr dirty="0" sz="1200" spc="-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 spc="-10">
                          <a:latin typeface="Cambria Math"/>
                          <a:cs typeface="Cambria Math"/>
                        </a:rPr>
                        <a:t>Remote Probing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444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654812" y="8122158"/>
            <a:ext cx="4284980" cy="160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mbria Math"/>
                <a:cs typeface="Cambria Math"/>
              </a:rPr>
              <a:t>TARGET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WEBSITE: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vit.ac.in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TARGET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IP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ADDRESS: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122.184.65.22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Cambria Math"/>
              <a:cs typeface="Cambria Math"/>
            </a:endParaRPr>
          </a:p>
          <a:p>
            <a:pPr marL="31115">
              <a:lnSpc>
                <a:spcPct val="100000"/>
              </a:lnSpc>
            </a:pPr>
            <a:r>
              <a:rPr dirty="0" sz="1300" spc="-10">
                <a:latin typeface="Cambria Math"/>
                <a:cs typeface="Cambria Math"/>
              </a:rPr>
              <a:t>Report:</a:t>
            </a:r>
            <a:endParaRPr sz="1300">
              <a:latin typeface="Cambria Math"/>
              <a:cs typeface="Cambria Math"/>
            </a:endParaRPr>
          </a:p>
          <a:p>
            <a:pPr marL="259715" marR="5080" indent="-247650">
              <a:lnSpc>
                <a:spcPct val="110000"/>
              </a:lnSpc>
              <a:spcBef>
                <a:spcPts val="1395"/>
              </a:spcBef>
            </a:pPr>
            <a:r>
              <a:rPr dirty="0" sz="1200">
                <a:latin typeface="Cambria Math"/>
                <a:cs typeface="Cambria Math"/>
              </a:rPr>
              <a:t>1.</a:t>
            </a:r>
            <a:r>
              <a:rPr dirty="0" sz="1200" spc="160">
                <a:latin typeface="Cambria Math"/>
                <a:cs typeface="Cambria Math"/>
              </a:rPr>
              <a:t>  </a:t>
            </a:r>
            <a:r>
              <a:rPr dirty="0" sz="1200" spc="-10">
                <a:latin typeface="Cambria Math"/>
                <a:cs typeface="Cambria Math"/>
              </a:rPr>
              <a:t>VULNERABILITY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Cross-</a:t>
            </a:r>
            <a:r>
              <a:rPr dirty="0" sz="1200">
                <a:latin typeface="Cambria Math"/>
                <a:cs typeface="Cambria Math"/>
              </a:rPr>
              <a:t>site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(DOM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XSS) </a:t>
            </a:r>
            <a:r>
              <a:rPr dirty="0" sz="1200" spc="-10">
                <a:latin typeface="Cambria Math"/>
                <a:cs typeface="Cambria Math"/>
              </a:rPr>
              <a:t>SEVERITY: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Medium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4812" y="976630"/>
            <a:ext cx="6484620" cy="8873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Multiple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XSS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Cambria Math"/>
              <a:cs typeface="Cambria Math"/>
            </a:endParaRPr>
          </a:p>
          <a:p>
            <a:pPr marL="259715">
              <a:lnSpc>
                <a:spcPct val="100000"/>
              </a:lnSpc>
            </a:pP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443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Cambria Math"/>
              <a:cs typeface="Cambria Math"/>
            </a:endParaRPr>
          </a:p>
          <a:p>
            <a:pPr marL="267335" marR="73660" indent="-7620">
              <a:lnSpc>
                <a:spcPct val="103299"/>
              </a:lnSpc>
              <a:spcBef>
                <a:spcPts val="5"/>
              </a:spcBef>
            </a:pPr>
            <a:r>
              <a:rPr dirty="0" sz="1200" spc="-10">
                <a:latin typeface="Cambria Math"/>
                <a:cs typeface="Cambria Math"/>
              </a:rPr>
              <a:t>DESCRIPTION: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occurs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injected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directly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web </a:t>
            </a:r>
            <a:r>
              <a:rPr dirty="0" sz="1200">
                <a:latin typeface="Cambria Math"/>
                <a:cs typeface="Cambria Math"/>
              </a:rPr>
              <a:t>application.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Reflected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XSS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involves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reflection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application,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user's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browser.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DOM-</a:t>
            </a:r>
            <a:r>
              <a:rPr dirty="0" sz="1200">
                <a:latin typeface="Cambria Math"/>
                <a:cs typeface="Cambria Math"/>
              </a:rPr>
              <a:t>XSS: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DOM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stands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Document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Object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a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programming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interface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HTML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XML</a:t>
            </a:r>
            <a:r>
              <a:rPr dirty="0" sz="1200" spc="-10">
                <a:latin typeface="Cambria Math"/>
                <a:cs typeface="Cambria Math"/>
              </a:rPr>
              <a:t> documents.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represents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programs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change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document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structure,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style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webpage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document,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document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be </a:t>
            </a:r>
            <a:r>
              <a:rPr dirty="0" sz="1200">
                <a:latin typeface="Cambria Math"/>
                <a:cs typeface="Cambria Math"/>
              </a:rPr>
              <a:t>either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displayed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browser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window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HTML</a:t>
            </a:r>
            <a:r>
              <a:rPr dirty="0" sz="1200" spc="-10">
                <a:latin typeface="Cambria Math"/>
                <a:cs typeface="Cambria Math"/>
              </a:rPr>
              <a:t> Source.</a:t>
            </a:r>
            <a:endParaRPr sz="1200">
              <a:latin typeface="Cambria Math"/>
              <a:cs typeface="Cambria Math"/>
            </a:endParaRPr>
          </a:p>
          <a:p>
            <a:pPr marL="259715">
              <a:lnSpc>
                <a:spcPct val="100000"/>
              </a:lnSpc>
              <a:spcBef>
                <a:spcPts val="80"/>
              </a:spcBef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marL="716915" marR="14604" indent="-228600">
              <a:lnSpc>
                <a:spcPct val="104200"/>
              </a:lnSpc>
              <a:spcBef>
                <a:spcPts val="100"/>
              </a:spcBef>
              <a:buFont typeface="Arial MT"/>
              <a:buChar char="•"/>
              <a:tabLst>
                <a:tab pos="716915" algn="l"/>
              </a:tabLst>
            </a:pP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interacting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databases,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parameterized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statements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prepared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statements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avoid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SQL</a:t>
            </a:r>
            <a:r>
              <a:rPr dirty="0" sz="1200" spc="-10">
                <a:latin typeface="Cambria Math"/>
                <a:cs typeface="Cambria Math"/>
              </a:rPr>
              <a:t> injection,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which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vector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XSS.</a:t>
            </a:r>
            <a:endParaRPr sz="1200">
              <a:latin typeface="Cambria Math"/>
              <a:cs typeface="Cambria Math"/>
            </a:endParaRPr>
          </a:p>
          <a:p>
            <a:pPr marL="716915" marR="6350" indent="-228600">
              <a:lnSpc>
                <a:spcPct val="103299"/>
              </a:lnSpc>
              <a:spcBef>
                <a:spcPts val="95"/>
              </a:spcBef>
              <a:buFont typeface="Arial MT"/>
              <a:buChar char="•"/>
              <a:tabLst>
                <a:tab pos="716915" algn="l"/>
              </a:tabLst>
            </a:pPr>
            <a:r>
              <a:rPr dirty="0" sz="1200">
                <a:latin typeface="Cambria Math"/>
                <a:cs typeface="Cambria Math"/>
              </a:rPr>
              <a:t>Sanitize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validate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inputs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displayed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0">
                <a:latin typeface="Cambria Math"/>
                <a:cs typeface="Cambria Math"/>
              </a:rPr>
              <a:t> page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is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properly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encoded.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output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encoding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libraries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functions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prevent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script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injection.</a:t>
            </a:r>
            <a:endParaRPr sz="1200">
              <a:latin typeface="Cambria Math"/>
              <a:cs typeface="Cambria Math"/>
            </a:endParaRPr>
          </a:p>
          <a:p>
            <a:pPr marL="716915" marR="113664" indent="-228600">
              <a:lnSpc>
                <a:spcPct val="103299"/>
              </a:lnSpc>
              <a:spcBef>
                <a:spcPts val="110"/>
              </a:spcBef>
              <a:buFont typeface="Arial MT"/>
              <a:buChar char="•"/>
              <a:tabLst>
                <a:tab pos="716915" algn="l"/>
              </a:tabLst>
            </a:pPr>
            <a:r>
              <a:rPr dirty="0" sz="1200">
                <a:latin typeface="Cambria Math"/>
                <a:cs typeface="Cambria Math"/>
              </a:rPr>
              <a:t>Avoid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DOM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manipulation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methods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introduce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vulnerabilities.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cautious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inner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HTML,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document.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Write,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other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methods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execute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scripts.</a:t>
            </a:r>
            <a:endParaRPr sz="1200">
              <a:latin typeface="Cambria Math"/>
              <a:cs typeface="Cambria Math"/>
            </a:endParaRPr>
          </a:p>
          <a:p>
            <a:pPr marL="716915" marR="5080" indent="-228600">
              <a:lnSpc>
                <a:spcPct val="103299"/>
              </a:lnSpc>
              <a:spcBef>
                <a:spcPts val="110"/>
              </a:spcBef>
              <a:buFont typeface="Arial MT"/>
              <a:buChar char="•"/>
              <a:tabLst>
                <a:tab pos="716915" algn="l"/>
              </a:tabLst>
            </a:pPr>
            <a:r>
              <a:rPr dirty="0" sz="1200" spc="-10">
                <a:latin typeface="Cambria Math"/>
                <a:cs typeface="Cambria Math"/>
              </a:rPr>
              <a:t>Consider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using well-established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JavaScript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frameworks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libraries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10">
                <a:latin typeface="Cambria Math"/>
                <a:cs typeface="Cambria Math"/>
              </a:rPr>
              <a:t> include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built-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in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features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XSS.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Cambria Math"/>
              <a:cs typeface="Cambria Math"/>
            </a:endParaRPr>
          </a:p>
          <a:p>
            <a:pPr marL="267335" marR="56515" indent="-7620">
              <a:lnSpc>
                <a:spcPct val="103499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stores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dangerous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database,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message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forum,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visitor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log,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other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trusted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store.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Later,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dangerous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subsequently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read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back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into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included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dynamic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content.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attacker's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perspective,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optimal </a:t>
            </a:r>
            <a:r>
              <a:rPr dirty="0" sz="1200">
                <a:latin typeface="Cambria Math"/>
                <a:cs typeface="Cambria Math"/>
              </a:rPr>
              <a:t>place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inject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displayed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particularly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interesting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Interesting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typically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elevated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privileges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or </a:t>
            </a:r>
            <a:r>
              <a:rPr dirty="0" sz="1200">
                <a:latin typeface="Cambria Math"/>
                <a:cs typeface="Cambria Math"/>
              </a:rPr>
              <a:t>interact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valuable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executes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able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perform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privileged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operations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behalf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the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gain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belonging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mbria Math"/>
                <a:cs typeface="Cambria Math"/>
              </a:rPr>
              <a:t>2.</a:t>
            </a:r>
            <a:r>
              <a:rPr dirty="0" sz="1200" spc="160">
                <a:latin typeface="Cambria Math"/>
                <a:cs typeface="Cambria Math"/>
              </a:rPr>
              <a:t>  </a:t>
            </a:r>
            <a:r>
              <a:rPr dirty="0" sz="1200" spc="-10">
                <a:latin typeface="Cambria Math"/>
                <a:cs typeface="Cambria Math"/>
              </a:rPr>
              <a:t>VULNERABILITY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jQuery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1.2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&lt;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3.5.0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Multiple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XSS</a:t>
            </a:r>
            <a:endParaRPr sz="1200">
              <a:latin typeface="Cambria Math"/>
              <a:cs typeface="Cambria Math"/>
            </a:endParaRPr>
          </a:p>
          <a:p>
            <a:pPr marL="259715" marR="4672965">
              <a:lnSpc>
                <a:spcPct val="213300"/>
              </a:lnSpc>
              <a:spcBef>
                <a:spcPts val="25"/>
              </a:spcBef>
            </a:pPr>
            <a:r>
              <a:rPr dirty="0" sz="1200" spc="-10">
                <a:latin typeface="Cambria Math"/>
                <a:cs typeface="Cambria Math"/>
              </a:rPr>
              <a:t>SEVERITY: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Medium PLUGIN: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CGI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Abuse: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XSS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Cambria Math"/>
              <a:cs typeface="Cambria Math"/>
            </a:endParaRPr>
          </a:p>
          <a:p>
            <a:pPr marL="259715">
              <a:lnSpc>
                <a:spcPct val="100000"/>
              </a:lnSpc>
            </a:pP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443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Cambria Math"/>
              <a:cs typeface="Cambria Math"/>
            </a:endParaRPr>
          </a:p>
          <a:p>
            <a:pPr marL="267335" marR="81280" indent="-7620">
              <a:lnSpc>
                <a:spcPct val="103499"/>
              </a:lnSpc>
            </a:pPr>
            <a:r>
              <a:rPr dirty="0" sz="1200" spc="-10">
                <a:latin typeface="Cambria Math"/>
                <a:cs typeface="Cambria Math"/>
              </a:rPr>
              <a:t>DESCRIPTION: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occurs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injected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directly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web </a:t>
            </a:r>
            <a:r>
              <a:rPr dirty="0" sz="1200">
                <a:latin typeface="Cambria Math"/>
                <a:cs typeface="Cambria Math"/>
              </a:rPr>
              <a:t>application.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Reflected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XSS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involves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reflection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application,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onto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user's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browser.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Stored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XSS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(Persistent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XSS):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type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is </a:t>
            </a:r>
            <a:r>
              <a:rPr dirty="0" sz="1200" spc="-10">
                <a:latin typeface="Cambria Math"/>
                <a:cs typeface="Cambria Math"/>
              </a:rPr>
              <a:t>permanently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stored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database,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often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user-generated </a:t>
            </a:r>
            <a:r>
              <a:rPr dirty="0" sz="1200">
                <a:latin typeface="Cambria Math"/>
                <a:cs typeface="Cambria Math"/>
              </a:rPr>
              <a:t>content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like </a:t>
            </a:r>
            <a:r>
              <a:rPr dirty="0" sz="1200">
                <a:latin typeface="Cambria Math"/>
                <a:cs typeface="Cambria Math"/>
              </a:rPr>
              <a:t>comments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forum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posts.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other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view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affected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executes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in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browsers,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potentially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compromising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sessions.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Reflected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XSS: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Reflected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XSS </a:t>
            </a:r>
            <a:r>
              <a:rPr dirty="0" sz="1200">
                <a:latin typeface="Cambria Math"/>
                <a:cs typeface="Cambria Math"/>
              </a:rPr>
              <a:t>occurs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embedded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URL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immediately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executed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a </a:t>
            </a:r>
            <a:r>
              <a:rPr dirty="0" sz="1200">
                <a:latin typeface="Cambria Math"/>
                <a:cs typeface="Cambria Math"/>
              </a:rPr>
              <a:t>victim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clicks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manipulated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link.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reflected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a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making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one-</a:t>
            </a:r>
            <a:r>
              <a:rPr dirty="0" sz="1200">
                <a:latin typeface="Cambria Math"/>
                <a:cs typeface="Cambria Math"/>
              </a:rPr>
              <a:t>time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DOM-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XSS: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stands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Document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4812" y="976630"/>
            <a:ext cx="6508115" cy="851408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just" marL="273050" marR="55244" indent="-6350">
              <a:lnSpc>
                <a:spcPct val="103299"/>
              </a:lnSpc>
              <a:spcBef>
                <a:spcPts val="50"/>
              </a:spcBef>
            </a:pPr>
            <a:r>
              <a:rPr dirty="0" sz="1200">
                <a:latin typeface="Cambria Math"/>
                <a:cs typeface="Cambria Math"/>
              </a:rPr>
              <a:t>Object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Model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 is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programming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interface for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HTML and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XML documents. It represents </a:t>
            </a:r>
            <a:r>
              <a:rPr dirty="0" sz="1200" spc="-20">
                <a:latin typeface="Cambria Math"/>
                <a:cs typeface="Cambria Math"/>
              </a:rPr>
              <a:t>that </a:t>
            </a:r>
            <a:r>
              <a:rPr dirty="0" sz="1200">
                <a:latin typeface="Cambria Math"/>
                <a:cs typeface="Cambria Math"/>
              </a:rPr>
              <a:t>programs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change 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document </a:t>
            </a:r>
            <a:r>
              <a:rPr dirty="0" sz="1200">
                <a:latin typeface="Cambria Math"/>
                <a:cs typeface="Cambria Math"/>
              </a:rPr>
              <a:t>structure,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style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webpage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document,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and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document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either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displayed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browser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window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HTML</a:t>
            </a:r>
            <a:r>
              <a:rPr dirty="0" sz="1200" spc="-10">
                <a:latin typeface="Cambria Math"/>
                <a:cs typeface="Cambria Math"/>
              </a:rPr>
              <a:t> Source.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200">
              <a:latin typeface="Cambria Math"/>
              <a:cs typeface="Cambria Math"/>
            </a:endParaRPr>
          </a:p>
          <a:p>
            <a:pPr marL="25971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algn="just" marL="716915" marR="38735" indent="-228600">
              <a:lnSpc>
                <a:spcPct val="104200"/>
              </a:lnSpc>
              <a:spcBef>
                <a:spcPts val="80"/>
              </a:spcBef>
              <a:buFont typeface="Arial MT"/>
              <a:buChar char="•"/>
              <a:tabLst>
                <a:tab pos="716915" algn="l"/>
                <a:tab pos="718820" algn="l"/>
              </a:tabLst>
            </a:pPr>
            <a:r>
              <a:rPr dirty="0" sz="1200">
                <a:latin typeface="Cambria Math"/>
                <a:cs typeface="Cambria Math"/>
              </a:rPr>
              <a:t>	The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most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important recommendation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 to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update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 latest version of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jQuery. </a:t>
            </a:r>
            <a:r>
              <a:rPr dirty="0" sz="1200" spc="-10">
                <a:latin typeface="Cambria Math"/>
                <a:cs typeface="Cambria Math"/>
              </a:rPr>
              <a:t>Newer </a:t>
            </a:r>
            <a:r>
              <a:rPr dirty="0" sz="1200">
                <a:latin typeface="Cambria Math"/>
                <a:cs typeface="Cambria Math"/>
              </a:rPr>
              <a:t>versions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typically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include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patches,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fixes,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performance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improvements.</a:t>
            </a:r>
            <a:endParaRPr sz="1200">
              <a:latin typeface="Cambria Math"/>
              <a:cs typeface="Cambria Math"/>
            </a:endParaRPr>
          </a:p>
          <a:p>
            <a:pPr algn="just" marL="716915" marR="36830" indent="-228600">
              <a:lnSpc>
                <a:spcPct val="104200"/>
              </a:lnSpc>
              <a:spcBef>
                <a:spcPts val="85"/>
              </a:spcBef>
              <a:buFont typeface="Arial MT"/>
              <a:buChar char="•"/>
              <a:tabLst>
                <a:tab pos="716915" algn="l"/>
                <a:tab pos="718820" algn="l"/>
              </a:tabLst>
            </a:pPr>
            <a:r>
              <a:rPr dirty="0" sz="1200">
                <a:latin typeface="Cambria Math"/>
                <a:cs typeface="Cambria Math"/>
              </a:rPr>
              <a:t>	Stay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vigilant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about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jQuery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updates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announcements.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Subscribe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relevant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mailing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lists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forums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receive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notifications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about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new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releases.</a:t>
            </a:r>
            <a:endParaRPr sz="1200">
              <a:latin typeface="Cambria Math"/>
              <a:cs typeface="Cambria Math"/>
            </a:endParaRPr>
          </a:p>
          <a:p>
            <a:pPr algn="just" marL="716915" marR="26034" indent="-228600">
              <a:lnSpc>
                <a:spcPct val="103000"/>
              </a:lnSpc>
              <a:spcBef>
                <a:spcPts val="100"/>
              </a:spcBef>
              <a:buFont typeface="Arial MT"/>
              <a:buChar char="•"/>
              <a:tabLst>
                <a:tab pos="716915" algn="l"/>
                <a:tab pos="718820" algn="l"/>
              </a:tabLst>
            </a:pPr>
            <a:r>
              <a:rPr dirty="0" sz="1200">
                <a:latin typeface="Cambria Math"/>
                <a:cs typeface="Cambria Math"/>
              </a:rPr>
              <a:t>	A</a:t>
            </a:r>
            <a:r>
              <a:rPr dirty="0" sz="1200" spc="13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Content</a:t>
            </a:r>
            <a:r>
              <a:rPr dirty="0" sz="1200" spc="13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3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13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(CSP)</a:t>
            </a:r>
            <a:r>
              <a:rPr dirty="0" sz="1200" spc="13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13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help</a:t>
            </a:r>
            <a:r>
              <a:rPr dirty="0" sz="1200" spc="13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mitigate</a:t>
            </a:r>
            <a:r>
              <a:rPr dirty="0" sz="1200" spc="13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various</a:t>
            </a:r>
            <a:r>
              <a:rPr dirty="0" sz="1200" spc="13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types</a:t>
            </a:r>
            <a:r>
              <a:rPr dirty="0" sz="1200" spc="135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30">
                <a:latin typeface="Cambria Math"/>
                <a:cs typeface="Cambria Math"/>
              </a:rPr>
              <a:t>  </a:t>
            </a:r>
            <a:r>
              <a:rPr dirty="0" sz="1200" spc="-10">
                <a:latin typeface="Cambria Math"/>
                <a:cs typeface="Cambria Math"/>
              </a:rPr>
              <a:t>client-</a:t>
            </a:r>
            <a:r>
              <a:rPr dirty="0" sz="1200" spc="-20">
                <a:latin typeface="Cambria Math"/>
                <a:cs typeface="Cambria Math"/>
              </a:rPr>
              <a:t>side </a:t>
            </a:r>
            <a:r>
              <a:rPr dirty="0" sz="1200" spc="-10">
                <a:latin typeface="Cambria Math"/>
                <a:cs typeface="Cambria Math"/>
              </a:rPr>
              <a:t>vulnerabilities,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including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Cross-</a:t>
            </a:r>
            <a:r>
              <a:rPr dirty="0" sz="1200">
                <a:latin typeface="Cambria Math"/>
                <a:cs typeface="Cambria Math"/>
              </a:rPr>
              <a:t>Site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(XSS).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Consider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implementing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CSP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your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restrict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sources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which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scripts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loaded.</a:t>
            </a:r>
            <a:endParaRPr sz="1200">
              <a:latin typeface="Cambria Math"/>
              <a:cs typeface="Cambria Math"/>
            </a:endParaRPr>
          </a:p>
          <a:p>
            <a:pPr algn="just" marL="716915" marR="27305" indent="-228600">
              <a:lnSpc>
                <a:spcPct val="102899"/>
              </a:lnSpc>
              <a:spcBef>
                <a:spcPts val="114"/>
              </a:spcBef>
              <a:buFont typeface="Arial MT"/>
              <a:buChar char="•"/>
              <a:tabLst>
                <a:tab pos="716915" algn="l"/>
                <a:tab pos="718820" algn="l"/>
              </a:tabLst>
            </a:pPr>
            <a:r>
              <a:rPr dirty="0" sz="1200">
                <a:latin typeface="Cambria Math"/>
                <a:cs typeface="Cambria Math"/>
              </a:rPr>
              <a:t>	If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updating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jQuery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immediately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possible,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review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your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code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potential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security </a:t>
            </a:r>
            <a:r>
              <a:rPr dirty="0" sz="1200">
                <a:latin typeface="Cambria Math"/>
                <a:cs typeface="Cambria Math"/>
              </a:rPr>
              <a:t>issues.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you are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escaping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sanitizing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inputs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you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using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safe </a:t>
            </a:r>
            <a:r>
              <a:rPr dirty="0" sz="1200">
                <a:latin typeface="Cambria Math"/>
                <a:cs typeface="Cambria Math"/>
              </a:rPr>
              <a:t>coding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practices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other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vulnerabilities.</a:t>
            </a:r>
            <a:endParaRPr sz="1200">
              <a:latin typeface="Cambria Math"/>
              <a:cs typeface="Cambria Math"/>
            </a:endParaRPr>
          </a:p>
          <a:p>
            <a:pPr marL="267335" marR="80645" indent="-7620">
              <a:lnSpc>
                <a:spcPct val="103499"/>
              </a:lnSpc>
              <a:spcBef>
                <a:spcPts val="105"/>
              </a:spcBef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stores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dangerous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database,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message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forum,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visitor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log,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other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trusted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store.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Later,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dangerous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subsequently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read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back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into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included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dynamic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content.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attacker's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perspective,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optimal </a:t>
            </a:r>
            <a:r>
              <a:rPr dirty="0" sz="1200">
                <a:latin typeface="Cambria Math"/>
                <a:cs typeface="Cambria Math"/>
              </a:rPr>
              <a:t>place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inject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displayed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particularly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interesting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Interesting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typically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elevated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privileges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or </a:t>
            </a:r>
            <a:r>
              <a:rPr dirty="0" sz="1200">
                <a:latin typeface="Cambria Math"/>
                <a:cs typeface="Cambria Math"/>
              </a:rPr>
              <a:t>interact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valuable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executes </a:t>
            </a:r>
            <a:r>
              <a:rPr dirty="0" sz="1200">
                <a:latin typeface="Cambria Math"/>
                <a:cs typeface="Cambria Math"/>
              </a:rPr>
              <a:t>malicious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content,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able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perform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privileged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operations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behalf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the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gain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belonging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user.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Cambria Math"/>
              <a:cs typeface="Cambria Math"/>
            </a:endParaRPr>
          </a:p>
          <a:p>
            <a:pPr marL="238125" marR="113030" indent="-226060">
              <a:lnSpc>
                <a:spcPct val="105800"/>
              </a:lnSpc>
              <a:buAutoNum type="arabicPeriod" startAt="3"/>
              <a:tabLst>
                <a:tab pos="241300" algn="l"/>
              </a:tabLst>
            </a:pPr>
            <a:r>
              <a:rPr dirty="0" sz="1200">
                <a:latin typeface="Cambria Math"/>
                <a:cs typeface="Cambria Math"/>
              </a:rPr>
              <a:t>VULNERABILITY</a:t>
            </a:r>
            <a:r>
              <a:rPr dirty="0" sz="1200" spc="4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4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Information</a:t>
            </a:r>
            <a:r>
              <a:rPr dirty="0" sz="1200" spc="4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Exposure</a:t>
            </a:r>
            <a:r>
              <a:rPr dirty="0" sz="1200" spc="4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(Web</a:t>
            </a:r>
            <a:r>
              <a:rPr dirty="0" sz="1200" spc="3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</a:t>
            </a:r>
            <a:r>
              <a:rPr dirty="0" sz="1200" spc="4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</a:t>
            </a:r>
            <a:r>
              <a:rPr dirty="0" sz="1200" spc="4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Header</a:t>
            </a:r>
            <a:r>
              <a:rPr dirty="0" sz="1200" spc="4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Internal</a:t>
            </a:r>
            <a:r>
              <a:rPr dirty="0" sz="1200" spc="49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IP </a:t>
            </a:r>
            <a:r>
              <a:rPr dirty="0" sz="1200" spc="-25">
                <a:latin typeface="Cambria Math"/>
                <a:cs typeface="Cambria Math"/>
              </a:rPr>
              <a:t>	</a:t>
            </a:r>
            <a:r>
              <a:rPr dirty="0" sz="1200" spc="-10">
                <a:latin typeface="Cambria Math"/>
                <a:cs typeface="Cambria Math"/>
              </a:rPr>
              <a:t>Disclosure)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Cambria Math"/>
              <a:buAutoNum type="arabicPeriod" startAt="3"/>
            </a:pPr>
            <a:endParaRPr sz="1200">
              <a:latin typeface="Cambria Math"/>
              <a:cs typeface="Cambria Math"/>
            </a:endParaRPr>
          </a:p>
          <a:p>
            <a:pPr marL="25971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mbria Math"/>
                <a:cs typeface="Cambria Math"/>
              </a:rPr>
              <a:t>SEVERITY: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Low</a:t>
            </a:r>
            <a:endParaRPr sz="1200">
              <a:latin typeface="Cambria Math"/>
              <a:cs typeface="Cambria Math"/>
            </a:endParaRPr>
          </a:p>
          <a:p>
            <a:pPr marL="259715" marR="2557780">
              <a:lnSpc>
                <a:spcPct val="210800"/>
              </a:lnSpc>
              <a:spcBef>
                <a:spcPts val="35"/>
              </a:spcBef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Server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HTTP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Header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Internal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IP</a:t>
            </a:r>
            <a:r>
              <a:rPr dirty="0" sz="1200" spc="-10">
                <a:latin typeface="Cambria Math"/>
                <a:cs typeface="Cambria Math"/>
              </a:rPr>
              <a:t> Disclosure </a:t>
            </a: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80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Cambria Math"/>
              <a:cs typeface="Cambria Math"/>
            </a:endParaRPr>
          </a:p>
          <a:p>
            <a:pPr marL="267335" marR="115570" indent="-7620">
              <a:lnSpc>
                <a:spcPct val="104400"/>
              </a:lnSpc>
            </a:pPr>
            <a:r>
              <a:rPr dirty="0" sz="1200">
                <a:latin typeface="Cambria Math"/>
                <a:cs typeface="Cambria Math"/>
              </a:rPr>
              <a:t>DESCRIPTION: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product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exposes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information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actor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explicitly </a:t>
            </a:r>
            <a:r>
              <a:rPr dirty="0" sz="1200">
                <a:latin typeface="Cambria Math"/>
                <a:cs typeface="Cambria Math"/>
              </a:rPr>
              <a:t>authorized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10">
                <a:latin typeface="Cambria Math"/>
                <a:cs typeface="Cambria Math"/>
              </a:rPr>
              <a:t> information.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200">
              <a:latin typeface="Cambria Math"/>
              <a:cs typeface="Cambria Math"/>
            </a:endParaRPr>
          </a:p>
          <a:p>
            <a:pPr marL="25971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algn="just" lvl="1" marL="716915" marR="5080" indent="-228600">
              <a:lnSpc>
                <a:spcPct val="102899"/>
              </a:lnSpc>
              <a:spcBef>
                <a:spcPts val="114"/>
              </a:spcBef>
              <a:buFont typeface="Arial MT"/>
              <a:buChar char="•"/>
              <a:tabLst>
                <a:tab pos="716915" algn="l"/>
                <a:tab pos="718820" algn="l"/>
              </a:tabLst>
            </a:pPr>
            <a:r>
              <a:rPr dirty="0" sz="1200">
                <a:latin typeface="Cambria Math"/>
                <a:cs typeface="Cambria Math"/>
              </a:rPr>
              <a:t>	Carefully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review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your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server's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configuration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files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(e.g.,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Apache's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httpd.conf,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Nginx's nginx.conf)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identify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anywhere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internal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IP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addresses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are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inadvertently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included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HTTP </a:t>
            </a:r>
            <a:r>
              <a:rPr dirty="0" sz="1200">
                <a:latin typeface="Cambria Math"/>
                <a:cs typeface="Cambria Math"/>
              </a:rPr>
              <a:t>response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headers.</a:t>
            </a:r>
            <a:endParaRPr sz="1200">
              <a:latin typeface="Cambria Math"/>
              <a:cs typeface="Cambria Math"/>
            </a:endParaRPr>
          </a:p>
          <a:p>
            <a:pPr algn="just" lvl="1" marL="716915" marR="12065" indent="-228600">
              <a:lnSpc>
                <a:spcPct val="104200"/>
              </a:lnSpc>
              <a:spcBef>
                <a:spcPts val="95"/>
              </a:spcBef>
              <a:buFont typeface="Arial MT"/>
              <a:buChar char="•"/>
              <a:tabLst>
                <a:tab pos="716915" algn="l"/>
                <a:tab pos="718820" algn="l"/>
              </a:tabLst>
            </a:pPr>
            <a:r>
              <a:rPr dirty="0" sz="1200">
                <a:latin typeface="Cambria Math"/>
                <a:cs typeface="Cambria Math"/>
              </a:rPr>
              <a:t>	Remove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2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replace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any</a:t>
            </a:r>
            <a:r>
              <a:rPr dirty="0" sz="1200" spc="2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internal</a:t>
            </a:r>
            <a:r>
              <a:rPr dirty="0" sz="1200" spc="2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IP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addresses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</a:t>
            </a:r>
            <a:r>
              <a:rPr dirty="0" sz="1200" spc="2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configuration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files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with </a:t>
            </a:r>
            <a:r>
              <a:rPr dirty="0" sz="1200">
                <a:latin typeface="Cambria Math"/>
                <a:cs typeface="Cambria Math"/>
              </a:rPr>
              <a:t>appropriate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placeholders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public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IP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addresses.</a:t>
            </a:r>
            <a:endParaRPr sz="1200">
              <a:latin typeface="Cambria Math"/>
              <a:cs typeface="Cambria Math"/>
            </a:endParaRPr>
          </a:p>
          <a:p>
            <a:pPr algn="just" lvl="1" marL="716915" marR="7620" indent="-228600">
              <a:lnSpc>
                <a:spcPct val="103299"/>
              </a:lnSpc>
              <a:spcBef>
                <a:spcPts val="95"/>
              </a:spcBef>
              <a:buFont typeface="Arial MT"/>
              <a:buChar char="•"/>
              <a:tabLst>
                <a:tab pos="716915" algn="l"/>
                <a:tab pos="718820" algn="l"/>
              </a:tabLst>
            </a:pPr>
            <a:r>
              <a:rPr dirty="0" sz="1200">
                <a:latin typeface="Cambria Math"/>
                <a:cs typeface="Cambria Math"/>
              </a:rPr>
              <a:t>	If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you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proxy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load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balancers,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ensure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configured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hide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internal </a:t>
            </a:r>
            <a:r>
              <a:rPr dirty="0" sz="1200">
                <a:latin typeface="Cambria Math"/>
                <a:cs typeface="Cambria Math"/>
              </a:rPr>
              <a:t>IP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only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expose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public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IP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instances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headers.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4812" y="975106"/>
            <a:ext cx="6510655" cy="890143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716915" marR="5080" indent="-228600">
              <a:lnSpc>
                <a:spcPct val="102899"/>
              </a:lnSpc>
              <a:spcBef>
                <a:spcPts val="55"/>
              </a:spcBef>
              <a:buFont typeface="Arial MT"/>
              <a:buChar char="•"/>
              <a:tabLst>
                <a:tab pos="716915" algn="l"/>
                <a:tab pos="718820" algn="l"/>
              </a:tabLst>
            </a:pPr>
            <a:r>
              <a:rPr dirty="0" sz="1200">
                <a:latin typeface="Cambria Math"/>
                <a:cs typeface="Cambria Math"/>
              </a:rPr>
              <a:t>	Review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configure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response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headers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(e.g.,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Server,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X-</a:t>
            </a:r>
            <a:r>
              <a:rPr dirty="0" sz="1200" spc="-10">
                <a:latin typeface="Cambria Math"/>
                <a:cs typeface="Cambria Math"/>
              </a:rPr>
              <a:t>Powered-</a:t>
            </a:r>
            <a:r>
              <a:rPr dirty="0" sz="1200">
                <a:latin typeface="Cambria Math"/>
                <a:cs typeface="Cambria Math"/>
              </a:rPr>
              <a:t>By)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limit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exposure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technology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details,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reducing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potential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disclosing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internal </a:t>
            </a:r>
            <a:r>
              <a:rPr dirty="0" sz="1200">
                <a:latin typeface="Cambria Math"/>
                <a:cs typeface="Cambria Math"/>
              </a:rPr>
              <a:t>IP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addresses.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67335" marR="5080" indent="-7620">
              <a:lnSpc>
                <a:spcPct val="102499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reduce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consequences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arising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SSL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issues, </a:t>
            </a:r>
            <a:r>
              <a:rPr dirty="0" sz="1200">
                <a:latin typeface="Cambria Math"/>
                <a:cs typeface="Cambria Math"/>
              </a:rPr>
              <a:t>organizations</a:t>
            </a:r>
            <a:r>
              <a:rPr dirty="0" sz="1200" spc="3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must</a:t>
            </a:r>
            <a:r>
              <a:rPr dirty="0" sz="1200" spc="4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give</a:t>
            </a:r>
            <a:r>
              <a:rPr dirty="0" sz="1200" spc="3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utmost</a:t>
            </a:r>
            <a:r>
              <a:rPr dirty="0" sz="1200" spc="3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priority</a:t>
            </a:r>
            <a:r>
              <a:rPr dirty="0" sz="1200" spc="3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4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establishing</a:t>
            </a:r>
            <a:r>
              <a:rPr dirty="0" sz="1200" spc="3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3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4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SSL/TLS</a:t>
            </a:r>
            <a:r>
              <a:rPr dirty="0" sz="1200" spc="4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configuration, </a:t>
            </a:r>
            <a:r>
              <a:rPr dirty="0" sz="1200">
                <a:latin typeface="Cambria Math"/>
                <a:cs typeface="Cambria Math"/>
              </a:rPr>
              <a:t>conducting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frequent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assessments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testing.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Adhering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protection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regulations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industry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standards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imperative.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play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pivotal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role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safeguarding</a:t>
            </a:r>
            <a:r>
              <a:rPr dirty="0" sz="1200" spc="-10">
                <a:latin typeface="Cambria Math"/>
                <a:cs typeface="Cambria Math"/>
              </a:rPr>
              <a:t> sensitive </a:t>
            </a:r>
            <a:r>
              <a:rPr dirty="0" sz="1200">
                <a:latin typeface="Cambria Math"/>
                <a:cs typeface="Cambria Math"/>
              </a:rPr>
              <a:t>data, upholding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trust, 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safeguarding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 </a:t>
            </a:r>
            <a:r>
              <a:rPr dirty="0" sz="1200" spc="-10">
                <a:latin typeface="Cambria Math"/>
                <a:cs typeface="Cambria Math"/>
              </a:rPr>
              <a:t>organization's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esteemed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reputation.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Cambria Math"/>
              <a:cs typeface="Cambria Math"/>
            </a:endParaRPr>
          </a:p>
          <a:p>
            <a:pPr marL="238125" marR="1658620" indent="-226060">
              <a:lnSpc>
                <a:spcPct val="210800"/>
              </a:lnSpc>
              <a:spcBef>
                <a:spcPts val="5"/>
              </a:spcBef>
              <a:buAutoNum type="arabicPeriod" startAt="4"/>
              <a:tabLst>
                <a:tab pos="259715" algn="l"/>
              </a:tabLst>
            </a:pPr>
            <a:r>
              <a:rPr dirty="0" sz="1200" spc="-10">
                <a:latin typeface="Cambria Math"/>
                <a:cs typeface="Cambria Math"/>
              </a:rPr>
              <a:t>VULNERABILITY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Information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Exposure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(SSL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(Multiple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Issues)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) </a:t>
            </a:r>
            <a:r>
              <a:rPr dirty="0" sz="1200" spc="-50">
                <a:latin typeface="Cambria Math"/>
                <a:cs typeface="Cambria Math"/>
              </a:rPr>
              <a:t>	</a:t>
            </a:r>
            <a:r>
              <a:rPr dirty="0" sz="1200" spc="-10">
                <a:latin typeface="Cambria Math"/>
                <a:cs typeface="Cambria Math"/>
              </a:rPr>
              <a:t>SEVERITY: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Info</a:t>
            </a:r>
            <a:endParaRPr sz="1200">
              <a:latin typeface="Cambria Math"/>
              <a:cs typeface="Cambria Math"/>
            </a:endParaRPr>
          </a:p>
          <a:p>
            <a:pPr marL="259715" marR="3933825">
              <a:lnSpc>
                <a:spcPts val="3040"/>
              </a:lnSpc>
              <a:spcBef>
                <a:spcPts val="350"/>
              </a:spcBef>
            </a:pPr>
            <a:r>
              <a:rPr dirty="0" sz="1200">
                <a:latin typeface="Cambria Math"/>
                <a:cs typeface="Cambria Math"/>
              </a:rPr>
              <a:t>PLUGIN: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SSL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certificate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Information </a:t>
            </a: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443</a:t>
            </a:r>
            <a:endParaRPr sz="1200">
              <a:latin typeface="Cambria Math"/>
              <a:cs typeface="Cambria Math"/>
            </a:endParaRPr>
          </a:p>
          <a:p>
            <a:pPr algn="just" marL="259715">
              <a:lnSpc>
                <a:spcPts val="1225"/>
              </a:lnSpc>
            </a:pPr>
            <a:r>
              <a:rPr dirty="0" sz="1200">
                <a:latin typeface="Cambria Math"/>
                <a:cs typeface="Cambria Math"/>
              </a:rPr>
              <a:t>DESCRIPTION: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product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exposes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information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actor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explicitly</a:t>
            </a:r>
            <a:endParaRPr sz="1200">
              <a:latin typeface="Cambria Math"/>
              <a:cs typeface="Cambria Math"/>
            </a:endParaRPr>
          </a:p>
          <a:p>
            <a:pPr algn="just" marL="267335">
              <a:lnSpc>
                <a:spcPct val="100000"/>
              </a:lnSpc>
              <a:spcBef>
                <a:spcPts val="60"/>
              </a:spcBef>
            </a:pPr>
            <a:r>
              <a:rPr dirty="0" sz="1200">
                <a:latin typeface="Cambria Math"/>
                <a:cs typeface="Cambria Math"/>
              </a:rPr>
              <a:t>authorized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10">
                <a:latin typeface="Cambria Math"/>
                <a:cs typeface="Cambria Math"/>
              </a:rPr>
              <a:t> information.</a:t>
            </a:r>
            <a:endParaRPr sz="1200">
              <a:latin typeface="Cambria Math"/>
              <a:cs typeface="Cambria Math"/>
            </a:endParaRPr>
          </a:p>
          <a:p>
            <a:pPr marL="259715">
              <a:lnSpc>
                <a:spcPct val="100000"/>
              </a:lnSpc>
              <a:spcBef>
                <a:spcPts val="145"/>
              </a:spcBef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lvl="1" marL="716915" marR="136525" indent="-228600">
              <a:lnSpc>
                <a:spcPct val="103499"/>
              </a:lnSpc>
              <a:spcBef>
                <a:spcPts val="105"/>
              </a:spcBef>
              <a:buFont typeface="Arial MT"/>
              <a:buChar char="•"/>
              <a:tabLst>
                <a:tab pos="716915" algn="l"/>
              </a:tabLst>
            </a:pPr>
            <a:r>
              <a:rPr dirty="0" sz="1200" spc="-10">
                <a:latin typeface="Cambria Math"/>
                <a:cs typeface="Cambria Math"/>
              </a:rPr>
              <a:t>Configure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your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latest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strongest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encryption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protocols,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as </a:t>
            </a:r>
            <a:r>
              <a:rPr dirty="0" sz="1200">
                <a:latin typeface="Cambria Math"/>
                <a:cs typeface="Cambria Math"/>
              </a:rPr>
              <a:t>TLS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1.2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higher.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Disable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outdated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insecure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protocols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like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SSLv3.</a:t>
            </a:r>
            <a:endParaRPr sz="1200">
              <a:latin typeface="Cambria Math"/>
              <a:cs typeface="Cambria Math"/>
            </a:endParaRPr>
          </a:p>
          <a:p>
            <a:pPr lvl="1" marL="716915" marR="31115" indent="-228600">
              <a:lnSpc>
                <a:spcPct val="103299"/>
              </a:lnSpc>
              <a:spcBef>
                <a:spcPts val="110"/>
              </a:spcBef>
              <a:buFont typeface="Arial MT"/>
              <a:buChar char="•"/>
              <a:tabLst>
                <a:tab pos="716915" algn="l"/>
              </a:tabLst>
            </a:pPr>
            <a:r>
              <a:rPr dirty="0" sz="1200" spc="-10">
                <a:latin typeface="Cambria Math"/>
                <a:cs typeface="Cambria Math"/>
              </a:rPr>
              <a:t>Implement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Perfect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Forward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Secrecy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ensure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that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even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if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private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key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is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compromised, previously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recorded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encrypted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traffic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remains</a:t>
            </a:r>
            <a:r>
              <a:rPr dirty="0" sz="1200" spc="-10">
                <a:latin typeface="Cambria Math"/>
                <a:cs typeface="Cambria Math"/>
              </a:rPr>
              <a:t> secure.</a:t>
            </a:r>
            <a:endParaRPr sz="1200">
              <a:latin typeface="Cambria Math"/>
              <a:cs typeface="Cambria Math"/>
            </a:endParaRPr>
          </a:p>
          <a:p>
            <a:pPr lvl="1" marL="716915" marR="31750" indent="-228600">
              <a:lnSpc>
                <a:spcPct val="103299"/>
              </a:lnSpc>
              <a:spcBef>
                <a:spcPts val="95"/>
              </a:spcBef>
              <a:buFont typeface="Arial MT"/>
              <a:buChar char="•"/>
              <a:tabLst>
                <a:tab pos="716915" algn="l"/>
              </a:tabLst>
            </a:pPr>
            <a:r>
              <a:rPr dirty="0" sz="1200" spc="-10">
                <a:latin typeface="Cambria Math"/>
                <a:cs typeface="Cambria Math"/>
              </a:rPr>
              <a:t>Safeguard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your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private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keys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by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storing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them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securely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ensuring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are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not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accessible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unauthorized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parties.</a:t>
            </a:r>
            <a:endParaRPr sz="1200">
              <a:latin typeface="Cambria Math"/>
              <a:cs typeface="Cambria Math"/>
            </a:endParaRPr>
          </a:p>
          <a:p>
            <a:pPr lvl="1">
              <a:lnSpc>
                <a:spcPct val="100000"/>
              </a:lnSpc>
              <a:spcBef>
                <a:spcPts val="195"/>
              </a:spcBef>
              <a:buFont typeface="Arial MT"/>
              <a:buChar char="•"/>
            </a:pPr>
            <a:endParaRPr sz="1200">
              <a:latin typeface="Cambria Math"/>
              <a:cs typeface="Cambria Math"/>
            </a:endParaRPr>
          </a:p>
          <a:p>
            <a:pPr algn="just" marL="267335" marR="90805" indent="-7620">
              <a:lnSpc>
                <a:spcPct val="102699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reduce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consequences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arising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SSL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issues, </a:t>
            </a:r>
            <a:r>
              <a:rPr dirty="0" sz="1200">
                <a:latin typeface="Cambria Math"/>
                <a:cs typeface="Cambria Math"/>
              </a:rPr>
              <a:t>organizations</a:t>
            </a:r>
            <a:r>
              <a:rPr dirty="0" sz="1200" spc="3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must</a:t>
            </a:r>
            <a:r>
              <a:rPr dirty="0" sz="1200" spc="3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give</a:t>
            </a:r>
            <a:r>
              <a:rPr dirty="0" sz="1200" spc="3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utmost</a:t>
            </a:r>
            <a:r>
              <a:rPr dirty="0" sz="1200" spc="3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priority</a:t>
            </a:r>
            <a:r>
              <a:rPr dirty="0" sz="1200" spc="3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3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establishing</a:t>
            </a:r>
            <a:r>
              <a:rPr dirty="0" sz="1200" spc="3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3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3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SSL/TLS</a:t>
            </a:r>
            <a:r>
              <a:rPr dirty="0" sz="1200" spc="3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configuration, </a:t>
            </a:r>
            <a:r>
              <a:rPr dirty="0" sz="1200">
                <a:latin typeface="Cambria Math"/>
                <a:cs typeface="Cambria Math"/>
              </a:rPr>
              <a:t>conducting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frequent security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assessments 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Adhering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regulations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industry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standards</a:t>
            </a:r>
            <a:r>
              <a:rPr dirty="0" sz="1200">
                <a:latin typeface="Cambria Math"/>
                <a:cs typeface="Cambria Math"/>
              </a:rPr>
              <a:t> is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imperative.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These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actions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pivotal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role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safeguarding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sensitive </a:t>
            </a:r>
            <a:r>
              <a:rPr dirty="0" sz="1200">
                <a:latin typeface="Cambria Math"/>
                <a:cs typeface="Cambria Math"/>
              </a:rPr>
              <a:t>data, upholding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trust, 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safeguarding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 </a:t>
            </a:r>
            <a:r>
              <a:rPr dirty="0" sz="1200" spc="-10">
                <a:latin typeface="Cambria Math"/>
                <a:cs typeface="Cambria Math"/>
              </a:rPr>
              <a:t>organization's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esteemed</a:t>
            </a:r>
            <a:r>
              <a:rPr dirty="0" sz="1200" spc="-10">
                <a:latin typeface="Cambria Math"/>
                <a:cs typeface="Cambria Math"/>
              </a:rPr>
              <a:t> reputation.</a:t>
            </a:r>
            <a:endParaRPr sz="1200">
              <a:latin typeface="Cambria Math"/>
              <a:cs typeface="Cambria Math"/>
            </a:endParaRPr>
          </a:p>
          <a:p>
            <a:pPr marL="238125" marR="1551940" indent="-226060">
              <a:lnSpc>
                <a:spcPct val="211700"/>
              </a:lnSpc>
              <a:spcBef>
                <a:spcPts val="55"/>
              </a:spcBef>
              <a:buAutoNum type="arabicPeriod" startAt="5"/>
              <a:tabLst>
                <a:tab pos="259715" algn="l"/>
              </a:tabLst>
            </a:pPr>
            <a:r>
              <a:rPr dirty="0" sz="1200" spc="-10">
                <a:latin typeface="Cambria Math"/>
                <a:cs typeface="Cambria Math"/>
              </a:rPr>
              <a:t>VULNERABILITY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Information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Exposure</a:t>
            </a:r>
            <a:r>
              <a:rPr dirty="0" sz="1200" spc="-10">
                <a:latin typeface="Cambria Math"/>
                <a:cs typeface="Cambria Math"/>
              </a:rPr>
              <a:t> (HTTP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(Multiple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Issues)) 	SEVERITY: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Info</a:t>
            </a:r>
            <a:endParaRPr sz="1200">
              <a:latin typeface="Cambria Math"/>
              <a:cs typeface="Cambria Math"/>
            </a:endParaRPr>
          </a:p>
          <a:p>
            <a:pPr marL="259715" marR="4488815">
              <a:lnSpc>
                <a:spcPct val="210800"/>
              </a:lnSpc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7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HTTP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information </a:t>
            </a: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80</a:t>
            </a:r>
            <a:r>
              <a:rPr dirty="0" sz="1200" spc="-20">
                <a:latin typeface="Cambria Math"/>
                <a:cs typeface="Cambria Math"/>
              </a:rPr>
              <a:t> /443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67335" marR="15875" indent="-7620">
              <a:lnSpc>
                <a:spcPct val="103299"/>
              </a:lnSpc>
            </a:pPr>
            <a:r>
              <a:rPr dirty="0" sz="1200">
                <a:latin typeface="Cambria Math"/>
                <a:cs typeface="Cambria Math"/>
              </a:rPr>
              <a:t>DESCRIPTION: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product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exposes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sensitive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information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actor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2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explicitly </a:t>
            </a:r>
            <a:r>
              <a:rPr dirty="0" sz="1200">
                <a:latin typeface="Cambria Math"/>
                <a:cs typeface="Cambria Math"/>
              </a:rPr>
              <a:t>authorized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10">
                <a:latin typeface="Cambria Math"/>
                <a:cs typeface="Cambria Math"/>
              </a:rPr>
              <a:t> information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200">
              <a:latin typeface="Cambria Math"/>
              <a:cs typeface="Cambria Math"/>
            </a:endParaRPr>
          </a:p>
          <a:p>
            <a:pPr marL="259715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5355" y="975106"/>
            <a:ext cx="6701155" cy="890587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935990" marR="45720" indent="-228600">
              <a:lnSpc>
                <a:spcPct val="104200"/>
              </a:lnSpc>
              <a:spcBef>
                <a:spcPts val="40"/>
              </a:spcBef>
              <a:buFont typeface="Arial MT"/>
              <a:buChar char="•"/>
              <a:tabLst>
                <a:tab pos="935990" algn="l"/>
              </a:tabLst>
            </a:pPr>
            <a:r>
              <a:rPr dirty="0" sz="1200">
                <a:latin typeface="Cambria Math"/>
                <a:cs typeface="Cambria Math"/>
              </a:rPr>
              <a:t>Minimize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unnecessary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redirects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increase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page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load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times.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301 </a:t>
            </a:r>
            <a:r>
              <a:rPr dirty="0" sz="1200" spc="-10">
                <a:latin typeface="Cambria Math"/>
                <a:cs typeface="Cambria Math"/>
              </a:rPr>
              <a:t>(permanent)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redirects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consistent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content.</a:t>
            </a:r>
            <a:endParaRPr sz="1200">
              <a:latin typeface="Cambria Math"/>
              <a:cs typeface="Cambria Math"/>
            </a:endParaRPr>
          </a:p>
          <a:p>
            <a:pPr marL="935990" marR="27940" indent="-228600">
              <a:lnSpc>
                <a:spcPct val="102499"/>
              </a:lnSpc>
              <a:spcBef>
                <a:spcPts val="105"/>
              </a:spcBef>
              <a:buFont typeface="Arial MT"/>
              <a:buChar char="•"/>
              <a:tabLst>
                <a:tab pos="935990" algn="l"/>
              </a:tabLst>
            </a:pPr>
            <a:r>
              <a:rPr dirty="0" sz="1200">
                <a:latin typeface="Cambria Math"/>
                <a:cs typeface="Cambria Math"/>
              </a:rPr>
              <a:t>Regularly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check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broken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links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(404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errors)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fix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them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find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content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looking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for.</a:t>
            </a:r>
            <a:endParaRPr sz="1200">
              <a:latin typeface="Cambria Math"/>
              <a:cs typeface="Cambria Math"/>
            </a:endParaRPr>
          </a:p>
          <a:p>
            <a:pPr marL="935990" marR="5080" indent="-228600">
              <a:lnSpc>
                <a:spcPct val="104200"/>
              </a:lnSpc>
              <a:spcBef>
                <a:spcPts val="95"/>
              </a:spcBef>
              <a:buFont typeface="Arial MT"/>
              <a:buChar char="•"/>
              <a:tabLst>
                <a:tab pos="935990" algn="l"/>
              </a:tabLst>
            </a:pPr>
            <a:r>
              <a:rPr dirty="0" sz="1200">
                <a:latin typeface="Cambria Math"/>
                <a:cs typeface="Cambria Math"/>
              </a:rPr>
              <a:t>Properly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configure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which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domains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allowed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make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requests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your </a:t>
            </a:r>
            <a:r>
              <a:rPr dirty="0" sz="1200" spc="-10">
                <a:latin typeface="Cambria Math"/>
                <a:cs typeface="Cambria Math"/>
              </a:rPr>
              <a:t>server.</a:t>
            </a:r>
            <a:endParaRPr sz="1200">
              <a:latin typeface="Cambria Math"/>
              <a:cs typeface="Cambria Math"/>
            </a:endParaRPr>
          </a:p>
          <a:p>
            <a:pPr marL="935990" marR="170815" indent="-228600">
              <a:lnSpc>
                <a:spcPct val="103299"/>
              </a:lnSpc>
              <a:spcBef>
                <a:spcPts val="100"/>
              </a:spcBef>
              <a:buFont typeface="Arial MT"/>
              <a:buChar char="•"/>
              <a:tabLst>
                <a:tab pos="935990" algn="l"/>
              </a:tabLst>
            </a:pPr>
            <a:r>
              <a:rPr dirty="0" sz="1200">
                <a:latin typeface="Cambria Math"/>
                <a:cs typeface="Cambria Math"/>
              </a:rPr>
              <a:t>Migrate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your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website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transmission.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5">
                <a:latin typeface="Cambria Math"/>
                <a:cs typeface="Cambria Math"/>
              </a:rPr>
              <a:t> is </a:t>
            </a:r>
            <a:r>
              <a:rPr dirty="0" sz="1200">
                <a:latin typeface="Cambria Math"/>
                <a:cs typeface="Cambria Math"/>
              </a:rPr>
              <a:t>essential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search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engine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ranking.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486409" marR="55244" indent="-7620">
              <a:lnSpc>
                <a:spcPct val="102699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IMPACT:</a:t>
            </a:r>
            <a:r>
              <a:rPr dirty="0" sz="1200" spc="4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14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reduce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repercussions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>
                <a:latin typeface="Cambria Math"/>
                <a:cs typeface="Cambria Math"/>
              </a:rPr>
              <a:t>HTTP</a:t>
            </a:r>
            <a:r>
              <a:rPr dirty="0" sz="1200" spc="120">
                <a:latin typeface="Cambria Math"/>
                <a:cs typeface="Cambria Math"/>
              </a:rPr>
              <a:t>  </a:t>
            </a:r>
            <a:r>
              <a:rPr dirty="0" sz="1200" spc="-10">
                <a:latin typeface="Cambria Math"/>
                <a:cs typeface="Cambria Math"/>
              </a:rPr>
              <a:t>issues, </a:t>
            </a:r>
            <a:r>
              <a:rPr dirty="0" sz="1200">
                <a:latin typeface="Cambria Math"/>
                <a:cs typeface="Cambria Math"/>
              </a:rPr>
              <a:t>organizations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must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place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strong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emphasis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ongoing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monitoring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enhancement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their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services.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Consistent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performance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testing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assessments,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coupled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proactive maintenance,</a:t>
            </a:r>
            <a:r>
              <a:rPr dirty="0" sz="1200">
                <a:latin typeface="Cambria Math"/>
                <a:cs typeface="Cambria Math"/>
              </a:rPr>
              <a:t> are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indispensable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0">
                <a:latin typeface="Cambria Math"/>
                <a:cs typeface="Cambria Math"/>
              </a:rPr>
              <a:t> ensure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seamless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online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presence.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Furthermore, </a:t>
            </a:r>
            <a:r>
              <a:rPr dirty="0" sz="1200">
                <a:latin typeface="Cambria Math"/>
                <a:cs typeface="Cambria Math"/>
              </a:rPr>
              <a:t>offering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timely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helpful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customer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support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transparent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communication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HTTP </a:t>
            </a:r>
            <a:r>
              <a:rPr dirty="0" sz="1200">
                <a:latin typeface="Cambria Math"/>
                <a:cs typeface="Cambria Math"/>
              </a:rPr>
              <a:t>issues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arise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instrumental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mitigating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adverse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satisfaction.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00">
              <a:latin typeface="Cambria Math"/>
              <a:cs typeface="Cambria Math"/>
            </a:endParaRPr>
          </a:p>
          <a:p>
            <a:pPr marL="457200" marR="3110865" indent="-226060">
              <a:lnSpc>
                <a:spcPct val="208300"/>
              </a:lnSpc>
              <a:buAutoNum type="arabicPeriod" startAt="6"/>
              <a:tabLst>
                <a:tab pos="478790" algn="l"/>
              </a:tabLst>
            </a:pPr>
            <a:r>
              <a:rPr dirty="0" sz="1200" spc="-10">
                <a:latin typeface="Cambria Math"/>
                <a:cs typeface="Cambria Math"/>
              </a:rPr>
              <a:t>VULNERABILITY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Identification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Failed 	SEVERITY: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Info</a:t>
            </a:r>
            <a:endParaRPr sz="1200">
              <a:latin typeface="Cambria Math"/>
              <a:cs typeface="Cambria Math"/>
            </a:endParaRPr>
          </a:p>
          <a:p>
            <a:pPr marL="47879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latin typeface="Cambria Math"/>
                <a:cs typeface="Cambria Math"/>
              </a:rPr>
              <a:t>PLUGIN: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TCP/IP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remote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probing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Cambria Math"/>
              <a:cs typeface="Cambria Math"/>
            </a:endParaRPr>
          </a:p>
          <a:p>
            <a:pPr marL="478790">
              <a:lnSpc>
                <a:spcPct val="100000"/>
              </a:lnSpc>
            </a:pPr>
            <a:r>
              <a:rPr dirty="0" sz="1200">
                <a:latin typeface="Cambria Math"/>
                <a:cs typeface="Cambria Math"/>
              </a:rPr>
              <a:t>PORT: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N/A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>
              <a:latin typeface="Cambria Math"/>
              <a:cs typeface="Cambria Math"/>
            </a:endParaRPr>
          </a:p>
          <a:p>
            <a:pPr marL="486409" marR="128270" indent="-7620">
              <a:lnSpc>
                <a:spcPct val="103499"/>
              </a:lnSpc>
              <a:spcBef>
                <a:spcPts val="5"/>
              </a:spcBef>
            </a:pPr>
            <a:r>
              <a:rPr dirty="0" sz="1200" spc="-10">
                <a:latin typeface="Cambria Math"/>
                <a:cs typeface="Cambria Math"/>
              </a:rPr>
              <a:t>DESCRIPTION: </a:t>
            </a:r>
            <a:r>
              <a:rPr dirty="0" sz="1200">
                <a:latin typeface="Cambria Math"/>
                <a:cs typeface="Cambria Math"/>
              </a:rPr>
              <a:t>OS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identification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failed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refers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inability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software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accurately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recognize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operating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running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issue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can </a:t>
            </a:r>
            <a:r>
              <a:rPr dirty="0" sz="1200">
                <a:latin typeface="Cambria Math"/>
                <a:cs typeface="Cambria Math"/>
              </a:rPr>
              <a:t>result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various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factors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misconfigurations,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issues,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compatibility problems.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failure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identify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correctly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lead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vulnerabilities,</a:t>
            </a:r>
            <a:r>
              <a:rPr dirty="0" sz="1200" spc="-10">
                <a:latin typeface="Cambria Math"/>
                <a:cs typeface="Cambria Math"/>
              </a:rPr>
              <a:t> hindered </a:t>
            </a:r>
            <a:r>
              <a:rPr dirty="0" sz="1200">
                <a:latin typeface="Cambria Math"/>
                <a:cs typeface="Cambria Math"/>
              </a:rPr>
              <a:t>software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updates,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potential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operational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disruptions.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Resolving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issue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promptly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is </a:t>
            </a:r>
            <a:r>
              <a:rPr dirty="0" sz="1200">
                <a:latin typeface="Cambria Math"/>
                <a:cs typeface="Cambria Math"/>
              </a:rPr>
              <a:t>crucial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accurate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measures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smooth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functioning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-25">
                <a:latin typeface="Cambria Math"/>
                <a:cs typeface="Cambria Math"/>
              </a:rPr>
              <a:t> or </a:t>
            </a:r>
            <a:r>
              <a:rPr dirty="0" sz="1200" spc="-10">
                <a:latin typeface="Cambria Math"/>
                <a:cs typeface="Cambria Math"/>
              </a:rPr>
              <a:t>network.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Cambria Math"/>
              <a:cs typeface="Cambria Math"/>
            </a:endParaRPr>
          </a:p>
          <a:p>
            <a:pPr marL="478790">
              <a:lnSpc>
                <a:spcPct val="100000"/>
              </a:lnSpc>
            </a:pPr>
            <a:r>
              <a:rPr dirty="0" sz="1200" spc="-10">
                <a:latin typeface="Cambria Math"/>
                <a:cs typeface="Cambria Math"/>
              </a:rPr>
              <a:t>SOLUTION:</a:t>
            </a:r>
            <a:endParaRPr sz="1200">
              <a:latin typeface="Cambria Math"/>
              <a:cs typeface="Cambria Math"/>
            </a:endParaRPr>
          </a:p>
          <a:p>
            <a:pPr lvl="1" marL="935990" marR="45720" indent="-228600">
              <a:lnSpc>
                <a:spcPct val="104400"/>
              </a:lnSpc>
              <a:spcBef>
                <a:spcPts val="80"/>
              </a:spcBef>
              <a:buFont typeface="Arial MT"/>
              <a:buChar char="•"/>
              <a:tabLst>
                <a:tab pos="935990" algn="l"/>
              </a:tabLst>
            </a:pPr>
            <a:r>
              <a:rPr dirty="0" sz="1200">
                <a:latin typeface="Cambria Math"/>
                <a:cs typeface="Cambria Math"/>
              </a:rPr>
              <a:t>Minimize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unnecessary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redirects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increase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page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load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times.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301 </a:t>
            </a:r>
            <a:r>
              <a:rPr dirty="0" sz="1200" spc="-10">
                <a:latin typeface="Cambria Math"/>
                <a:cs typeface="Cambria Math"/>
              </a:rPr>
              <a:t>(permanent)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redirects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consistent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content.</a:t>
            </a:r>
            <a:endParaRPr sz="1200">
              <a:latin typeface="Cambria Math"/>
              <a:cs typeface="Cambria Math"/>
            </a:endParaRPr>
          </a:p>
          <a:p>
            <a:pPr lvl="1" marL="935990" marR="27940" indent="-228600">
              <a:lnSpc>
                <a:spcPct val="103299"/>
              </a:lnSpc>
              <a:spcBef>
                <a:spcPts val="95"/>
              </a:spcBef>
              <a:buFont typeface="Arial MT"/>
              <a:buChar char="•"/>
              <a:tabLst>
                <a:tab pos="935990" algn="l"/>
              </a:tabLst>
            </a:pPr>
            <a:r>
              <a:rPr dirty="0" sz="1200">
                <a:latin typeface="Cambria Math"/>
                <a:cs typeface="Cambria Math"/>
              </a:rPr>
              <a:t>Regularly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check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broken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links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(404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errors)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fix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them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find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content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looking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for.</a:t>
            </a:r>
            <a:endParaRPr sz="1200">
              <a:latin typeface="Cambria Math"/>
              <a:cs typeface="Cambria Math"/>
            </a:endParaRPr>
          </a:p>
          <a:p>
            <a:pPr lvl="1" marL="935990" marR="5080" indent="-228600">
              <a:lnSpc>
                <a:spcPct val="103299"/>
              </a:lnSpc>
              <a:spcBef>
                <a:spcPts val="110"/>
              </a:spcBef>
              <a:buFont typeface="Arial MT"/>
              <a:buChar char="•"/>
              <a:tabLst>
                <a:tab pos="935990" algn="l"/>
              </a:tabLst>
            </a:pPr>
            <a:r>
              <a:rPr dirty="0" sz="1200">
                <a:latin typeface="Cambria Math"/>
                <a:cs typeface="Cambria Math"/>
              </a:rPr>
              <a:t>Properly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configure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which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domains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allowed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make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requests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your </a:t>
            </a:r>
            <a:r>
              <a:rPr dirty="0" sz="1200" spc="-10">
                <a:latin typeface="Cambria Math"/>
                <a:cs typeface="Cambria Math"/>
              </a:rPr>
              <a:t>server.</a:t>
            </a:r>
            <a:endParaRPr sz="1200">
              <a:latin typeface="Cambria Math"/>
              <a:cs typeface="Cambria Math"/>
            </a:endParaRPr>
          </a:p>
          <a:p>
            <a:pPr lvl="1" marL="935990" marR="170815" indent="-228600">
              <a:lnSpc>
                <a:spcPct val="103299"/>
              </a:lnSpc>
              <a:spcBef>
                <a:spcPts val="95"/>
              </a:spcBef>
              <a:buFont typeface="Arial MT"/>
              <a:buChar char="•"/>
              <a:tabLst>
                <a:tab pos="935990" algn="l"/>
              </a:tabLst>
            </a:pPr>
            <a:r>
              <a:rPr dirty="0" sz="1200">
                <a:latin typeface="Cambria Math"/>
                <a:cs typeface="Cambria Math"/>
              </a:rPr>
              <a:t>Migrate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your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website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HTTPS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transmission.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5">
                <a:latin typeface="Cambria Math"/>
                <a:cs typeface="Cambria Math"/>
              </a:rPr>
              <a:t> is </a:t>
            </a:r>
            <a:r>
              <a:rPr dirty="0" sz="1200">
                <a:latin typeface="Cambria Math"/>
                <a:cs typeface="Cambria Math"/>
              </a:rPr>
              <a:t>essential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search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engine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ranking.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Cambria Math"/>
              <a:cs typeface="Cambria Math"/>
            </a:endParaRPr>
          </a:p>
          <a:p>
            <a:pPr marL="12700" marR="160655" indent="466090">
              <a:lnSpc>
                <a:spcPct val="103400"/>
              </a:lnSpc>
            </a:pPr>
            <a:r>
              <a:rPr dirty="0" sz="1200">
                <a:latin typeface="Cambria Math"/>
                <a:cs typeface="Cambria Math"/>
              </a:rPr>
              <a:t>BUSINESS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IMPACT: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may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lead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operational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inefficiencies,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potential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security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vulnerabilities, non-</a:t>
            </a:r>
            <a:r>
              <a:rPr dirty="0" sz="1200">
                <a:latin typeface="Cambria Math"/>
                <a:cs typeface="Cambria Math"/>
              </a:rPr>
              <a:t>compliance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industry</a:t>
            </a:r>
            <a:r>
              <a:rPr dirty="0" sz="1200" spc="-10">
                <a:latin typeface="Cambria Math"/>
                <a:cs typeface="Cambria Math"/>
              </a:rPr>
              <a:t> regulations,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possible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customer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trust.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failures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could </a:t>
            </a:r>
            <a:r>
              <a:rPr dirty="0" sz="1200">
                <a:latin typeface="Cambria Math"/>
                <a:cs typeface="Cambria Math"/>
              </a:rPr>
              <a:t>result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downtime,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compromised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regulatory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penalties,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damage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company's </a:t>
            </a:r>
            <a:r>
              <a:rPr dirty="0" sz="1200">
                <a:latin typeface="Cambria Math"/>
                <a:cs typeface="Cambria Math"/>
              </a:rPr>
              <a:t>reputation,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potentially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leading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financial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losses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decreased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market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competitiveness.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Resolving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0916" y="1801353"/>
            <a:ext cx="6684009" cy="8890"/>
          </a:xfrm>
          <a:custGeom>
            <a:avLst/>
            <a:gdLst/>
            <a:ahLst/>
            <a:cxnLst/>
            <a:rect l="l" t="t" r="r" b="b"/>
            <a:pathLst>
              <a:path w="6684009" h="8889">
                <a:moveTo>
                  <a:pt x="6683883" y="0"/>
                </a:moveTo>
                <a:lnTo>
                  <a:pt x="0" y="0"/>
                </a:lnTo>
                <a:lnTo>
                  <a:pt x="0" y="8778"/>
                </a:lnTo>
                <a:lnTo>
                  <a:pt x="6683883" y="8778"/>
                </a:lnTo>
                <a:lnTo>
                  <a:pt x="66838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35355" y="976630"/>
            <a:ext cx="6184900" cy="421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issue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promptly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crucial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mitigate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maintain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smooth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functioning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organization.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Stage</a:t>
            </a:r>
            <a:r>
              <a:rPr dirty="0" sz="1400" spc="-5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–</a:t>
            </a:r>
            <a:r>
              <a:rPr dirty="0" sz="1400" spc="-45">
                <a:latin typeface="Cambria Math"/>
                <a:cs typeface="Cambria Math"/>
              </a:rPr>
              <a:t> </a:t>
            </a:r>
            <a:r>
              <a:rPr dirty="0" sz="1400" spc="-50"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2308" y="1993043"/>
            <a:ext cx="6737350" cy="801306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10">
                <a:latin typeface="Cambria Math"/>
                <a:cs typeface="Cambria Math"/>
              </a:rPr>
              <a:t>Title:</a:t>
            </a:r>
            <a:endParaRPr sz="1400">
              <a:latin typeface="Cambria Math"/>
              <a:cs typeface="Cambria Math"/>
            </a:endParaRPr>
          </a:p>
          <a:p>
            <a:pPr marL="22860" marR="207010" indent="-6350">
              <a:lnSpc>
                <a:spcPct val="102499"/>
              </a:lnSpc>
              <a:spcBef>
                <a:spcPts val="65"/>
              </a:spcBef>
            </a:pPr>
            <a:r>
              <a:rPr dirty="0" sz="1200">
                <a:latin typeface="Cambria Math"/>
                <a:cs typeface="Cambria Math"/>
              </a:rPr>
              <a:t>Design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context-</a:t>
            </a:r>
            <a:r>
              <a:rPr dirty="0" sz="1200">
                <a:latin typeface="Cambria Math"/>
                <a:cs typeface="Cambria Math"/>
              </a:rPr>
              <a:t>aware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identity,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posture,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location,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and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risk.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" marR="6350" indent="-6350">
              <a:lnSpc>
                <a:spcPct val="102600"/>
              </a:lnSpc>
            </a:pPr>
            <a:r>
              <a:rPr dirty="0" sz="1200" spc="-10">
                <a:latin typeface="Cambria Math"/>
                <a:cs typeface="Cambria Math"/>
              </a:rPr>
              <a:t>Context-</a:t>
            </a:r>
            <a:r>
              <a:rPr dirty="0" sz="1200">
                <a:latin typeface="Cambria Math"/>
                <a:cs typeface="Cambria Math"/>
              </a:rPr>
              <a:t>aware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controls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represent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operational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pinnacle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Zero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architecture,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moving </a:t>
            </a:r>
            <a:r>
              <a:rPr dirty="0" sz="1200">
                <a:latin typeface="Cambria Math"/>
                <a:cs typeface="Cambria Math"/>
              </a:rPr>
              <a:t>beyond static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rules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create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dynamic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adaptive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 perimeter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around every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application.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a </a:t>
            </a:r>
            <a:r>
              <a:rPr dirty="0" sz="1200">
                <a:latin typeface="Cambria Math"/>
                <a:cs typeface="Cambria Math"/>
              </a:rPr>
              <a:t>modern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enterprise,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where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mobile,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devices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diverse,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threats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sophisticated,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granting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solely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username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password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dangerous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oversimplification.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Designing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and </a:t>
            </a:r>
            <a:r>
              <a:rPr dirty="0" sz="1200">
                <a:latin typeface="Cambria Math"/>
                <a:cs typeface="Cambria Math"/>
              </a:rPr>
              <a:t>applying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context-</a:t>
            </a:r>
            <a:r>
              <a:rPr dirty="0" sz="1200">
                <a:latin typeface="Cambria Math"/>
                <a:cs typeface="Cambria Math"/>
              </a:rPr>
              <a:t>aware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controls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means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building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engine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consumes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multiple,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real-</a:t>
            </a:r>
            <a:r>
              <a:rPr dirty="0" sz="1200" spc="-20">
                <a:latin typeface="Cambria Math"/>
                <a:cs typeface="Cambria Math"/>
              </a:rPr>
              <a:t>time </a:t>
            </a:r>
            <a:r>
              <a:rPr dirty="0" sz="1200">
                <a:latin typeface="Cambria Math"/>
                <a:cs typeface="Cambria Math"/>
              </a:rPr>
              <a:t>signals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about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request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renders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intelligent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decision: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allow,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block,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limit,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challenge. This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approach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posture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flat,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always-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gate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responsive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tightens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loosens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specific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moment.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" marR="5715" indent="-6350">
              <a:lnSpc>
                <a:spcPct val="1026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design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begins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deep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integration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between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broker,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Zscaler </a:t>
            </a:r>
            <a:r>
              <a:rPr dirty="0" sz="1200">
                <a:latin typeface="Cambria Math"/>
                <a:cs typeface="Cambria Math"/>
              </a:rPr>
              <a:t>Private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 (ZPA), and the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organization's existing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 identity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infrastructure.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first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and </a:t>
            </a:r>
            <a:r>
              <a:rPr dirty="0" sz="1200">
                <a:latin typeface="Cambria Math"/>
                <a:cs typeface="Cambria Math"/>
              </a:rPr>
              <a:t>most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fundamental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layer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identity.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simply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username,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rich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attributes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pulled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corporate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Identity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Provider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(IdP)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like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Azure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Okta.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Integration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via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SAML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ensures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that </a:t>
            </a:r>
            <a:r>
              <a:rPr dirty="0" sz="1200">
                <a:latin typeface="Cambria Math"/>
                <a:cs typeface="Cambria Math"/>
              </a:rPr>
              <a:t>when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authenticates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through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ZPA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client,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verified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multi-</a:t>
            </a:r>
            <a:r>
              <a:rPr dirty="0" sz="1200">
                <a:latin typeface="Cambria Math"/>
                <a:cs typeface="Cambria Math"/>
              </a:rPr>
              <a:t>factor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authentication (MFA)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IdP.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ZPA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then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ingests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just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user's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name,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but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group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memberships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(e.g.,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"Finance </a:t>
            </a:r>
            <a:r>
              <a:rPr dirty="0" sz="1200">
                <a:latin typeface="Cambria Math"/>
                <a:cs typeface="Cambria Math"/>
              </a:rPr>
              <a:t>– Payroll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Managers," "Engineering</a:t>
            </a:r>
            <a:r>
              <a:rPr dirty="0" sz="1200">
                <a:latin typeface="Cambria Math"/>
                <a:cs typeface="Cambria Math"/>
              </a:rPr>
              <a:t> –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Source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Code</a:t>
            </a:r>
            <a:r>
              <a:rPr dirty="0" sz="1200" spc="-10">
                <a:latin typeface="Cambria Math"/>
                <a:cs typeface="Cambria Math"/>
              </a:rPr>
              <a:t> Contributors"),</a:t>
            </a:r>
            <a:r>
              <a:rPr dirty="0" sz="1200">
                <a:latin typeface="Cambria Math"/>
                <a:cs typeface="Cambria Math"/>
              </a:rPr>
              <a:t> roles, 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department.</a:t>
            </a:r>
            <a:r>
              <a:rPr dirty="0" sz="1200">
                <a:latin typeface="Cambria Math"/>
                <a:cs typeface="Cambria Math"/>
              </a:rPr>
              <a:t> This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allows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for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creation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granular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policies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intrinsically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tied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user's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function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within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organization.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instance,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written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plain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language: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"Allow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members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'Finance-</a:t>
            </a:r>
            <a:r>
              <a:rPr dirty="0" sz="1200">
                <a:latin typeface="Cambria Math"/>
                <a:cs typeface="Cambria Math"/>
              </a:rPr>
              <a:t>Payroll'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group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'ADP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Payroll'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application."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" marR="5080" indent="-6350">
              <a:lnSpc>
                <a:spcPct val="102600"/>
              </a:lnSpc>
            </a:pPr>
            <a:r>
              <a:rPr dirty="0" sz="1200" spc="-10">
                <a:latin typeface="Cambria Math"/>
                <a:cs typeface="Cambria Math"/>
              </a:rPr>
              <a:t>However,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valid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identity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compromised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still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critical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threat.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This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where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second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layer, </a:t>
            </a:r>
            <a:r>
              <a:rPr dirty="0" sz="1200">
                <a:latin typeface="Cambria Math"/>
                <a:cs typeface="Cambria Math"/>
              </a:rPr>
              <a:t>device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posture,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becomes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essential.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design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incorporates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continuous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checks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health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of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endpoint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attempting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connection.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Through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integrations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Endpoint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Detection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Response </a:t>
            </a:r>
            <a:r>
              <a:rPr dirty="0" sz="1200">
                <a:latin typeface="Cambria Math"/>
                <a:cs typeface="Cambria Math"/>
              </a:rPr>
              <a:t>(EDR)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tools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like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CrowdStrike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SentinelOne,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Mobile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Management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(MDM)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solutions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like </a:t>
            </a:r>
            <a:r>
              <a:rPr dirty="0" sz="1200">
                <a:latin typeface="Cambria Math"/>
                <a:cs typeface="Cambria Math"/>
              </a:rPr>
              <a:t>JAMF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Intune,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ZPA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assess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device's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real-</a:t>
            </a:r>
            <a:r>
              <a:rPr dirty="0" sz="1200">
                <a:latin typeface="Cambria Math"/>
                <a:cs typeface="Cambria Math"/>
              </a:rPr>
              <a:t>time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hygiene.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engine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evaluates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factors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as: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device's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disk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encryption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(BitLocker/FileVault)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enabled?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antivirus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software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active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its </a:t>
            </a:r>
            <a:r>
              <a:rPr dirty="0" sz="1200">
                <a:latin typeface="Cambria Math"/>
                <a:cs typeface="Cambria Math"/>
              </a:rPr>
              <a:t>definition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database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up-to-</a:t>
            </a:r>
            <a:r>
              <a:rPr dirty="0" sz="1200">
                <a:latin typeface="Cambria Math"/>
                <a:cs typeface="Cambria Math"/>
              </a:rPr>
              <a:t>date?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Has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operating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been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patched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latest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baseline?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rooted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jailbroken?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there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high-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score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being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reported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EDR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tool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due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suspicious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activity?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If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fails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checks—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example,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user's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laptop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firewall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disabled—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context-</a:t>
            </a:r>
            <a:r>
              <a:rPr dirty="0" sz="1200">
                <a:latin typeface="Cambria Math"/>
                <a:cs typeface="Cambria Math"/>
              </a:rPr>
              <a:t>aware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automatically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trigger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action.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might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block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entirely,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might </a:t>
            </a:r>
            <a:r>
              <a:rPr dirty="0" sz="1200">
                <a:latin typeface="Cambria Math"/>
                <a:cs typeface="Cambria Math"/>
              </a:rPr>
              <a:t>grant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"remediation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access,"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routing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captive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portal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download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updates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contact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IT,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while </a:t>
            </a:r>
            <a:r>
              <a:rPr dirty="0" sz="1200">
                <a:latin typeface="Cambria Math"/>
                <a:cs typeface="Cambria Math"/>
              </a:rPr>
              <a:t>preventing</a:t>
            </a:r>
            <a:r>
              <a:rPr dirty="0" sz="1200" spc="2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them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reaching</a:t>
            </a:r>
            <a:r>
              <a:rPr dirty="0" sz="1200" spc="2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any</a:t>
            </a:r>
            <a:r>
              <a:rPr dirty="0" sz="1200" spc="2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business-</a:t>
            </a:r>
            <a:r>
              <a:rPr dirty="0" sz="1200">
                <a:latin typeface="Cambria Math"/>
                <a:cs typeface="Cambria Math"/>
              </a:rPr>
              <a:t>critical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applications.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ensures</a:t>
            </a:r>
            <a:r>
              <a:rPr dirty="0" sz="1200" spc="2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8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vulnerable </a:t>
            </a:r>
            <a:r>
              <a:rPr dirty="0" sz="1200">
                <a:latin typeface="Cambria Math"/>
                <a:cs typeface="Cambria Math"/>
              </a:rPr>
              <a:t>endpoint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cannot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become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beachhead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laterally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corporate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environment.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2860" marR="8890" indent="-6350">
              <a:lnSpc>
                <a:spcPct val="1028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third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contextual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layer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location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environment.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physical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virtual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location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from </a:t>
            </a:r>
            <a:r>
              <a:rPr dirty="0" sz="1200">
                <a:latin typeface="Cambria Math"/>
                <a:cs typeface="Cambria Math"/>
              </a:rPr>
              <a:t>which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connects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provides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powerful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signal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assessment.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finance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director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accessing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payroll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system from their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home office in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same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city is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 </a:t>
            </a:r>
            <a:r>
              <a:rPr dirty="0" sz="1200" spc="-10">
                <a:latin typeface="Cambria Math"/>
                <a:cs typeface="Cambria Math"/>
              </a:rPr>
              <a:t>low-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event.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same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attempting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connect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country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high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prevalence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cybercrime,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anonymizing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VPN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service,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212" y="976630"/>
            <a:ext cx="6740525" cy="891667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29209" marR="5080">
              <a:lnSpc>
                <a:spcPct val="102499"/>
              </a:lnSpc>
              <a:spcBef>
                <a:spcPts val="60"/>
              </a:spcBef>
            </a:pPr>
            <a:r>
              <a:rPr dirty="0" sz="1200">
                <a:latin typeface="Cambria Math"/>
                <a:cs typeface="Cambria Math"/>
              </a:rPr>
              <a:t>should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treated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extreme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suspicion.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Context-</a:t>
            </a:r>
            <a:r>
              <a:rPr dirty="0" sz="1200">
                <a:latin typeface="Cambria Math"/>
                <a:cs typeface="Cambria Math"/>
              </a:rPr>
              <a:t>aware policies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designed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enforce this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logic.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example,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source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code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repository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containing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intellectual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property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could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restricted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users connecting from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corporate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office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 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pre-</a:t>
            </a:r>
            <a:r>
              <a:rPr dirty="0" sz="1200">
                <a:latin typeface="Cambria Math"/>
                <a:cs typeface="Cambria Math"/>
              </a:rPr>
              <a:t>approved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home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IP address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range.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If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legitimate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user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traveling,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might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allow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but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require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step-up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authentication,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such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hardware </a:t>
            </a:r>
            <a:r>
              <a:rPr dirty="0" sz="1200">
                <a:latin typeface="Cambria Math"/>
                <a:cs typeface="Cambria Math"/>
              </a:rPr>
              <a:t>token,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grant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only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read-</a:t>
            </a:r>
            <a:r>
              <a:rPr dirty="0" sz="1200">
                <a:latin typeface="Cambria Math"/>
                <a:cs typeface="Cambria Math"/>
              </a:rPr>
              <a:t>only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permissions.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layer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also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consider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network </a:t>
            </a:r>
            <a:r>
              <a:rPr dirty="0" sz="1200">
                <a:latin typeface="Cambria Math"/>
                <a:cs typeface="Cambria Math"/>
              </a:rPr>
              <a:t>itself;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connection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public,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unencrypted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Wi-Fi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hotspot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might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trigger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stricter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controls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than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one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known,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corporate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network.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9209" marR="5080" indent="-6350">
              <a:lnSpc>
                <a:spcPct val="102699"/>
              </a:lnSpc>
            </a:pPr>
            <a:r>
              <a:rPr dirty="0" sz="1200" spc="-10">
                <a:latin typeface="Cambria Math"/>
                <a:cs typeface="Cambria Math"/>
              </a:rPr>
              <a:t>The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final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and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often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most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strate</a:t>
            </a:r>
            <a:r>
              <a:rPr dirty="0" sz="1200" spc="-5">
                <a:latin typeface="Cambria Math"/>
                <a:cs typeface="Cambria Math"/>
              </a:rPr>
              <a:t>g</a:t>
            </a:r>
            <a:r>
              <a:rPr dirty="0" sz="1200">
                <a:latin typeface="Cambria Math"/>
                <a:cs typeface="Cambria Math"/>
              </a:rPr>
              <a:t>ic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layer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is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risk.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No</a:t>
            </a:r>
            <a:r>
              <a:rPr dirty="0" sz="1200">
                <a:latin typeface="Cambria Math"/>
                <a:cs typeface="Cambria Math"/>
              </a:rPr>
              <a:t>t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al</a:t>
            </a:r>
            <a:r>
              <a:rPr dirty="0" sz="1200">
                <a:latin typeface="Cambria Math"/>
                <a:cs typeface="Cambria Math"/>
              </a:rPr>
              <a:t>l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applications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are</a:t>
            </a:r>
            <a:r>
              <a:rPr dirty="0" sz="1200" spc="9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created</a:t>
            </a:r>
            <a:r>
              <a:rPr dirty="0" sz="1200" spc="8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equal,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and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their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policies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should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reflect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their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value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and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sensitivity.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design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phase,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applications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are</a:t>
            </a:r>
            <a:r>
              <a:rPr dirty="0" sz="1200" spc="-5">
                <a:latin typeface="Cambria Math"/>
                <a:cs typeface="Cambria Math"/>
              </a:rPr>
              <a:t> categorized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tagged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based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on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their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risk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profile.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internal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wiki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for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cafeteria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menus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would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classified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low-</a:t>
            </a:r>
            <a:r>
              <a:rPr dirty="0" sz="1200" spc="-5">
                <a:latin typeface="Cambria Math"/>
                <a:cs typeface="Cambria Math"/>
              </a:rPr>
              <a:t>risk,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whereas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cu</a:t>
            </a:r>
            <a:r>
              <a:rPr dirty="0" sz="1200">
                <a:latin typeface="Cambria Math"/>
                <a:cs typeface="Cambria Math"/>
              </a:rPr>
              <a:t>stomer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database,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financial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trading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platform,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source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code repository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would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classified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high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or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critical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risk.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This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tagging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allows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policies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layered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and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dynamic.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single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might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have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multiple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applications,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but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</a:t>
            </a:r>
            <a:r>
              <a:rPr dirty="0" sz="1200" spc="-5">
                <a:latin typeface="Cambria Math"/>
                <a:cs typeface="Cambria Math"/>
              </a:rPr>
              <a:t>o</a:t>
            </a:r>
            <a:r>
              <a:rPr dirty="0" sz="1200">
                <a:latin typeface="Cambria Math"/>
                <a:cs typeface="Cambria Math"/>
              </a:rPr>
              <a:t>ls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applied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each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session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will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differ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based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on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application's</a:t>
            </a:r>
            <a:r>
              <a:rPr dirty="0" sz="1200" spc="1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risk.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For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low-</a:t>
            </a:r>
            <a:r>
              <a:rPr dirty="0" sz="1200" spc="-5">
                <a:latin typeface="Cambria Math"/>
                <a:cs typeface="Cambria Math"/>
              </a:rPr>
              <a:t>risk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wiki,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valid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identity</a:t>
            </a:r>
            <a:r>
              <a:rPr dirty="0" sz="1200" spc="16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and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</a:t>
            </a:r>
            <a:r>
              <a:rPr dirty="0" sz="1200" spc="-5">
                <a:latin typeface="Cambria Math"/>
                <a:cs typeface="Cambria Math"/>
              </a:rPr>
              <a:t> compliant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</a:t>
            </a:r>
            <a:r>
              <a:rPr dirty="0" sz="1200">
                <a:latin typeface="Cambria Math"/>
                <a:cs typeface="Cambria Math"/>
              </a:rPr>
              <a:t>evice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might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sufficient.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However,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for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high-</a:t>
            </a:r>
            <a:r>
              <a:rPr dirty="0" sz="1200" spc="-5">
                <a:latin typeface="Cambria Math"/>
                <a:cs typeface="Cambria Math"/>
              </a:rPr>
              <a:t>risk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financial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platform,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engine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might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require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al</a:t>
            </a:r>
            <a:r>
              <a:rPr dirty="0" sz="1200">
                <a:latin typeface="Cambria Math"/>
                <a:cs typeface="Cambria Math"/>
              </a:rPr>
              <a:t>l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four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layers</a:t>
            </a:r>
            <a:r>
              <a:rPr dirty="0" sz="1200" spc="-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align: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user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must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specific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group,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5">
                <a:latin typeface="Cambria Math"/>
                <a:cs typeface="Cambria Math"/>
              </a:rPr>
              <a:t>on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f</a:t>
            </a:r>
            <a:r>
              <a:rPr dirty="0" sz="1200" spc="-10">
                <a:latin typeface="Cambria Math"/>
                <a:cs typeface="Cambria Math"/>
              </a:rPr>
              <a:t>u</a:t>
            </a:r>
            <a:r>
              <a:rPr dirty="0" sz="1200">
                <a:latin typeface="Cambria Math"/>
                <a:cs typeface="Cambria Math"/>
              </a:rPr>
              <a:t>lly</a:t>
            </a:r>
            <a:r>
              <a:rPr dirty="0" sz="1200" spc="-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</a:t>
            </a:r>
            <a:r>
              <a:rPr dirty="0" sz="1200" spc="-5">
                <a:latin typeface="Cambria Math"/>
                <a:cs typeface="Cambria Math"/>
              </a:rPr>
              <a:t>a</a:t>
            </a:r>
            <a:r>
              <a:rPr dirty="0" sz="1200">
                <a:latin typeface="Cambria Math"/>
                <a:cs typeface="Cambria Math"/>
              </a:rPr>
              <a:t>tc</a:t>
            </a:r>
            <a:r>
              <a:rPr dirty="0" sz="1200" spc="-5">
                <a:latin typeface="Cambria Math"/>
                <a:cs typeface="Cambria Math"/>
              </a:rPr>
              <a:t>h</a:t>
            </a:r>
            <a:r>
              <a:rPr dirty="0" sz="1200">
                <a:latin typeface="Cambria Math"/>
                <a:cs typeface="Cambria Math"/>
              </a:rPr>
              <a:t>ed</a:t>
            </a:r>
            <a:r>
              <a:rPr dirty="0" sz="1200" spc="-6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and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managed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device,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connecting </a:t>
            </a:r>
            <a:r>
              <a:rPr dirty="0" sz="1200" spc="-10">
                <a:latin typeface="Cambria Math"/>
                <a:cs typeface="Cambria Math"/>
              </a:rPr>
              <a:t>from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tr</a:t>
            </a:r>
            <a:r>
              <a:rPr dirty="0" sz="1200" spc="-10">
                <a:latin typeface="Cambria Math"/>
                <a:cs typeface="Cambria Math"/>
              </a:rPr>
              <a:t>u</a:t>
            </a:r>
            <a:r>
              <a:rPr dirty="0" sz="1200">
                <a:latin typeface="Cambria Math"/>
                <a:cs typeface="Cambria Math"/>
              </a:rPr>
              <a:t>sted</a:t>
            </a:r>
            <a:r>
              <a:rPr dirty="0" sz="1200" spc="-5">
                <a:latin typeface="Cambria Math"/>
                <a:cs typeface="Cambria Math"/>
              </a:rPr>
              <a:t> location,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and </a:t>
            </a:r>
            <a:r>
              <a:rPr dirty="0" sz="1200">
                <a:latin typeface="Cambria Math"/>
                <a:cs typeface="Cambria Math"/>
              </a:rPr>
              <a:t>may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even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subject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session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recording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</a:t>
            </a:r>
            <a:r>
              <a:rPr dirty="0" sz="1200" spc="-5">
                <a:latin typeface="Cambria Math"/>
                <a:cs typeface="Cambria Math"/>
              </a:rPr>
              <a:t> time-</a:t>
            </a:r>
            <a:r>
              <a:rPr dirty="0" sz="1200" spc="-10">
                <a:latin typeface="Cambria Math"/>
                <a:cs typeface="Cambria Math"/>
              </a:rPr>
              <a:t>of-d</a:t>
            </a:r>
            <a:r>
              <a:rPr dirty="0" sz="1200">
                <a:latin typeface="Cambria Math"/>
                <a:cs typeface="Cambria Math"/>
              </a:rPr>
              <a:t>ay </a:t>
            </a:r>
            <a:r>
              <a:rPr dirty="0" sz="1200" spc="-10">
                <a:latin typeface="Cambria Math"/>
                <a:cs typeface="Cambria Math"/>
              </a:rPr>
              <a:t>restrictions.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This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ensures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tha</a:t>
            </a:r>
            <a:r>
              <a:rPr dirty="0" sz="1200">
                <a:latin typeface="Cambria Math"/>
                <a:cs typeface="Cambria Math"/>
              </a:rPr>
              <a:t>t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</a:t>
            </a:r>
            <a:r>
              <a:rPr dirty="0" sz="1200" spc="-10">
                <a:latin typeface="Cambria Math"/>
                <a:cs typeface="Cambria Math"/>
              </a:rPr>
              <a:t>r</a:t>
            </a:r>
            <a:r>
              <a:rPr dirty="0" sz="1200" spc="-5">
                <a:latin typeface="Cambria Math"/>
                <a:cs typeface="Cambria Math"/>
              </a:rPr>
              <a:t>i</a:t>
            </a:r>
            <a:r>
              <a:rPr dirty="0" sz="1200">
                <a:latin typeface="Cambria Math"/>
                <a:cs typeface="Cambria Math"/>
              </a:rPr>
              <a:t>ty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resources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and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scrutiny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are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applied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proportionally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the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actual risk,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preventing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"blanket"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and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ensuring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tha</a:t>
            </a:r>
            <a:r>
              <a:rPr dirty="0" sz="1200">
                <a:latin typeface="Cambria Math"/>
                <a:cs typeface="Cambria Math"/>
              </a:rPr>
              <a:t>t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most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valuable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assets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have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most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robust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defenses.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29209" marR="5080" indent="-6350">
              <a:lnSpc>
                <a:spcPct val="1026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practice,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applying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controls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within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ZPA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means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using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builder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create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conditional </a:t>
            </a:r>
            <a:r>
              <a:rPr dirty="0" sz="1200">
                <a:latin typeface="Cambria Math"/>
                <a:cs typeface="Cambria Math"/>
              </a:rPr>
              <a:t>statements.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might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read: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"Allow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'Application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A'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if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'Group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X'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Device </a:t>
            </a:r>
            <a:r>
              <a:rPr dirty="0" sz="1200">
                <a:latin typeface="Cambria Math"/>
                <a:cs typeface="Cambria Math"/>
              </a:rPr>
              <a:t>Posture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'Compliant'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Location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'Not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Restricted'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'Low'." Alternatively,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 spc="-50">
                <a:latin typeface="Cambria Math"/>
                <a:cs typeface="Cambria Math"/>
              </a:rPr>
              <a:t>a </a:t>
            </a:r>
            <a:r>
              <a:rPr dirty="0" sz="1200">
                <a:latin typeface="Cambria Math"/>
                <a:cs typeface="Cambria Math"/>
              </a:rPr>
              <a:t>more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complex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policy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critical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might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be:</a:t>
            </a:r>
            <a:r>
              <a:rPr dirty="0" sz="1200" spc="1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"Allow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1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'Application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B'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if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in </a:t>
            </a:r>
            <a:r>
              <a:rPr dirty="0" sz="1200">
                <a:latin typeface="Cambria Math"/>
                <a:cs typeface="Cambria Math"/>
              </a:rPr>
              <a:t>'Group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Y'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Posture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'Highly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Secure'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Location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'Corporate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Network'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Time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is </a:t>
            </a:r>
            <a:r>
              <a:rPr dirty="0" sz="1200">
                <a:latin typeface="Cambria Math"/>
                <a:cs typeface="Cambria Math"/>
              </a:rPr>
              <a:t>'Business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Hours',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otherwise,</a:t>
            </a:r>
            <a:r>
              <a:rPr dirty="0" sz="1200" spc="1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if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Location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'Remote',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require</a:t>
            </a:r>
            <a:r>
              <a:rPr dirty="0" sz="1200" spc="1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Step-Up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Authentication."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combining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signals,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organization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creates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posture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finely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tuned,</a:t>
            </a:r>
            <a:r>
              <a:rPr dirty="0" sz="1200" spc="20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highly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resilient,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and </a:t>
            </a:r>
            <a:r>
              <a:rPr dirty="0" sz="1200">
                <a:latin typeface="Cambria Math"/>
                <a:cs typeface="Cambria Math"/>
              </a:rPr>
              <a:t>fundamentally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adaptive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context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every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single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attempt,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thereby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upholding</a:t>
            </a:r>
            <a:r>
              <a:rPr dirty="0" sz="1200" spc="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core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Zero </a:t>
            </a:r>
            <a:r>
              <a:rPr dirty="0" sz="1200">
                <a:latin typeface="Cambria Math"/>
                <a:cs typeface="Cambria Math"/>
              </a:rPr>
              <a:t>Trust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principle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"never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trust,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always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verify."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300" spc="-10">
                <a:latin typeface="Cambria Math"/>
                <a:cs typeface="Cambria Math"/>
              </a:rPr>
              <a:t>Conclusion:</a:t>
            </a:r>
            <a:endParaRPr sz="1300">
              <a:latin typeface="Cambria Math"/>
              <a:cs typeface="Cambria Math"/>
            </a:endParaRPr>
          </a:p>
          <a:p>
            <a:pPr marL="36830" marR="99695" indent="-6350">
              <a:lnSpc>
                <a:spcPct val="103299"/>
              </a:lnSpc>
              <a:spcBef>
                <a:spcPts val="1495"/>
              </a:spcBef>
            </a:pPr>
            <a:r>
              <a:rPr dirty="0" sz="1200">
                <a:latin typeface="Cambria Math"/>
                <a:cs typeface="Cambria Math"/>
              </a:rPr>
              <a:t>Stage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1: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conclusion,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crucial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process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security, </a:t>
            </a:r>
            <a:r>
              <a:rPr dirty="0" sz="1200">
                <a:latin typeface="Cambria Math"/>
                <a:cs typeface="Cambria Math"/>
              </a:rPr>
              <a:t>functionality,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reliability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web-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software.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involves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comprehensive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evaluation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various </a:t>
            </a:r>
            <a:r>
              <a:rPr dirty="0" sz="1200">
                <a:latin typeface="Cambria Math"/>
                <a:cs typeface="Cambria Math"/>
              </a:rPr>
              <a:t>aspects,</a:t>
            </a:r>
            <a:r>
              <a:rPr dirty="0" sz="1200" spc="-10">
                <a:latin typeface="Cambria Math"/>
                <a:cs typeface="Cambria Math"/>
              </a:rPr>
              <a:t> including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10">
                <a:latin typeface="Cambria Math"/>
                <a:cs typeface="Cambria Math"/>
              </a:rPr>
              <a:t> interface,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functionality,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performance,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identify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rectify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issues </a:t>
            </a:r>
            <a:r>
              <a:rPr dirty="0" sz="1200">
                <a:latin typeface="Cambria Math"/>
                <a:cs typeface="Cambria Math"/>
              </a:rPr>
              <a:t>before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end-</a:t>
            </a:r>
            <a:r>
              <a:rPr dirty="0" sz="1200">
                <a:latin typeface="Cambria Math"/>
                <a:cs typeface="Cambria Math"/>
              </a:rPr>
              <a:t>users.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process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enhances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quality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also </a:t>
            </a:r>
            <a:r>
              <a:rPr dirty="0" sz="1200">
                <a:latin typeface="Cambria Math"/>
                <a:cs typeface="Cambria Math"/>
              </a:rPr>
              <a:t>bolsters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their</a:t>
            </a:r>
            <a:r>
              <a:rPr dirty="0" sz="1200" spc="-10">
                <a:latin typeface="Cambria Math"/>
                <a:cs typeface="Cambria Math"/>
              </a:rPr>
              <a:t> resilience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against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potential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threats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vulnerabilities.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age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where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online</a:t>
            </a:r>
            <a:r>
              <a:rPr dirty="0" sz="1200" spc="-10">
                <a:latin typeface="Cambria Math"/>
                <a:cs typeface="Cambria Math"/>
              </a:rPr>
              <a:t> services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integral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our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daily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lives,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effective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essential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deliver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seamless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-10">
                <a:latin typeface="Cambria Math"/>
                <a:cs typeface="Cambria Math"/>
              </a:rPr>
              <a:t> experience.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Cambria Math"/>
              <a:cs typeface="Cambria Math"/>
            </a:endParaRPr>
          </a:p>
          <a:p>
            <a:pPr marL="36830" marR="229235" indent="-6350">
              <a:lnSpc>
                <a:spcPct val="1034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Stage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2: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Nessus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report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specific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website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highlighted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key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insights.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identified vulnerabilities,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categorized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severity,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focus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critical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high-</a:t>
            </a:r>
            <a:r>
              <a:rPr dirty="0" sz="1200">
                <a:latin typeface="Cambria Math"/>
                <a:cs typeface="Cambria Math"/>
              </a:rPr>
              <a:t>risk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issues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need </a:t>
            </a:r>
            <a:r>
              <a:rPr dirty="0" sz="1200">
                <a:latin typeface="Cambria Math"/>
                <a:cs typeface="Cambria Math"/>
              </a:rPr>
              <a:t>immediate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attention.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Recommendations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addressing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vulnerabilities </a:t>
            </a:r>
            <a:r>
              <a:rPr dirty="0" sz="1200">
                <a:latin typeface="Cambria Math"/>
                <a:cs typeface="Cambria Math"/>
              </a:rPr>
              <a:t>include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patching, reconfiguration,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other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measures,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priority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actions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have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most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0595" y="976630"/>
            <a:ext cx="6489065" cy="11531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dirty="0" sz="1200" spc="-10">
                <a:latin typeface="Cambria Math"/>
                <a:cs typeface="Cambria Math"/>
              </a:rPr>
              <a:t>significant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impact.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Compliance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industry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standards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best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practices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considered,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ensuring alignment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recognized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benchmarks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like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OWASP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guidelines.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report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underscores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need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continuous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monitoring,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regular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updates,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ongoing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efforts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maintain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strong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posture.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summary,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Nessus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report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offers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clear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view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website's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state, </a:t>
            </a:r>
            <a:r>
              <a:rPr dirty="0" sz="1200">
                <a:latin typeface="Cambria Math"/>
                <a:cs typeface="Cambria Math"/>
              </a:rPr>
              <a:t>provides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guidance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mitigating</a:t>
            </a:r>
            <a:r>
              <a:rPr dirty="0" sz="1200" spc="-10">
                <a:latin typeface="Cambria Math"/>
                <a:cs typeface="Cambria Math"/>
              </a:rPr>
              <a:t> vulnerabilities,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stresses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importance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sustained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vigilance </a:t>
            </a:r>
            <a:r>
              <a:rPr dirty="0" sz="1200">
                <a:latin typeface="Cambria Math"/>
                <a:cs typeface="Cambria Math"/>
              </a:rPr>
              <a:t>against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evolving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threats.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26212" y="3947286"/>
            <a:ext cx="6707505" cy="584200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244"/>
              </a:spcBef>
            </a:pPr>
            <a:r>
              <a:rPr dirty="0" sz="1200">
                <a:latin typeface="Cambria Math"/>
                <a:cs typeface="Cambria Math"/>
              </a:rPr>
              <a:t>Stage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3:</a:t>
            </a:r>
            <a:endParaRPr sz="1200">
              <a:latin typeface="Cambria Math"/>
              <a:cs typeface="Cambria Math"/>
            </a:endParaRPr>
          </a:p>
          <a:p>
            <a:pPr marL="247015" marR="38735" indent="-6350">
              <a:lnSpc>
                <a:spcPct val="103499"/>
              </a:lnSpc>
              <a:spcBef>
                <a:spcPts val="90"/>
              </a:spcBef>
            </a:pP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implementation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Zscaler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Private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marks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pivotal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shift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vulnerable, networkcentric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model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 a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resilient, </a:t>
            </a:r>
            <a:r>
              <a:rPr dirty="0" sz="1200" spc="-10">
                <a:latin typeface="Cambria Math"/>
                <a:cs typeface="Cambria Math"/>
              </a:rPr>
              <a:t>identity-</a:t>
            </a:r>
            <a:r>
              <a:rPr dirty="0" sz="1200">
                <a:latin typeface="Cambria Math"/>
                <a:cs typeface="Cambria Math"/>
              </a:rPr>
              <a:t>centric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Zero Trust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architecture.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-10">
                <a:latin typeface="Cambria Math"/>
                <a:cs typeface="Cambria Math"/>
              </a:rPr>
              <a:t> enforcing leastprivilege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rendering </a:t>
            </a:r>
            <a:r>
              <a:rPr dirty="0" sz="1200">
                <a:latin typeface="Cambria Math"/>
                <a:cs typeface="Cambria Math"/>
              </a:rPr>
              <a:t>private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invisible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internet,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project </a:t>
            </a:r>
            <a:r>
              <a:rPr dirty="0" sz="1200">
                <a:latin typeface="Cambria Math"/>
                <a:cs typeface="Cambria Math"/>
              </a:rPr>
              <a:t>effectively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neutralizes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threats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lateral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movement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network-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attacks.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solution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not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only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fortifies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organization's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posture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against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modern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cyber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threats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also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delivers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seamless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high-performance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experience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distributed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workforce.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Furthermore,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 spc="-10">
                <a:latin typeface="Cambria Math"/>
                <a:cs typeface="Cambria Math"/>
              </a:rPr>
              <a:t>decoupling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simplifies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operations,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reduces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dependency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legacy</a:t>
            </a:r>
            <a:r>
              <a:rPr dirty="0" sz="1200" spc="5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VPN </a:t>
            </a:r>
            <a:r>
              <a:rPr dirty="0" sz="1200" spc="-10">
                <a:latin typeface="Cambria Math"/>
                <a:cs typeface="Cambria Math"/>
              </a:rPr>
              <a:t>infrastructure,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 provides </a:t>
            </a:r>
            <a:r>
              <a:rPr dirty="0" sz="1200" spc="-10">
                <a:latin typeface="Cambria Math"/>
                <a:cs typeface="Cambria Math"/>
              </a:rPr>
              <a:t>granular</a:t>
            </a:r>
            <a:r>
              <a:rPr dirty="0" sz="1200">
                <a:latin typeface="Cambria Math"/>
                <a:cs typeface="Cambria Math"/>
              </a:rPr>
              <a:t> visibility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into </a:t>
            </a:r>
            <a:r>
              <a:rPr dirty="0" sz="1200" spc="-10">
                <a:latin typeface="Cambria Math"/>
                <a:cs typeface="Cambria Math"/>
              </a:rPr>
              <a:t>user-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interactions.</a:t>
            </a:r>
            <a:r>
              <a:rPr dirty="0" sz="120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Ultimately,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initiative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establishes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future-</a:t>
            </a:r>
            <a:r>
              <a:rPr dirty="0" sz="1200">
                <a:latin typeface="Cambria Math"/>
                <a:cs typeface="Cambria Math"/>
              </a:rPr>
              <a:t>ready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foundation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digital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transformation..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latin typeface="Cambria Math"/>
                <a:cs typeface="Cambria Math"/>
              </a:rPr>
              <a:t>Future</a:t>
            </a:r>
            <a:r>
              <a:rPr dirty="0" sz="1300" spc="-70">
                <a:latin typeface="Cambria Math"/>
                <a:cs typeface="Cambria Math"/>
              </a:rPr>
              <a:t> </a:t>
            </a:r>
            <a:r>
              <a:rPr dirty="0" sz="1300" spc="-10">
                <a:latin typeface="Cambria Math"/>
                <a:cs typeface="Cambria Math"/>
              </a:rPr>
              <a:t>Scope:</a:t>
            </a:r>
            <a:endParaRPr sz="1300">
              <a:latin typeface="Cambria Math"/>
              <a:cs typeface="Cambria Math"/>
            </a:endParaRPr>
          </a:p>
          <a:p>
            <a:pPr marL="30480">
              <a:lnSpc>
                <a:spcPct val="100000"/>
              </a:lnSpc>
              <a:spcBef>
                <a:spcPts val="85"/>
              </a:spcBef>
            </a:pPr>
            <a:r>
              <a:rPr dirty="0" sz="1200">
                <a:latin typeface="Cambria Math"/>
                <a:cs typeface="Cambria Math"/>
              </a:rPr>
              <a:t>Stage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1: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future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scope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testing</a:t>
            </a:r>
            <a:endParaRPr sz="1200">
              <a:latin typeface="Cambria Math"/>
              <a:cs typeface="Cambria Math"/>
            </a:endParaRPr>
          </a:p>
          <a:p>
            <a:pPr marL="36830" marR="5080" indent="-6350">
              <a:lnSpc>
                <a:spcPct val="104200"/>
              </a:lnSpc>
              <a:spcBef>
                <a:spcPts val="85"/>
              </a:spcBef>
            </a:pP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future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scope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promising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evolving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rapidly,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driven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continuous </a:t>
            </a:r>
            <a:r>
              <a:rPr dirty="0" sz="1200">
                <a:latin typeface="Cambria Math"/>
                <a:cs typeface="Cambria Math"/>
              </a:rPr>
              <a:t>growth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internet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web-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200">
              <a:latin typeface="Cambria Math"/>
              <a:cs typeface="Cambria Math"/>
            </a:endParaRPr>
          </a:p>
          <a:p>
            <a:pPr marL="304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Here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some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key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aspects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its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future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scope: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471170" marR="80645" indent="-230504">
              <a:lnSpc>
                <a:spcPct val="103299"/>
              </a:lnSpc>
              <a:buFont typeface="Wingdings"/>
              <a:buChar char=""/>
              <a:tabLst>
                <a:tab pos="471170" algn="l"/>
              </a:tabLst>
            </a:pPr>
            <a:r>
              <a:rPr dirty="0" sz="1200">
                <a:latin typeface="Cambria Math"/>
                <a:cs typeface="Cambria Math"/>
              </a:rPr>
              <a:t>Increased</a:t>
            </a:r>
            <a:r>
              <a:rPr dirty="0" sz="1200" spc="3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Demand:</a:t>
            </a:r>
            <a:r>
              <a:rPr dirty="0" sz="1200" spc="3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3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more</a:t>
            </a:r>
            <a:r>
              <a:rPr dirty="0" sz="1200" spc="3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businesses</a:t>
            </a:r>
            <a:r>
              <a:rPr dirty="0" sz="1200" spc="3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3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services</a:t>
            </a:r>
            <a:r>
              <a:rPr dirty="0" sz="1200" spc="3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move</a:t>
            </a:r>
            <a:r>
              <a:rPr dirty="0" sz="1200" spc="3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online,</a:t>
            </a:r>
            <a:r>
              <a:rPr dirty="0" sz="1200" spc="3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3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demand</a:t>
            </a:r>
            <a:r>
              <a:rPr dirty="0" sz="1200" spc="3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31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web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continues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grow.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turn,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increases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demand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-10">
                <a:latin typeface="Cambria Math"/>
                <a:cs typeface="Cambria Math"/>
              </a:rPr>
              <a:t> testing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reliability,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functionality.</a:t>
            </a:r>
            <a:endParaRPr sz="1200">
              <a:latin typeface="Cambria Math"/>
              <a:cs typeface="Cambria Math"/>
            </a:endParaRPr>
          </a:p>
          <a:p>
            <a:pPr algn="just" marL="471170" marR="73025" indent="-230504">
              <a:lnSpc>
                <a:spcPct val="102899"/>
              </a:lnSpc>
              <a:spcBef>
                <a:spcPts val="105"/>
              </a:spcBef>
              <a:buFont typeface="Wingdings"/>
              <a:buChar char=""/>
              <a:tabLst>
                <a:tab pos="471170" algn="l"/>
              </a:tabLst>
            </a:pPr>
            <a:r>
              <a:rPr dirty="0" sz="1200">
                <a:latin typeface="Cambria Math"/>
                <a:cs typeface="Cambria Math"/>
              </a:rPr>
              <a:t>Advanced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Technologies: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complexity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rising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integration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of </a:t>
            </a:r>
            <a:r>
              <a:rPr dirty="0" sz="1200">
                <a:latin typeface="Cambria Math"/>
                <a:cs typeface="Cambria Math"/>
              </a:rPr>
              <a:t>advanced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technologies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like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AI,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IoT,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blockchain.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cutting-</a:t>
            </a:r>
            <a:r>
              <a:rPr dirty="0" sz="1200">
                <a:latin typeface="Cambria Math"/>
                <a:cs typeface="Cambria Math"/>
              </a:rPr>
              <a:t>edge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will </a:t>
            </a:r>
            <a:r>
              <a:rPr dirty="0" sz="1200">
                <a:latin typeface="Cambria Math"/>
                <a:cs typeface="Cambria Math"/>
              </a:rPr>
              <a:t>require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specialized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skills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tools.</a:t>
            </a:r>
            <a:endParaRPr sz="1200">
              <a:latin typeface="Cambria Math"/>
              <a:cs typeface="Cambria Math"/>
            </a:endParaRPr>
          </a:p>
          <a:p>
            <a:pPr algn="just" marL="471170" marR="77470" indent="-230504">
              <a:lnSpc>
                <a:spcPct val="102499"/>
              </a:lnSpc>
              <a:spcBef>
                <a:spcPts val="120"/>
              </a:spcBef>
              <a:buFont typeface="Wingdings"/>
              <a:buChar char=""/>
              <a:tabLst>
                <a:tab pos="471170" algn="l"/>
              </a:tabLst>
            </a:pP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Emphasis: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growing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number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cyber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threats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breaches,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security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become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even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more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critical.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Testers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need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focus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on </a:t>
            </a:r>
            <a:r>
              <a:rPr dirty="0" sz="1200" spc="-10">
                <a:latin typeface="Cambria Math"/>
                <a:cs typeface="Cambria Math"/>
              </a:rPr>
              <a:t>vulnerabilities,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protection,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compliance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-10">
                <a:latin typeface="Cambria Math"/>
                <a:cs typeface="Cambria Math"/>
              </a:rPr>
              <a:t> regulations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like</a:t>
            </a:r>
            <a:r>
              <a:rPr dirty="0" sz="1200" spc="-10">
                <a:latin typeface="Cambria Math"/>
                <a:cs typeface="Cambria Math"/>
              </a:rPr>
              <a:t> GDPR.</a:t>
            </a:r>
            <a:endParaRPr sz="1200">
              <a:latin typeface="Cambria Math"/>
              <a:cs typeface="Cambria Math"/>
            </a:endParaRPr>
          </a:p>
          <a:p>
            <a:pPr algn="just" marL="471170" marR="73025" indent="-230504">
              <a:lnSpc>
                <a:spcPct val="103800"/>
              </a:lnSpc>
              <a:spcBef>
                <a:spcPts val="110"/>
              </a:spcBef>
              <a:buFont typeface="Wingdings"/>
              <a:buChar char=""/>
              <a:tabLst>
                <a:tab pos="471170" algn="l"/>
              </a:tabLst>
            </a:pPr>
            <a:r>
              <a:rPr dirty="0" sz="1200">
                <a:latin typeface="Cambria Math"/>
                <a:cs typeface="Cambria Math"/>
              </a:rPr>
              <a:t>Mobile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Cross-</a:t>
            </a:r>
            <a:r>
              <a:rPr dirty="0" sz="1200">
                <a:latin typeface="Cambria Math"/>
                <a:cs typeface="Cambria Math"/>
              </a:rPr>
              <a:t>Browser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Testing: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Mobile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usage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rise,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must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be </a:t>
            </a:r>
            <a:r>
              <a:rPr dirty="0" sz="1200" spc="-10">
                <a:latin typeface="Cambria Math"/>
                <a:cs typeface="Cambria Math"/>
              </a:rPr>
              <a:t>responsive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functional </a:t>
            </a:r>
            <a:r>
              <a:rPr dirty="0" sz="1200">
                <a:latin typeface="Cambria Math"/>
                <a:cs typeface="Cambria Math"/>
              </a:rPr>
              <a:t>on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various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browsers.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cross-</a:t>
            </a:r>
            <a:r>
              <a:rPr dirty="0" sz="1200">
                <a:latin typeface="Cambria Math"/>
                <a:cs typeface="Cambria Math"/>
              </a:rPr>
              <a:t>compatibility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will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essential.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6880" y="975106"/>
            <a:ext cx="6630034" cy="85731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461009" marR="9525" indent="-230504">
              <a:lnSpc>
                <a:spcPct val="102899"/>
              </a:lnSpc>
              <a:spcBef>
                <a:spcPts val="55"/>
              </a:spcBef>
              <a:buFont typeface="Wingdings"/>
              <a:buChar char=""/>
              <a:tabLst>
                <a:tab pos="461009" algn="l"/>
              </a:tabLst>
            </a:pPr>
            <a:r>
              <a:rPr dirty="0" sz="1200">
                <a:latin typeface="Cambria Math"/>
                <a:cs typeface="Cambria Math"/>
              </a:rPr>
              <a:t>Performance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Testing:</a:t>
            </a:r>
            <a:r>
              <a:rPr dirty="0" sz="1200" spc="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user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expectations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speed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performance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increase,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load</a:t>
            </a:r>
            <a:r>
              <a:rPr dirty="0" sz="1200" spc="7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testing, </a:t>
            </a:r>
            <a:r>
              <a:rPr dirty="0" sz="1200">
                <a:latin typeface="Cambria Math"/>
                <a:cs typeface="Cambria Math"/>
              </a:rPr>
              <a:t>stress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testing,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other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performance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types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crucial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ensure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6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applications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handle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traffic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spikes.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Wingdings"/>
              <a:buChar char=""/>
            </a:pPr>
            <a:endParaRPr sz="1200">
              <a:latin typeface="Cambria Math"/>
              <a:cs typeface="Cambria Math"/>
            </a:endParaRPr>
          </a:p>
          <a:p>
            <a:pPr algn="just" marL="2032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mbria Math"/>
                <a:cs typeface="Cambria Math"/>
              </a:rPr>
              <a:t>Stage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2: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future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scope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process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you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understood.</a:t>
            </a:r>
            <a:endParaRPr sz="1200">
              <a:latin typeface="Cambria Math"/>
              <a:cs typeface="Cambria Math"/>
            </a:endParaRPr>
          </a:p>
          <a:p>
            <a:pPr algn="just" marL="26034" marR="260350" indent="-6350">
              <a:lnSpc>
                <a:spcPct val="1028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future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scope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process,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particularly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terms</a:t>
            </a:r>
            <a:r>
              <a:rPr dirty="0" sz="1200" spc="2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identifying </a:t>
            </a:r>
            <a:r>
              <a:rPr dirty="0" sz="1200">
                <a:latin typeface="Cambria Math"/>
                <a:cs typeface="Cambria Math"/>
              </a:rPr>
              <a:t>vulnerabilities,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is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exceedingly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promising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due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continuous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growth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digital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platforms,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escalating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importance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cybersecurity,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ever-evolving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threat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landscape.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Here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some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key </a:t>
            </a:r>
            <a:r>
              <a:rPr dirty="0" sz="1200">
                <a:latin typeface="Cambria Math"/>
                <a:cs typeface="Cambria Math"/>
              </a:rPr>
              <a:t>aspects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 </a:t>
            </a:r>
            <a:r>
              <a:rPr dirty="0" sz="1200" spc="-10">
                <a:latin typeface="Cambria Math"/>
                <a:cs typeface="Cambria Math"/>
              </a:rPr>
              <a:t>highlight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prospective </a:t>
            </a:r>
            <a:r>
              <a:rPr dirty="0" sz="1200">
                <a:latin typeface="Cambria Math"/>
                <a:cs typeface="Cambria Math"/>
              </a:rPr>
              <a:t>scope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application testing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for</a:t>
            </a:r>
            <a:r>
              <a:rPr dirty="0" sz="1200" spc="-10">
                <a:latin typeface="Cambria Math"/>
                <a:cs typeface="Cambria Math"/>
              </a:rPr>
              <a:t> vulnerability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discovery: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Cambria Math"/>
              <a:cs typeface="Cambria Math"/>
            </a:endParaRPr>
          </a:p>
          <a:p>
            <a:pPr algn="just" marL="461009" marR="5715" indent="-230504">
              <a:lnSpc>
                <a:spcPct val="103400"/>
              </a:lnSpc>
              <a:buFont typeface="Wingdings"/>
              <a:buChar char=""/>
              <a:tabLst>
                <a:tab pos="461009" algn="l"/>
              </a:tabLst>
            </a:pPr>
            <a:r>
              <a:rPr dirty="0" sz="1200" spc="-20">
                <a:latin typeface="Cambria Math"/>
                <a:cs typeface="Cambria Math"/>
              </a:rPr>
              <a:t>AI-</a:t>
            </a:r>
            <a:r>
              <a:rPr dirty="0" sz="1200">
                <a:latin typeface="Cambria Math"/>
                <a:cs typeface="Cambria Math"/>
              </a:rPr>
              <a:t>Driven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integration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artificial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intelligence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(AI)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machine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learning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(ML)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into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2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2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2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tools</a:t>
            </a:r>
            <a:r>
              <a:rPr dirty="0" sz="1200" spc="2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2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revolutionize</a:t>
            </a:r>
            <a:r>
              <a:rPr dirty="0" sz="1200" spc="2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way</a:t>
            </a:r>
            <a:r>
              <a:rPr dirty="0" sz="1200" spc="2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vulnerabilities</a:t>
            </a:r>
            <a:r>
              <a:rPr dirty="0" sz="1200" spc="2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2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identified.</a:t>
            </a:r>
            <a:r>
              <a:rPr dirty="0" sz="1200" spc="30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AI </a:t>
            </a:r>
            <a:r>
              <a:rPr dirty="0" sz="1200" spc="-10">
                <a:latin typeface="Cambria Math"/>
                <a:cs typeface="Cambria Math"/>
              </a:rPr>
              <a:t>algorithms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can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swiftly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scan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vast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amounts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code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data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pinpoint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vulnerabilities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might </a:t>
            </a:r>
            <a:r>
              <a:rPr dirty="0" sz="1200">
                <a:latin typeface="Cambria Math"/>
                <a:cs typeface="Cambria Math"/>
              </a:rPr>
              <a:t>elude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human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testers.</a:t>
            </a:r>
            <a:endParaRPr sz="1200">
              <a:latin typeface="Cambria Math"/>
              <a:cs typeface="Cambria Math"/>
            </a:endParaRPr>
          </a:p>
          <a:p>
            <a:pPr algn="just" marL="461009" marR="9525" indent="-230504">
              <a:lnSpc>
                <a:spcPct val="102499"/>
              </a:lnSpc>
              <a:spcBef>
                <a:spcPts val="95"/>
              </a:spcBef>
              <a:buFont typeface="Wingdings"/>
              <a:buChar char=""/>
              <a:tabLst>
                <a:tab pos="461009" algn="l"/>
              </a:tabLst>
            </a:pPr>
            <a:r>
              <a:rPr dirty="0" sz="1200">
                <a:latin typeface="Cambria Math"/>
                <a:cs typeface="Cambria Math"/>
              </a:rPr>
              <a:t>IoT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Mobile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Testing: With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proliferation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Internet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Things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(IoT)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devices</a:t>
            </a:r>
            <a:r>
              <a:rPr dirty="0" sz="1200" spc="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the </a:t>
            </a:r>
            <a:r>
              <a:rPr dirty="0" sz="1200">
                <a:latin typeface="Cambria Math"/>
                <a:cs typeface="Cambria Math"/>
              </a:rPr>
              <a:t>increasing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usage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mobile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applications,</a:t>
            </a:r>
            <a:r>
              <a:rPr dirty="0" sz="1200" spc="1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scope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1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extend</a:t>
            </a:r>
            <a:r>
              <a:rPr dirty="0" sz="1200" spc="13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to </a:t>
            </a:r>
            <a:r>
              <a:rPr dirty="0" sz="1200">
                <a:latin typeface="Cambria Math"/>
                <a:cs typeface="Cambria Math"/>
              </a:rPr>
              <a:t>encompass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these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areas.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Ensuring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IoT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devices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interfaces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they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use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 spc="-20">
                <a:latin typeface="Cambria Math"/>
                <a:cs typeface="Cambria Math"/>
              </a:rPr>
              <a:t>will </a:t>
            </a:r>
            <a:r>
              <a:rPr dirty="0" sz="1200">
                <a:latin typeface="Cambria Math"/>
                <a:cs typeface="Cambria Math"/>
              </a:rPr>
              <a:t>become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critical.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Font typeface="Wingdings"/>
              <a:buChar char=""/>
            </a:pPr>
            <a:endParaRPr sz="1200">
              <a:latin typeface="Cambria Math"/>
              <a:cs typeface="Cambria Math"/>
            </a:endParaRPr>
          </a:p>
          <a:p>
            <a:pPr algn="just" marL="461009" marR="8255" indent="-230504">
              <a:lnSpc>
                <a:spcPct val="103499"/>
              </a:lnSpc>
              <a:spcBef>
                <a:spcPts val="5"/>
              </a:spcBef>
              <a:buFont typeface="Wingdings"/>
              <a:buChar char=""/>
              <a:tabLst>
                <a:tab pos="461009" algn="l"/>
              </a:tabLst>
            </a:pPr>
            <a:r>
              <a:rPr dirty="0" sz="1200">
                <a:latin typeface="Cambria Math"/>
                <a:cs typeface="Cambria Math"/>
              </a:rPr>
              <a:t>Blockchain</a:t>
            </a:r>
            <a:r>
              <a:rPr dirty="0" sz="1200" spc="3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3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Cryptocurrency</a:t>
            </a:r>
            <a:r>
              <a:rPr dirty="0" sz="1200" spc="3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Security:</a:t>
            </a:r>
            <a:r>
              <a:rPr dirty="0" sz="1200" spc="3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3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blockchain</a:t>
            </a:r>
            <a:r>
              <a:rPr dirty="0" sz="1200" spc="3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technology</a:t>
            </a:r>
            <a:r>
              <a:rPr dirty="0" sz="1200" spc="33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3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cryptocurrencies </a:t>
            </a:r>
            <a:r>
              <a:rPr dirty="0" sz="1200">
                <a:latin typeface="Cambria Math"/>
                <a:cs typeface="Cambria Math"/>
              </a:rPr>
              <a:t>continue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gain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traction,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imperative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safeguard</a:t>
            </a:r>
            <a:r>
              <a:rPr dirty="0" sz="1200" spc="17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transactions</a:t>
            </a:r>
            <a:r>
              <a:rPr dirty="0" sz="1200" spc="170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and </a:t>
            </a:r>
            <a:r>
              <a:rPr dirty="0" sz="1200">
                <a:latin typeface="Cambria Math"/>
                <a:cs typeface="Cambria Math"/>
              </a:rPr>
              <a:t>digital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assets.</a:t>
            </a:r>
            <a:r>
              <a:rPr dirty="0" sz="1200" spc="1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Ensuring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robustness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blockchain-</a:t>
            </a:r>
            <a:r>
              <a:rPr dirty="0" sz="1200">
                <a:latin typeface="Cambria Math"/>
                <a:cs typeface="Cambria Math"/>
              </a:rPr>
              <a:t>based</a:t>
            </a:r>
            <a:r>
              <a:rPr dirty="0" sz="1200" spc="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applications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1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be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</a:t>
            </a:r>
            <a:r>
              <a:rPr dirty="0" sz="1200" spc="10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specialized </a:t>
            </a:r>
            <a:r>
              <a:rPr dirty="0" sz="1200">
                <a:latin typeface="Cambria Math"/>
                <a:cs typeface="Cambria Math"/>
              </a:rPr>
              <a:t>niche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testing.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Serverless</a:t>
            </a:r>
            <a:r>
              <a:rPr dirty="0" sz="1200" spc="1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Architectures: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With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19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adoption</a:t>
            </a:r>
            <a:r>
              <a:rPr dirty="0" sz="1200" spc="20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18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serverless </a:t>
            </a:r>
            <a:r>
              <a:rPr dirty="0" sz="1200">
                <a:latin typeface="Cambria Math"/>
                <a:cs typeface="Cambria Math"/>
              </a:rPr>
              <a:t>computing,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need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adapt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assess</a:t>
            </a:r>
            <a:r>
              <a:rPr dirty="0" sz="1200" spc="229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2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</a:t>
            </a:r>
            <a:r>
              <a:rPr dirty="0" sz="1200" spc="2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2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serverless </a:t>
            </a:r>
            <a:r>
              <a:rPr dirty="0" sz="1200">
                <a:latin typeface="Cambria Math"/>
                <a:cs typeface="Cambria Math"/>
              </a:rPr>
              <a:t>functions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APIs.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Ensuring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serverless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components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free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4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vulnerabilities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45">
                <a:latin typeface="Cambria Math"/>
                <a:cs typeface="Cambria Math"/>
              </a:rPr>
              <a:t> </a:t>
            </a:r>
            <a:r>
              <a:rPr dirty="0" sz="1200" spc="-25">
                <a:latin typeface="Cambria Math"/>
                <a:cs typeface="Cambria Math"/>
              </a:rPr>
              <a:t>be </a:t>
            </a:r>
            <a:r>
              <a:rPr dirty="0" sz="1200" spc="-10">
                <a:latin typeface="Cambria Math"/>
                <a:cs typeface="Cambria Math"/>
              </a:rPr>
              <a:t>paramount.</a:t>
            </a:r>
            <a:endParaRPr sz="1200">
              <a:latin typeface="Cambria Math"/>
              <a:cs typeface="Cambria Math"/>
            </a:endParaRPr>
          </a:p>
          <a:p>
            <a:pPr algn="just" marL="461009" marR="10160" indent="-230504">
              <a:lnSpc>
                <a:spcPct val="102499"/>
              </a:lnSpc>
              <a:spcBef>
                <a:spcPts val="70"/>
              </a:spcBef>
              <a:buFont typeface="Wingdings"/>
              <a:buChar char=""/>
              <a:tabLst>
                <a:tab pos="461009" algn="l"/>
              </a:tabLst>
            </a:pPr>
            <a:r>
              <a:rPr dirty="0" sz="1200">
                <a:latin typeface="Cambria Math"/>
                <a:cs typeface="Cambria Math"/>
              </a:rPr>
              <a:t>Container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Security: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As</a:t>
            </a:r>
            <a:r>
              <a:rPr dirty="0" sz="1200" spc="2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containerization</a:t>
            </a:r>
            <a:r>
              <a:rPr dirty="0" sz="1200" spc="2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technologies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like</a:t>
            </a:r>
            <a:r>
              <a:rPr dirty="0" sz="1200" spc="2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Docker</a:t>
            </a:r>
            <a:r>
              <a:rPr dirty="0" sz="1200" spc="27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Kubernetes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become </a:t>
            </a:r>
            <a:r>
              <a:rPr dirty="0" sz="1200">
                <a:latin typeface="Cambria Math"/>
                <a:cs typeface="Cambria Math"/>
              </a:rPr>
              <a:t>ubiquitous,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web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application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testing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will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extend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to</a:t>
            </a:r>
            <a:r>
              <a:rPr dirty="0" sz="1200" spc="2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cover</a:t>
            </a:r>
            <a:r>
              <a:rPr dirty="0" sz="1200" spc="254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container</a:t>
            </a:r>
            <a:r>
              <a:rPr dirty="0" sz="1200" spc="26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security.</a:t>
            </a:r>
            <a:r>
              <a:rPr dirty="0" sz="1200" spc="29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This</a:t>
            </a:r>
            <a:r>
              <a:rPr dirty="0" sz="1200" spc="26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includes ensuring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that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container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images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and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orchestration configurations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are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free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from</a:t>
            </a:r>
            <a:r>
              <a:rPr dirty="0" sz="1200" spc="-10">
                <a:latin typeface="Cambria Math"/>
                <a:cs typeface="Cambria Math"/>
              </a:rPr>
              <a:t> vulnerabilities.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Wingdings"/>
              <a:buChar char=""/>
            </a:pPr>
            <a:endParaRPr sz="1200">
              <a:latin typeface="Cambria Math"/>
              <a:cs typeface="Cambria Math"/>
            </a:endParaRPr>
          </a:p>
          <a:p>
            <a:pPr algn="just" marL="20320">
              <a:lnSpc>
                <a:spcPct val="100000"/>
              </a:lnSpc>
            </a:pPr>
            <a:r>
              <a:rPr dirty="0" sz="1200">
                <a:latin typeface="Cambria Math"/>
                <a:cs typeface="Cambria Math"/>
              </a:rPr>
              <a:t>Stage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3:</a:t>
            </a:r>
            <a:r>
              <a:rPr dirty="0" sz="1200" spc="-4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future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scope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Aware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Access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Control</a:t>
            </a:r>
            <a:endParaRPr sz="1200">
              <a:latin typeface="Cambria Math"/>
              <a:cs typeface="Cambria Math"/>
            </a:endParaRPr>
          </a:p>
          <a:p>
            <a:pPr algn="just" marL="12700" marR="433705">
              <a:lnSpc>
                <a:spcPct val="96400"/>
              </a:lnSpc>
              <a:spcBef>
                <a:spcPts val="1180"/>
              </a:spcBef>
            </a:pP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successful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deployment of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ZPA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lays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groundwork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for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broader,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more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integrated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security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ecosystem.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Future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enhancements</a:t>
            </a:r>
            <a:r>
              <a:rPr dirty="0" sz="12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can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be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explored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further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mature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2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organization's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security capabilities:</a:t>
            </a:r>
            <a:endParaRPr sz="1200">
              <a:latin typeface="Cambria Math"/>
              <a:cs typeface="Cambria Math"/>
            </a:endParaRPr>
          </a:p>
          <a:p>
            <a:pPr algn="just" marL="461009" marR="12700" indent="-230504">
              <a:lnSpc>
                <a:spcPct val="96300"/>
              </a:lnSpc>
              <a:spcBef>
                <a:spcPts val="1250"/>
              </a:spcBef>
              <a:buClr>
                <a:srgbClr val="000000"/>
              </a:buClr>
              <a:buFont typeface="Wingdings"/>
              <a:buChar char=""/>
              <a:tabLst>
                <a:tab pos="461009" algn="l"/>
              </a:tabLst>
            </a:pP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Integration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with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Zscaler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Internet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(ZIA): Converging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Private Access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(ZPA) with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Internet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(ZIA)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create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unified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Secure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Service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Edge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(SASE)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platform,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managing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all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web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private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traffic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through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single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policy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framework.</a:t>
            </a:r>
            <a:endParaRPr sz="1200">
              <a:latin typeface="Cambria Math"/>
              <a:cs typeface="Cambria Math"/>
            </a:endParaRPr>
          </a:p>
          <a:p>
            <a:pPr marL="461009" marR="5080" indent="-230504">
              <a:lnSpc>
                <a:spcPts val="1380"/>
              </a:lnSpc>
              <a:spcBef>
                <a:spcPts val="75"/>
              </a:spcBef>
              <a:buClr>
                <a:srgbClr val="000000"/>
              </a:buClr>
              <a:buFont typeface="Wingdings"/>
              <a:buChar char=""/>
              <a:tabLst>
                <a:tab pos="461009" algn="l"/>
              </a:tabLst>
            </a:pP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Advanced</a:t>
            </a:r>
            <a:r>
              <a:rPr dirty="0" sz="12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Device</a:t>
            </a:r>
            <a:r>
              <a:rPr dirty="0" sz="1200" spc="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Posture</a:t>
            </a:r>
            <a:r>
              <a:rPr dirty="0" sz="1200" spc="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Checking:</a:t>
            </a:r>
            <a:r>
              <a:rPr dirty="0" sz="1200" spc="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Moving</a:t>
            </a:r>
            <a:r>
              <a:rPr dirty="0" sz="1200" spc="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beyond</a:t>
            </a:r>
            <a:r>
              <a:rPr dirty="0" sz="1200" spc="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basic</a:t>
            </a:r>
            <a:r>
              <a:rPr dirty="0" sz="1200" spc="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compliance</a:t>
            </a:r>
            <a:r>
              <a:rPr dirty="0" sz="12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200" spc="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incorporate</a:t>
            </a:r>
            <a:r>
              <a:rPr dirty="0" sz="1200" spc="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real-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time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risk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scores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from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EDR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tools,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blocking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if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device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shows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signs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of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active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compromise.</a:t>
            </a:r>
            <a:endParaRPr sz="1200">
              <a:latin typeface="Cambria Math"/>
              <a:cs typeface="Cambria Math"/>
            </a:endParaRPr>
          </a:p>
          <a:p>
            <a:pPr marL="461009" marR="7620" indent="-230504">
              <a:lnSpc>
                <a:spcPts val="1380"/>
              </a:lnSpc>
              <a:spcBef>
                <a:spcPts val="35"/>
              </a:spcBef>
              <a:buClr>
                <a:srgbClr val="000000"/>
              </a:buClr>
              <a:buFont typeface="Wingdings"/>
              <a:buChar char=""/>
              <a:tabLst>
                <a:tab pos="461009" algn="l"/>
              </a:tabLst>
            </a:pP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Privileged</a:t>
            </a:r>
            <a:r>
              <a:rPr dirty="0" sz="1200" spc="4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Remote</a:t>
            </a:r>
            <a:r>
              <a:rPr dirty="0" sz="1200" spc="434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Access:</a:t>
            </a:r>
            <a:r>
              <a:rPr dirty="0" sz="1200" spc="4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Extending</a:t>
            </a:r>
            <a:r>
              <a:rPr dirty="0" sz="1200" spc="4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ZPA</a:t>
            </a:r>
            <a:r>
              <a:rPr dirty="0" sz="1200" spc="4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200" spc="434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third-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party</a:t>
            </a:r>
            <a:r>
              <a:rPr dirty="0" sz="1200" spc="4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vendors</a:t>
            </a:r>
            <a:r>
              <a:rPr dirty="0" sz="1200" spc="434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200" spc="434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contractors</a:t>
            </a:r>
            <a:r>
              <a:rPr dirty="0" sz="1200" spc="434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with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timebound,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audited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specific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critical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systems,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replacing</a:t>
            </a:r>
            <a:r>
              <a:rPr dirty="0" sz="12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jump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boxes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bastion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hosts.</a:t>
            </a:r>
            <a:endParaRPr sz="1200">
              <a:latin typeface="Cambria Math"/>
              <a:cs typeface="Cambria Math"/>
            </a:endParaRPr>
          </a:p>
          <a:p>
            <a:pPr marL="461009" marR="8255" indent="-230504">
              <a:lnSpc>
                <a:spcPts val="1380"/>
              </a:lnSpc>
              <a:spcBef>
                <a:spcPts val="35"/>
              </a:spcBef>
              <a:buClr>
                <a:srgbClr val="000000"/>
              </a:buClr>
              <a:buFont typeface="Wingdings"/>
              <a:buChar char=""/>
              <a:tabLst>
                <a:tab pos="461009" algn="l"/>
              </a:tabLst>
            </a:pP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IoT/OT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Segmentation: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Applying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same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micro-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tunneling principles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Internet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of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Things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(IoT)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200" spc="4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Operational</a:t>
            </a:r>
            <a:r>
              <a:rPr dirty="0" sz="1200" spc="5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Technology</a:t>
            </a:r>
            <a:r>
              <a:rPr dirty="0" sz="1200" spc="4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(OT)</a:t>
            </a:r>
            <a:r>
              <a:rPr dirty="0" sz="1200" spc="5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devices</a:t>
            </a:r>
            <a:r>
              <a:rPr dirty="0" sz="1200" spc="5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200" spc="5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ensure</a:t>
            </a:r>
            <a:r>
              <a:rPr dirty="0" sz="1200" spc="5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they</a:t>
            </a:r>
            <a:r>
              <a:rPr dirty="0" sz="1200" spc="5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can</a:t>
            </a:r>
            <a:r>
              <a:rPr dirty="0" sz="1200" spc="5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only</a:t>
            </a:r>
            <a:r>
              <a:rPr dirty="0" sz="1200" spc="5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communicate</a:t>
            </a:r>
            <a:r>
              <a:rPr dirty="0" sz="1200" spc="5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with</a:t>
            </a:r>
            <a:r>
              <a:rPr dirty="0" sz="1200" spc="5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specific</a:t>
            </a:r>
            <a:endParaRPr sz="1200">
              <a:latin typeface="Cambria Math"/>
              <a:cs typeface="Cambria Math"/>
            </a:endParaRPr>
          </a:p>
          <a:p>
            <a:pPr marL="461009">
              <a:lnSpc>
                <a:spcPts val="1355"/>
              </a:lnSpc>
            </a:pP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management</a:t>
            </a:r>
            <a:r>
              <a:rPr dirty="0" sz="12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servers.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212" y="973582"/>
            <a:ext cx="6637655" cy="518350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471170" marR="5715" indent="-230504">
              <a:lnSpc>
                <a:spcPct val="96200"/>
              </a:lnSpc>
              <a:spcBef>
                <a:spcPts val="155"/>
              </a:spcBef>
              <a:buClr>
                <a:srgbClr val="000000"/>
              </a:buClr>
              <a:buFont typeface="Wingdings"/>
              <a:buChar char=""/>
              <a:tabLst>
                <a:tab pos="471170" algn="l"/>
              </a:tabLst>
            </a:pP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AI-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Driven</a:t>
            </a:r>
            <a:r>
              <a:rPr dirty="0" sz="1200" spc="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Anomaly</a:t>
            </a:r>
            <a:r>
              <a:rPr dirty="0" sz="1200" spc="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Detection:</a:t>
            </a:r>
            <a:r>
              <a:rPr dirty="0" sz="1200" spc="7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Leveraging</a:t>
            </a:r>
            <a:r>
              <a:rPr dirty="0" sz="1200" spc="7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machine</a:t>
            </a:r>
            <a:r>
              <a:rPr dirty="0" sz="1200" spc="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learning</a:t>
            </a:r>
            <a:r>
              <a:rPr dirty="0" sz="1200" spc="7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on</a:t>
            </a:r>
            <a:r>
              <a:rPr dirty="0" sz="1200" spc="7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ZPA</a:t>
            </a:r>
            <a:r>
              <a:rPr dirty="0" sz="1200" spc="7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logs</a:t>
            </a:r>
            <a:r>
              <a:rPr dirty="0" sz="1200" spc="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200" spc="7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detect</a:t>
            </a:r>
            <a:r>
              <a:rPr dirty="0" sz="1200" spc="7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behavioral anomalies,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such</a:t>
            </a:r>
            <a:r>
              <a:rPr dirty="0" sz="1200" spc="-4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as</a:t>
            </a:r>
            <a:r>
              <a:rPr dirty="0" sz="12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user</a:t>
            </a:r>
            <a:r>
              <a:rPr dirty="0" sz="1200" spc="-4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accessing</a:t>
            </a:r>
            <a:r>
              <a:rPr dirty="0" sz="12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an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application</a:t>
            </a:r>
            <a:r>
              <a:rPr dirty="0" sz="12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at</a:t>
            </a:r>
            <a:r>
              <a:rPr dirty="0" sz="12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an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unusual</a:t>
            </a:r>
            <a:r>
              <a:rPr dirty="0" sz="12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hour</a:t>
            </a:r>
            <a:r>
              <a:rPr dirty="0" sz="12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or</a:t>
            </a:r>
            <a:r>
              <a:rPr dirty="0" sz="12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from</a:t>
            </a:r>
            <a:r>
              <a:rPr dirty="0" sz="12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</a:t>
            </a:r>
            <a:r>
              <a:rPr dirty="0" sz="12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strange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location, triggering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automated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MFA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challenges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or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revocation.</a:t>
            </a:r>
            <a:endParaRPr sz="1200">
              <a:latin typeface="Cambria Math"/>
              <a:cs typeface="Cambria Math"/>
            </a:endParaRPr>
          </a:p>
          <a:p>
            <a:pPr algn="just" marL="471170" marR="5080" indent="-230504">
              <a:lnSpc>
                <a:spcPct val="96200"/>
              </a:lnSpc>
              <a:spcBef>
                <a:spcPts val="30"/>
              </a:spcBef>
              <a:buClr>
                <a:srgbClr val="000000"/>
              </a:buClr>
              <a:buFont typeface="Wingdings"/>
              <a:buChar char=""/>
              <a:tabLst>
                <a:tab pos="471170" algn="l"/>
              </a:tabLst>
            </a:pP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Cloud</a:t>
            </a:r>
            <a:r>
              <a:rPr dirty="0" sz="1200" spc="28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Workload</a:t>
            </a:r>
            <a:r>
              <a:rPr dirty="0" sz="1200" spc="29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Protection:</a:t>
            </a:r>
            <a:r>
              <a:rPr dirty="0" sz="1200" spc="29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Utilizing</a:t>
            </a:r>
            <a:r>
              <a:rPr dirty="0" sz="1200" spc="29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ZPA</a:t>
            </a:r>
            <a:r>
              <a:rPr dirty="0" sz="1200" spc="29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200" spc="2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secure</a:t>
            </a:r>
            <a:r>
              <a:rPr dirty="0" sz="1200" spc="30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connections</a:t>
            </a:r>
            <a:r>
              <a:rPr dirty="0" sz="1200" spc="2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between</a:t>
            </a:r>
            <a:r>
              <a:rPr dirty="0" sz="1200" spc="30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containers</a:t>
            </a:r>
            <a:r>
              <a:rPr dirty="0" sz="1200" spc="29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and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microservices</a:t>
            </a:r>
            <a:r>
              <a:rPr dirty="0" sz="1200" spc="2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in</a:t>
            </a:r>
            <a:r>
              <a:rPr dirty="0" sz="1200" spc="28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multi-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cloud</a:t>
            </a:r>
            <a:r>
              <a:rPr dirty="0" sz="1200" spc="28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environments</a:t>
            </a:r>
            <a:r>
              <a:rPr dirty="0" sz="1200" spc="28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(AWS,</a:t>
            </a:r>
            <a:r>
              <a:rPr dirty="0" sz="1200" spc="28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Azure,</a:t>
            </a:r>
            <a:r>
              <a:rPr dirty="0" sz="1200" spc="28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GCP),</a:t>
            </a:r>
            <a:r>
              <a:rPr dirty="0" sz="1200" spc="28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ensuring</a:t>
            </a:r>
            <a:r>
              <a:rPr dirty="0" sz="1200" spc="27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east-west</a:t>
            </a:r>
            <a:r>
              <a:rPr dirty="0" sz="1200" spc="28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traffic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between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workloads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is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encrypted</a:t>
            </a:r>
            <a:r>
              <a:rPr dirty="0" sz="1200" spc="-3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and</a:t>
            </a:r>
            <a:r>
              <a:rPr dirty="0" sz="1200" spc="-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authenticated.</a:t>
            </a:r>
            <a:endParaRPr sz="1200">
              <a:latin typeface="Cambria Math"/>
              <a:cs typeface="Cambria Math"/>
            </a:endParaRPr>
          </a:p>
          <a:p>
            <a:pPr algn="just" marL="471170" marR="10160" indent="-230504">
              <a:lnSpc>
                <a:spcPct val="96200"/>
              </a:lnSpc>
              <a:spcBef>
                <a:spcPts val="30"/>
              </a:spcBef>
              <a:buClr>
                <a:srgbClr val="000000"/>
              </a:buClr>
              <a:buFont typeface="Wingdings"/>
              <a:buChar char=""/>
              <a:tabLst>
                <a:tab pos="471170" algn="l"/>
              </a:tabLst>
            </a:pP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Automated</a:t>
            </a:r>
            <a:r>
              <a:rPr dirty="0" sz="1200" spc="39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Provisioning/Deprovisioning:</a:t>
            </a:r>
            <a:r>
              <a:rPr dirty="0" sz="1200" spc="40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Enhancing</a:t>
            </a:r>
            <a:r>
              <a:rPr dirty="0" sz="1200" spc="40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200" spc="409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identity</a:t>
            </a:r>
            <a:r>
              <a:rPr dirty="0" sz="1200" spc="39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provider</a:t>
            </a:r>
            <a:r>
              <a:rPr dirty="0" sz="1200" spc="40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integration</a:t>
            </a:r>
            <a:r>
              <a:rPr dirty="0" sz="1200" spc="409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to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automatically</a:t>
            </a:r>
            <a:r>
              <a:rPr dirty="0" sz="1200" spc="1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revoke</a:t>
            </a:r>
            <a:r>
              <a:rPr dirty="0" sz="1200" spc="15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application</a:t>
            </a:r>
            <a:r>
              <a:rPr dirty="0" sz="1200" spc="14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200" spc="15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the</a:t>
            </a:r>
            <a:r>
              <a:rPr dirty="0" sz="1200" spc="13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moment</a:t>
            </a:r>
            <a:r>
              <a:rPr dirty="0" sz="1200" spc="15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an</a:t>
            </a:r>
            <a:r>
              <a:rPr dirty="0" sz="1200" spc="15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employee</a:t>
            </a:r>
            <a:r>
              <a:rPr dirty="0" sz="1200" spc="14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is</a:t>
            </a:r>
            <a:r>
              <a:rPr dirty="0" sz="1200" spc="14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terminated</a:t>
            </a:r>
            <a:r>
              <a:rPr dirty="0" sz="1200" spc="1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or</a:t>
            </a:r>
            <a:r>
              <a:rPr dirty="0" sz="1200" spc="14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changes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roles,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ensuring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near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real-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time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access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 control.</a:t>
            </a:r>
            <a:endParaRPr sz="1200">
              <a:latin typeface="Cambria Math"/>
              <a:cs typeface="Cambria Math"/>
            </a:endParaRPr>
          </a:p>
          <a:p>
            <a:pPr algn="just" marL="471170" marR="5080" indent="-230504">
              <a:lnSpc>
                <a:spcPts val="1390"/>
              </a:lnSpc>
              <a:spcBef>
                <a:spcPts val="65"/>
              </a:spcBef>
              <a:buClr>
                <a:srgbClr val="000000"/>
              </a:buClr>
              <a:buFont typeface="Wingdings"/>
              <a:buChar char=""/>
              <a:tabLst>
                <a:tab pos="471170" algn="l"/>
              </a:tabLst>
            </a:pP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Digital</a:t>
            </a:r>
            <a:r>
              <a:rPr dirty="0" sz="1200" spc="1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Experience</a:t>
            </a:r>
            <a:r>
              <a:rPr dirty="0" sz="1200" spc="18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Monitoring</a:t>
            </a:r>
            <a:r>
              <a:rPr dirty="0" sz="1200" spc="1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(DEM):</a:t>
            </a:r>
            <a:r>
              <a:rPr dirty="0" sz="1200" spc="1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Implementing</a:t>
            </a:r>
            <a:r>
              <a:rPr dirty="0" sz="1200" spc="1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DEM</a:t>
            </a:r>
            <a:r>
              <a:rPr dirty="0" sz="1200" spc="19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tools</a:t>
            </a:r>
            <a:r>
              <a:rPr dirty="0" sz="1200" spc="18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to</a:t>
            </a:r>
            <a:r>
              <a:rPr dirty="0" sz="1200" spc="18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proactively</a:t>
            </a:r>
            <a:r>
              <a:rPr dirty="0" sz="1200" spc="1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monitor</a:t>
            </a:r>
            <a:r>
              <a:rPr dirty="0" sz="1200" spc="18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the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enduser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experience,</a:t>
            </a:r>
            <a:r>
              <a:rPr dirty="0" sz="12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identifying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network</a:t>
            </a:r>
            <a:r>
              <a:rPr dirty="0" sz="1200" spc="-1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latency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or</a:t>
            </a:r>
            <a:r>
              <a:rPr dirty="0" sz="1200" spc="-2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application</a:t>
            </a:r>
            <a:r>
              <a:rPr dirty="0" sz="1200" spc="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performance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 issues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before</a:t>
            </a:r>
            <a:r>
              <a:rPr dirty="0" sz="1200" spc="-5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20">
                <a:solidFill>
                  <a:srgbClr val="0D1115"/>
                </a:solidFill>
                <a:latin typeface="Cambria Math"/>
                <a:cs typeface="Cambria Math"/>
              </a:rPr>
              <a:t>they </a:t>
            </a:r>
            <a:r>
              <a:rPr dirty="0" sz="1200">
                <a:solidFill>
                  <a:srgbClr val="0D1115"/>
                </a:solidFill>
                <a:latin typeface="Cambria Math"/>
                <a:cs typeface="Cambria Math"/>
              </a:rPr>
              <a:t>impact</a:t>
            </a:r>
            <a:r>
              <a:rPr dirty="0" sz="1200" spc="-40">
                <a:solidFill>
                  <a:srgbClr val="0D1115"/>
                </a:solidFill>
                <a:latin typeface="Cambria Math"/>
                <a:cs typeface="Cambria Math"/>
              </a:rPr>
              <a:t> </a:t>
            </a:r>
            <a:r>
              <a:rPr dirty="0" sz="1200" spc="-10">
                <a:solidFill>
                  <a:srgbClr val="0D1115"/>
                </a:solidFill>
                <a:latin typeface="Cambria Math"/>
                <a:cs typeface="Cambria Math"/>
              </a:rPr>
              <a:t>productivity.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>
                <a:latin typeface="Cambria Math"/>
                <a:cs typeface="Cambria Math"/>
              </a:rPr>
              <a:t>Topics</a:t>
            </a:r>
            <a:r>
              <a:rPr dirty="0" sz="1300" spc="-70">
                <a:latin typeface="Cambria Math"/>
                <a:cs typeface="Cambria Math"/>
              </a:rPr>
              <a:t> </a:t>
            </a:r>
            <a:r>
              <a:rPr dirty="0" sz="1300" spc="-10">
                <a:latin typeface="Cambria Math"/>
                <a:cs typeface="Cambria Math"/>
              </a:rPr>
              <a:t>Explored:</a:t>
            </a:r>
            <a:endParaRPr sz="1300">
              <a:latin typeface="Cambria Math"/>
              <a:cs typeface="Cambria Math"/>
            </a:endParaRPr>
          </a:p>
          <a:p>
            <a:pPr marL="467359" indent="-226060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467359" algn="l"/>
              </a:tabLst>
            </a:pPr>
            <a:r>
              <a:rPr dirty="0" sz="1200" spc="-10">
                <a:latin typeface="Cambria Math"/>
                <a:cs typeface="Cambria Math"/>
              </a:rPr>
              <a:t>Zscaler</a:t>
            </a:r>
            <a:endParaRPr sz="1200">
              <a:latin typeface="Cambria Math"/>
              <a:cs typeface="Cambria Math"/>
            </a:endParaRPr>
          </a:p>
          <a:p>
            <a:pPr marL="467359" indent="-22606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467359" algn="l"/>
              </a:tabLst>
            </a:pPr>
            <a:r>
              <a:rPr dirty="0" sz="1200">
                <a:latin typeface="Cambria Math"/>
                <a:cs typeface="Cambria Math"/>
              </a:rPr>
              <a:t>Zero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trust</a:t>
            </a:r>
            <a:endParaRPr sz="1200">
              <a:latin typeface="Cambria Math"/>
              <a:cs typeface="Cambria Math"/>
            </a:endParaRPr>
          </a:p>
          <a:p>
            <a:pPr marL="467359" indent="-22606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467359" algn="l"/>
              </a:tabLst>
            </a:pPr>
            <a:r>
              <a:rPr dirty="0" sz="1200" spc="-25">
                <a:latin typeface="Cambria Math"/>
                <a:cs typeface="Cambria Math"/>
              </a:rPr>
              <a:t>ZPA</a:t>
            </a:r>
            <a:endParaRPr sz="1200">
              <a:latin typeface="Cambria Math"/>
              <a:cs typeface="Cambria Math"/>
            </a:endParaRPr>
          </a:p>
          <a:p>
            <a:pPr marL="467359" indent="-22606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467359" algn="l"/>
              </a:tabLst>
            </a:pPr>
            <a:r>
              <a:rPr dirty="0" sz="1200" spc="-25">
                <a:latin typeface="Cambria Math"/>
                <a:cs typeface="Cambria Math"/>
              </a:rPr>
              <a:t>VPN</a:t>
            </a:r>
            <a:endParaRPr sz="1200">
              <a:latin typeface="Cambria Math"/>
              <a:cs typeface="Cambria Math"/>
            </a:endParaRPr>
          </a:p>
          <a:p>
            <a:pPr marL="467359" indent="-22606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467359" algn="l"/>
              </a:tabLst>
            </a:pPr>
            <a:r>
              <a:rPr dirty="0" sz="1200" spc="-20">
                <a:latin typeface="Cambria Math"/>
                <a:cs typeface="Cambria Math"/>
              </a:rPr>
              <a:t>MISP</a:t>
            </a:r>
            <a:endParaRPr sz="1200">
              <a:latin typeface="Cambria Math"/>
              <a:cs typeface="Cambria Math"/>
            </a:endParaRPr>
          </a:p>
          <a:p>
            <a:pPr marL="467359" indent="-22606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467359" algn="l"/>
              </a:tabLst>
            </a:pPr>
            <a:r>
              <a:rPr dirty="0" sz="1200">
                <a:latin typeface="Cambria Math"/>
                <a:cs typeface="Cambria Math"/>
              </a:rPr>
              <a:t>College</a:t>
            </a:r>
            <a:r>
              <a:rPr dirty="0" sz="1200" spc="-5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Network</a:t>
            </a:r>
            <a:r>
              <a:rPr dirty="0" sz="1200" spc="-4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Information</a:t>
            </a:r>
            <a:endParaRPr sz="1200">
              <a:latin typeface="Cambria Math"/>
              <a:cs typeface="Cambria Math"/>
            </a:endParaRPr>
          </a:p>
          <a:p>
            <a:pPr marL="467359" indent="-22606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67359" algn="l"/>
              </a:tabLst>
            </a:pPr>
            <a:r>
              <a:rPr dirty="0" sz="1200" spc="-10">
                <a:latin typeface="Cambria Math"/>
                <a:cs typeface="Cambria Math"/>
              </a:rPr>
              <a:t>Deployment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of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SOC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in</a:t>
            </a:r>
            <a:r>
              <a:rPr dirty="0" sz="1200" spc="-1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the</a:t>
            </a:r>
            <a:r>
              <a:rPr dirty="0" sz="1200" spc="-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College</a:t>
            </a:r>
            <a:endParaRPr sz="1200">
              <a:latin typeface="Cambria Math"/>
              <a:cs typeface="Cambria Math"/>
            </a:endParaRPr>
          </a:p>
          <a:p>
            <a:pPr marL="467359" indent="-22606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467359" algn="l"/>
              </a:tabLst>
            </a:pPr>
            <a:r>
              <a:rPr dirty="0" sz="1200" spc="-10">
                <a:latin typeface="Cambria Math"/>
                <a:cs typeface="Cambria Math"/>
              </a:rPr>
              <a:t>Threat</a:t>
            </a:r>
            <a:r>
              <a:rPr dirty="0" sz="1200" spc="-2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Intelligence</a:t>
            </a:r>
            <a:endParaRPr sz="1200">
              <a:latin typeface="Cambria Math"/>
              <a:cs typeface="Cambria Math"/>
            </a:endParaRPr>
          </a:p>
          <a:p>
            <a:pPr marL="467359" indent="-22606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467359" algn="l"/>
              </a:tabLst>
            </a:pPr>
            <a:r>
              <a:rPr dirty="0" sz="1200" spc="-10">
                <a:latin typeface="Cambria Math"/>
                <a:cs typeface="Cambria Math"/>
              </a:rPr>
              <a:t>Incident</a:t>
            </a:r>
            <a:r>
              <a:rPr dirty="0" sz="1200" spc="-30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Response</a:t>
            </a:r>
            <a:endParaRPr sz="1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Font typeface="Cambria Math"/>
              <a:buAutoNum type="arabicPeriod"/>
            </a:pPr>
            <a:endParaRPr sz="1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latin typeface="Cambria Math"/>
                <a:cs typeface="Cambria Math"/>
              </a:rPr>
              <a:t>Tools</a:t>
            </a:r>
            <a:r>
              <a:rPr dirty="0" sz="1300" spc="-65">
                <a:latin typeface="Cambria Math"/>
                <a:cs typeface="Cambria Math"/>
              </a:rPr>
              <a:t> </a:t>
            </a:r>
            <a:r>
              <a:rPr dirty="0" sz="1300" spc="-10">
                <a:latin typeface="Cambria Math"/>
                <a:cs typeface="Cambria Math"/>
              </a:rPr>
              <a:t>Explored:</a:t>
            </a:r>
            <a:endParaRPr sz="1300">
              <a:latin typeface="Cambria Math"/>
              <a:cs typeface="Cambria Math"/>
            </a:endParaRPr>
          </a:p>
          <a:p>
            <a:pPr lvl="1" marL="396240" indent="-176530">
              <a:lnSpc>
                <a:spcPct val="100000"/>
              </a:lnSpc>
              <a:spcBef>
                <a:spcPts val="90"/>
              </a:spcBef>
              <a:buFont typeface="Wingdings"/>
              <a:buChar char=""/>
              <a:tabLst>
                <a:tab pos="396240" algn="l"/>
              </a:tabLst>
            </a:pPr>
            <a:r>
              <a:rPr dirty="0" sz="1200">
                <a:latin typeface="Cambria Math"/>
                <a:cs typeface="Cambria Math"/>
              </a:rPr>
              <a:t>Nessus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200" spc="-10">
                <a:latin typeface="Cambria Math"/>
                <a:cs typeface="Cambria Math"/>
              </a:rPr>
              <a:t>Scanner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orra raghavendra reddy</dc:creator>
  <dcterms:created xsi:type="dcterms:W3CDTF">2026-03-15T16:30:08Z</dcterms:created>
  <dcterms:modified xsi:type="dcterms:W3CDTF">2026-03-15T16:30:08Z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2026-03-15T00:00:00Z</vt:filetime>
  </property>
  <property fmtid="{D5CDD505-2E9C-101B-9397-08002B2CF9AE}" pid="3" name="Creator">
    <vt:lpwstr>Microsoft® Word 2013</vt:lpwstr>
  </property>
  <property fmtid="{D5CDD505-2E9C-101B-9397-08002B2CF9AE}" pid="4" name="LastSaved">
    <vt:filetime>2026-03-15T00:00:00Z</vt:filetime>
  </property>
  <property fmtid="{D5CDD505-2E9C-101B-9397-08002B2CF9AE}" pid="5" name="Producer">
    <vt:lpwstr>Microsoft® Word 2013</vt:lpwstr>
  </property>
</Properties>
</file>